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68" r:id="rId3"/>
    <p:sldId id="257" r:id="rId4"/>
    <p:sldId id="258" r:id="rId5"/>
    <p:sldId id="259" r:id="rId6"/>
    <p:sldId id="260" r:id="rId7"/>
    <p:sldId id="261" r:id="rId8"/>
    <p:sldId id="262"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ECDC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033731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1CC05-819C-0300-FF8E-492DC88B9A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3271FE-60E5-A0CB-9A88-3307877281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0E62FC-E247-CF32-E669-AE38091BBF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447EAF-EE53-5195-C7A0-690EA5E82804}"/>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39827480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1A"/>
        </a:solidFill>
        <a:effectLst/>
      </p:bgPr>
    </p:bg>
    <p:spTree>
      <p:nvGrpSpPr>
        <p:cNvPr id="1" name=""/>
        <p:cNvGrpSpPr/>
        <p:nvPr/>
      </p:nvGrpSpPr>
      <p:grpSpPr>
        <a:xfrm>
          <a:off x="0" y="0"/>
          <a:ext cx="0" cy="0"/>
          <a:chOff x="0" y="0"/>
          <a:chExt cx="0" cy="0"/>
        </a:xfrm>
      </p:grpSpPr>
      <p:sp>
        <p:nvSpPr>
          <p:cNvPr id="2" name="Shape 0"/>
          <p:cNvSpPr/>
          <p:nvPr/>
        </p:nvSpPr>
        <p:spPr>
          <a:xfrm>
            <a:off x="0" y="0"/>
            <a:ext cx="4225834" cy="5143500"/>
          </a:xfrm>
          <a:prstGeom prst="rect">
            <a:avLst/>
          </a:prstGeom>
          <a:solidFill>
            <a:srgbClr val="12172A"/>
          </a:solidFill>
          <a:ln w="12700">
            <a:solidFill>
              <a:srgbClr val="12172A"/>
            </a:solidFill>
            <a:prstDash val="solid"/>
          </a:ln>
        </p:spPr>
        <p:txBody>
          <a:bodyPr/>
          <a:lstStyle/>
          <a:p>
            <a:endParaRPr lang="en-GB" dirty="0"/>
          </a:p>
        </p:txBody>
      </p:sp>
      <p:sp>
        <p:nvSpPr>
          <p:cNvPr id="3" name="Shape 1"/>
          <p:cNvSpPr/>
          <p:nvPr/>
        </p:nvSpPr>
        <p:spPr>
          <a:xfrm>
            <a:off x="0" y="0"/>
            <a:ext cx="109728" cy="5143500"/>
          </a:xfrm>
          <a:prstGeom prst="rect">
            <a:avLst/>
          </a:prstGeom>
          <a:solidFill>
            <a:srgbClr val="4ECDC4"/>
          </a:solidFill>
          <a:ln w="12700">
            <a:solidFill>
              <a:srgbClr val="4ECDC4"/>
            </a:solidFill>
            <a:prstDash val="solid"/>
          </a:ln>
        </p:spPr>
        <p:txBody>
          <a:bodyPr/>
          <a:lstStyle/>
          <a:p>
            <a:endParaRPr lang="en-GB"/>
          </a:p>
        </p:txBody>
      </p:sp>
      <p:sp>
        <p:nvSpPr>
          <p:cNvPr id="4" name="Shape 2"/>
          <p:cNvSpPr/>
          <p:nvPr/>
        </p:nvSpPr>
        <p:spPr>
          <a:xfrm>
            <a:off x="4225834" y="0"/>
            <a:ext cx="4918166" cy="109728"/>
          </a:xfrm>
          <a:prstGeom prst="rect">
            <a:avLst/>
          </a:prstGeom>
          <a:solidFill>
            <a:srgbClr val="4ECDC4"/>
          </a:solidFill>
          <a:ln w="12700">
            <a:solidFill>
              <a:srgbClr val="4ECDC4"/>
            </a:solidFill>
            <a:prstDash val="solid"/>
          </a:ln>
        </p:spPr>
        <p:txBody>
          <a:bodyPr/>
          <a:lstStyle/>
          <a:p>
            <a:endParaRPr lang="en-GB"/>
          </a:p>
        </p:txBody>
      </p:sp>
      <p:sp>
        <p:nvSpPr>
          <p:cNvPr id="5" name="Text 3"/>
          <p:cNvSpPr/>
          <p:nvPr/>
        </p:nvSpPr>
        <p:spPr>
          <a:xfrm>
            <a:off x="274320" y="914400"/>
            <a:ext cx="5486400" cy="1645920"/>
          </a:xfrm>
          <a:prstGeom prst="rect">
            <a:avLst/>
          </a:prstGeom>
          <a:noFill/>
          <a:ln/>
        </p:spPr>
        <p:txBody>
          <a:bodyPr wrap="square" lIns="0" tIns="0" rIns="0" bIns="0" rtlCol="0" anchor="ctr"/>
          <a:lstStyle/>
          <a:p>
            <a:pPr marL="0" indent="0">
              <a:buNone/>
            </a:pPr>
            <a:r>
              <a:rPr lang="en-US" sz="8000" b="1" kern="0" spc="800" dirty="0">
                <a:solidFill>
                  <a:srgbClr val="EAEAEA"/>
                </a:solidFill>
                <a:latin typeface="Impact" pitchFamily="34" charset="0"/>
                <a:ea typeface="Impact" pitchFamily="34" charset="-122"/>
                <a:cs typeface="Impact" pitchFamily="34" charset="-120"/>
              </a:rPr>
              <a:t>THORNS</a:t>
            </a:r>
            <a:endParaRPr lang="en-US" sz="8000" dirty="0"/>
          </a:p>
        </p:txBody>
      </p:sp>
      <p:sp>
        <p:nvSpPr>
          <p:cNvPr id="6" name="Text 4"/>
          <p:cNvSpPr/>
          <p:nvPr/>
        </p:nvSpPr>
        <p:spPr>
          <a:xfrm>
            <a:off x="274320" y="2560320"/>
            <a:ext cx="5486400" cy="457200"/>
          </a:xfrm>
          <a:prstGeom prst="rect">
            <a:avLst/>
          </a:prstGeom>
          <a:noFill/>
          <a:ln/>
        </p:spPr>
        <p:txBody>
          <a:bodyPr wrap="square" lIns="0" tIns="0" rIns="0" bIns="0" rtlCol="0" anchor="ctr"/>
          <a:lstStyle/>
          <a:p>
            <a:pPr marL="0" indent="0">
              <a:buNone/>
            </a:pPr>
            <a:r>
              <a:rPr lang="en-US" sz="2000" i="1" dirty="0">
                <a:solidFill>
                  <a:srgbClr val="4ECDC4"/>
                </a:solidFill>
                <a:latin typeface="Calibri" pitchFamily="34" charset="0"/>
                <a:ea typeface="Calibri" pitchFamily="34" charset="-122"/>
                <a:cs typeface="Calibri" pitchFamily="34" charset="-120"/>
              </a:rPr>
              <a:t>Project Progress Update</a:t>
            </a:r>
            <a:endParaRPr lang="en-US" sz="2000" dirty="0"/>
          </a:p>
        </p:txBody>
      </p:sp>
      <p:sp>
        <p:nvSpPr>
          <p:cNvPr id="8" name="Text 6"/>
          <p:cNvSpPr/>
          <p:nvPr/>
        </p:nvSpPr>
        <p:spPr>
          <a:xfrm>
            <a:off x="274320" y="3291840"/>
            <a:ext cx="5486400" cy="731520"/>
          </a:xfrm>
          <a:prstGeom prst="rect">
            <a:avLst/>
          </a:prstGeom>
          <a:noFill/>
          <a:ln/>
        </p:spPr>
        <p:txBody>
          <a:bodyPr wrap="square" lIns="0" tIns="0" rIns="0" bIns="0" rtlCol="0" anchor="ctr"/>
          <a:lstStyle/>
          <a:p>
            <a:pPr marL="0" indent="0">
              <a:buNone/>
            </a:pPr>
            <a:endParaRPr lang="en-US" sz="1400" dirty="0">
              <a:solidFill>
                <a:schemeClr val="bg1"/>
              </a:solidFill>
            </a:endParaRPr>
          </a:p>
        </p:txBody>
      </p:sp>
      <p:sp>
        <p:nvSpPr>
          <p:cNvPr id="9" name="Text 7"/>
          <p:cNvSpPr/>
          <p:nvPr/>
        </p:nvSpPr>
        <p:spPr>
          <a:xfrm>
            <a:off x="274320" y="4114800"/>
            <a:ext cx="5486400" cy="457200"/>
          </a:xfrm>
          <a:prstGeom prst="rect">
            <a:avLst/>
          </a:prstGeom>
          <a:noFill/>
          <a:ln/>
        </p:spPr>
        <p:txBody>
          <a:bodyPr wrap="square" lIns="0" tIns="0" rIns="0" bIns="0" rtlCol="0" anchor="ctr"/>
          <a:lstStyle/>
          <a:p>
            <a:pPr marL="0" indent="0">
              <a:buNone/>
            </a:pPr>
            <a:endParaRPr lang="en-US" sz="1300" dirty="0"/>
          </a:p>
        </p:txBody>
      </p:sp>
      <p:pic>
        <p:nvPicPr>
          <p:cNvPr id="10" name="Image 0" descr="/home/claude/gameplay1.png"/>
          <p:cNvPicPr>
            <a:picLocks noChangeAspect="1"/>
          </p:cNvPicPr>
          <p:nvPr/>
        </p:nvPicPr>
        <p:blipFill>
          <a:blip r:embed="rId3"/>
          <a:srcRect/>
          <a:stretch/>
        </p:blipFill>
        <p:spPr>
          <a:xfrm>
            <a:off x="4225834" y="109728"/>
            <a:ext cx="4921910" cy="50337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11827"/>
        </a:solidFill>
        <a:effectLst/>
      </p:bgPr>
    </p:bg>
    <p:spTree>
      <p:nvGrpSpPr>
        <p:cNvPr id="1" name="">
          <a:extLst>
            <a:ext uri="{FF2B5EF4-FFF2-40B4-BE49-F238E27FC236}">
              <a16:creationId xmlns:a16="http://schemas.microsoft.com/office/drawing/2014/main" id="{EB557283-AC83-75C5-D0DE-2A4AF9D33B84}"/>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D286724-75B9-602E-8914-6F264EB7FE5C}"/>
              </a:ext>
            </a:extLst>
          </p:cNvPr>
          <p:cNvSpPr/>
          <p:nvPr/>
        </p:nvSpPr>
        <p:spPr>
          <a:xfrm>
            <a:off x="0" y="0"/>
            <a:ext cx="9144000" cy="731520"/>
          </a:xfrm>
          <a:prstGeom prst="rect">
            <a:avLst/>
          </a:prstGeom>
          <a:solidFill>
            <a:srgbClr val="0A0F1E"/>
          </a:solidFill>
          <a:ln w="12700">
            <a:solidFill>
              <a:srgbClr val="0A0F1E"/>
            </a:solidFill>
            <a:prstDash val="solid"/>
          </a:ln>
        </p:spPr>
        <p:txBody>
          <a:bodyPr/>
          <a:lstStyle/>
          <a:p>
            <a:endParaRPr lang="en-GB"/>
          </a:p>
        </p:txBody>
      </p:sp>
      <p:sp>
        <p:nvSpPr>
          <p:cNvPr id="3" name="Shape 1">
            <a:extLst>
              <a:ext uri="{FF2B5EF4-FFF2-40B4-BE49-F238E27FC236}">
                <a16:creationId xmlns:a16="http://schemas.microsoft.com/office/drawing/2014/main" id="{54D1BDD0-A227-1B0D-85DA-F174ACAF9B5B}"/>
              </a:ext>
            </a:extLst>
          </p:cNvPr>
          <p:cNvSpPr/>
          <p:nvPr/>
        </p:nvSpPr>
        <p:spPr>
          <a:xfrm>
            <a:off x="0" y="0"/>
            <a:ext cx="9144000" cy="64008"/>
          </a:xfrm>
          <a:prstGeom prst="rect">
            <a:avLst/>
          </a:prstGeom>
          <a:solidFill>
            <a:srgbClr val="4ECDC4"/>
          </a:solidFill>
          <a:ln w="12700">
            <a:solidFill>
              <a:srgbClr val="4ECDC4"/>
            </a:solidFill>
            <a:prstDash val="solid"/>
          </a:ln>
        </p:spPr>
        <p:txBody>
          <a:bodyPr/>
          <a:lstStyle/>
          <a:p>
            <a:endParaRPr lang="en-GB"/>
          </a:p>
        </p:txBody>
      </p:sp>
      <p:sp>
        <p:nvSpPr>
          <p:cNvPr id="4" name="Text 2">
            <a:extLst>
              <a:ext uri="{FF2B5EF4-FFF2-40B4-BE49-F238E27FC236}">
                <a16:creationId xmlns:a16="http://schemas.microsoft.com/office/drawing/2014/main" id="{BD85C578-C23C-6203-B68C-2444C6A4477E}"/>
              </a:ext>
            </a:extLst>
          </p:cNvPr>
          <p:cNvSpPr/>
          <p:nvPr/>
        </p:nvSpPr>
        <p:spPr>
          <a:xfrm>
            <a:off x="274320" y="91440"/>
            <a:ext cx="8229600" cy="548640"/>
          </a:xfrm>
          <a:prstGeom prst="rect">
            <a:avLst/>
          </a:prstGeom>
          <a:noFill/>
          <a:ln/>
        </p:spPr>
        <p:txBody>
          <a:bodyPr wrap="square" lIns="0" tIns="0" rIns="0" bIns="0" rtlCol="0" anchor="ctr"/>
          <a:lstStyle/>
          <a:p>
            <a:pPr marL="0" indent="0">
              <a:buNone/>
            </a:pPr>
            <a:r>
              <a:rPr lang="en-US" sz="2200" b="1" dirty="0">
                <a:solidFill>
                  <a:srgbClr val="EAEAEA"/>
                </a:solidFill>
                <a:latin typeface="Calibri" pitchFamily="34" charset="0"/>
                <a:ea typeface="Calibri" pitchFamily="34" charset="-122"/>
                <a:cs typeface="Calibri" pitchFamily="34" charset="-120"/>
              </a:rPr>
              <a:t>CONTEXT POINTS: VORONOI AND PERLIN NOISE</a:t>
            </a:r>
            <a:endParaRPr lang="en-US" sz="2200" dirty="0"/>
          </a:p>
        </p:txBody>
      </p:sp>
      <p:sp>
        <p:nvSpPr>
          <p:cNvPr id="29" name="Text 27">
            <a:extLst>
              <a:ext uri="{FF2B5EF4-FFF2-40B4-BE49-F238E27FC236}">
                <a16:creationId xmlns:a16="http://schemas.microsoft.com/office/drawing/2014/main" id="{06A1D6AC-D69E-B07B-4F3D-62A81C12130E}"/>
              </a:ext>
            </a:extLst>
          </p:cNvPr>
          <p:cNvSpPr/>
          <p:nvPr/>
        </p:nvSpPr>
        <p:spPr>
          <a:xfrm>
            <a:off x="0" y="4754880"/>
            <a:ext cx="9144000" cy="365760"/>
          </a:xfrm>
          <a:prstGeom prst="rect">
            <a:avLst/>
          </a:prstGeom>
          <a:noFill/>
          <a:ln/>
        </p:spPr>
        <p:txBody>
          <a:bodyPr wrap="square" lIns="0" tIns="0" rIns="0" bIns="0" rtlCol="0" anchor="ctr"/>
          <a:lstStyle/>
          <a:p>
            <a:pPr marL="0" indent="0" algn="ctr">
              <a:buNone/>
            </a:pPr>
            <a:endParaRPr lang="en-US" sz="1200" dirty="0"/>
          </a:p>
        </p:txBody>
      </p:sp>
      <p:sp>
        <p:nvSpPr>
          <p:cNvPr id="30" name="VoronoiCard">
            <a:extLst>
              <a:ext uri="{FF2B5EF4-FFF2-40B4-BE49-F238E27FC236}">
                <a16:creationId xmlns:a16="http://schemas.microsoft.com/office/drawing/2014/main" id="{0D020DD7-6C2D-0B7E-AB29-1799DDB8A2ED}"/>
              </a:ext>
            </a:extLst>
          </p:cNvPr>
          <p:cNvSpPr/>
          <p:nvPr/>
        </p:nvSpPr>
        <p:spPr>
          <a:xfrm>
            <a:off x="228600" y="800000"/>
            <a:ext cx="4160000" cy="4120000"/>
          </a:xfrm>
          <a:prstGeom prst="rect">
            <a:avLst/>
          </a:prstGeom>
          <a:solidFill>
            <a:srgbClr val="1A2744"/>
          </a:solidFill>
          <a:ln w="12700">
            <a:solidFill>
              <a:srgbClr val="4ECDC4"/>
            </a:solidFill>
            <a:prstDash val="solid"/>
          </a:ln>
          <a:effectLst>
            <a:outerShdw blurRad="76200" dist="25400" dir="8100000" algn="bl" rotWithShape="0">
              <a:srgbClr val="000000">
                <a:alpha val="25000"/>
              </a:srgbClr>
            </a:outerShdw>
          </a:effectLst>
        </p:spPr>
        <p:txBody>
          <a:bodyPr/>
          <a:lstStyle/>
          <a:p>
            <a:endParaRPr lang="en-GB"/>
          </a:p>
        </p:txBody>
      </p:sp>
      <p:sp>
        <p:nvSpPr>
          <p:cNvPr id="31" name="VoronoiAccent">
            <a:extLst>
              <a:ext uri="{FF2B5EF4-FFF2-40B4-BE49-F238E27FC236}">
                <a16:creationId xmlns:a16="http://schemas.microsoft.com/office/drawing/2014/main" id="{6E34F07C-A895-C066-7A6A-794746EDAE32}"/>
              </a:ext>
            </a:extLst>
          </p:cNvPr>
          <p:cNvSpPr/>
          <p:nvPr/>
        </p:nvSpPr>
        <p:spPr>
          <a:xfrm>
            <a:off x="222069" y="800000"/>
            <a:ext cx="82296" cy="4120000"/>
          </a:xfrm>
          <a:prstGeom prst="rect">
            <a:avLst/>
          </a:prstGeom>
          <a:solidFill>
            <a:srgbClr val="4ECDC4"/>
          </a:solidFill>
          <a:ln w="12700">
            <a:solidFill>
              <a:srgbClr val="4ECDC4"/>
            </a:solidFill>
            <a:prstDash val="solid"/>
          </a:ln>
        </p:spPr>
        <p:txBody>
          <a:bodyPr/>
          <a:lstStyle/>
          <a:p>
            <a:endParaRPr lang="en-GB"/>
          </a:p>
        </p:txBody>
      </p:sp>
      <p:sp>
        <p:nvSpPr>
          <p:cNvPr id="32" name="VoronoiTitle">
            <a:extLst>
              <a:ext uri="{FF2B5EF4-FFF2-40B4-BE49-F238E27FC236}">
                <a16:creationId xmlns:a16="http://schemas.microsoft.com/office/drawing/2014/main" id="{FA4D3882-6D69-B226-D0C5-CBF3EE330417}"/>
              </a:ext>
            </a:extLst>
          </p:cNvPr>
          <p:cNvSpPr/>
          <p:nvPr/>
        </p:nvSpPr>
        <p:spPr>
          <a:xfrm>
            <a:off x="370000" y="840000"/>
            <a:ext cx="3900000" cy="380000"/>
          </a:xfrm>
          <a:prstGeom prst="rect">
            <a:avLst/>
          </a:prstGeom>
          <a:noFill/>
          <a:ln/>
        </p:spPr>
        <p:txBody>
          <a:bodyPr wrap="square" lIns="91440" tIns="45720" rIns="91440" bIns="45720" rtlCol="0" anchor="ctr"/>
          <a:lstStyle/>
          <a:p>
            <a:pPr marL="0" indent="0">
              <a:buNone/>
            </a:pPr>
            <a:r>
              <a:rPr lang="en-US" sz="1400" b="1">
                <a:solidFill>
                  <a:srgbClr val="EAEAEA"/>
                </a:solidFill>
                <a:latin typeface="Calibri" pitchFamily="34" charset="0"/>
              </a:rPr>
              <a:t>Voronoi Regionalization</a:t>
            </a:r>
          </a:p>
        </p:txBody>
      </p:sp>
      <p:sp>
        <p:nvSpPr>
          <p:cNvPr id="34" name="VoronoiDesc">
            <a:extLst>
              <a:ext uri="{FF2B5EF4-FFF2-40B4-BE49-F238E27FC236}">
                <a16:creationId xmlns:a16="http://schemas.microsoft.com/office/drawing/2014/main" id="{B2B3F476-CE9A-F813-B2F7-2880D3525053}"/>
              </a:ext>
            </a:extLst>
          </p:cNvPr>
          <p:cNvSpPr/>
          <p:nvPr/>
        </p:nvSpPr>
        <p:spPr>
          <a:xfrm>
            <a:off x="370000" y="3365024"/>
            <a:ext cx="3900000" cy="1434976"/>
          </a:xfrm>
          <a:prstGeom prst="rect">
            <a:avLst/>
          </a:prstGeom>
          <a:noFill/>
          <a:ln/>
        </p:spPr>
        <p:txBody>
          <a:bodyPr wrap="square" lIns="91440" tIns="45720" rIns="91440" bIns="45720" rtlCol="0" anchor="t"/>
          <a:lstStyle/>
          <a:p>
            <a:pPr marL="0" indent="0">
              <a:buNone/>
            </a:pPr>
            <a:r>
              <a:rPr lang="en-US" sz="1000" b="1" dirty="0">
                <a:solidFill>
                  <a:srgbClr val="4ECDC4"/>
                </a:solidFill>
                <a:latin typeface="Calibri" pitchFamily="34" charset="0"/>
              </a:rPr>
              <a:t>What is it?</a:t>
            </a:r>
          </a:p>
          <a:p>
            <a:pPr marL="0" indent="0">
              <a:buNone/>
            </a:pPr>
            <a:r>
              <a:rPr lang="en-US" sz="950" dirty="0">
                <a:solidFill>
                  <a:srgbClr val="C8D8E8"/>
                </a:solidFill>
                <a:latin typeface="Calibri" pitchFamily="34" charset="0"/>
              </a:rPr>
              <a:t>Imagine dropping seeds onto the map. Every tile simply asks, “which seed am I closest to?” That seed claims the tile. Regions separated into different areas.</a:t>
            </a:r>
            <a:endParaRPr lang="en-US" sz="950" dirty="0"/>
          </a:p>
          <a:p>
            <a:pPr marL="0" indent="0">
              <a:buNone/>
            </a:pPr>
            <a:r>
              <a:rPr lang="en-US" sz="950" b="1" dirty="0">
                <a:solidFill>
                  <a:srgbClr val="4ECDC4"/>
                </a:solidFill>
                <a:latin typeface="Calibri" pitchFamily="34" charset="0"/>
              </a:rPr>
              <a:t>In THORNS: </a:t>
            </a:r>
          </a:p>
          <a:p>
            <a:pPr marL="0" indent="0">
              <a:buNone/>
            </a:pPr>
            <a:r>
              <a:rPr lang="en-US" sz="950" dirty="0">
                <a:solidFill>
                  <a:srgbClr val="C8D8E8"/>
                </a:solidFill>
                <a:latin typeface="Calibri" pitchFamily="34" charset="0"/>
              </a:rPr>
              <a:t>Each seed is a map site. POIs like farms and villages are placed at those sites, so they are always spaced out and never clump together.</a:t>
            </a:r>
          </a:p>
        </p:txBody>
      </p:sp>
      <p:sp>
        <p:nvSpPr>
          <p:cNvPr id="35" name="PerlinCard">
            <a:extLst>
              <a:ext uri="{FF2B5EF4-FFF2-40B4-BE49-F238E27FC236}">
                <a16:creationId xmlns:a16="http://schemas.microsoft.com/office/drawing/2014/main" id="{2E01814E-9691-AF8D-F2B0-1B90789C9F6C}"/>
              </a:ext>
            </a:extLst>
          </p:cNvPr>
          <p:cNvSpPr/>
          <p:nvPr/>
        </p:nvSpPr>
        <p:spPr>
          <a:xfrm>
            <a:off x="4755600" y="800000"/>
            <a:ext cx="4160000" cy="4120000"/>
          </a:xfrm>
          <a:prstGeom prst="rect">
            <a:avLst/>
          </a:prstGeom>
          <a:solidFill>
            <a:srgbClr val="1A2744"/>
          </a:solidFill>
          <a:ln w="12700">
            <a:solidFill>
              <a:srgbClr val="4ECDC4"/>
            </a:solidFill>
            <a:prstDash val="solid"/>
          </a:ln>
          <a:effectLst>
            <a:outerShdw blurRad="76200" dist="25400" dir="8100000" algn="bl" rotWithShape="0">
              <a:srgbClr val="000000">
                <a:alpha val="25000"/>
              </a:srgbClr>
            </a:outerShdw>
          </a:effectLst>
        </p:spPr>
        <p:txBody>
          <a:bodyPr/>
          <a:lstStyle/>
          <a:p>
            <a:endParaRPr lang="en-GB"/>
          </a:p>
        </p:txBody>
      </p:sp>
      <p:sp>
        <p:nvSpPr>
          <p:cNvPr id="36" name="PerlinAccent">
            <a:extLst>
              <a:ext uri="{FF2B5EF4-FFF2-40B4-BE49-F238E27FC236}">
                <a16:creationId xmlns:a16="http://schemas.microsoft.com/office/drawing/2014/main" id="{4B870E8D-E67A-12DF-CEEB-0CD33F989463}"/>
              </a:ext>
            </a:extLst>
          </p:cNvPr>
          <p:cNvSpPr/>
          <p:nvPr/>
        </p:nvSpPr>
        <p:spPr>
          <a:xfrm>
            <a:off x="4749069" y="800000"/>
            <a:ext cx="82296" cy="4120000"/>
          </a:xfrm>
          <a:prstGeom prst="rect">
            <a:avLst/>
          </a:prstGeom>
          <a:solidFill>
            <a:srgbClr val="4ECDC4"/>
          </a:solidFill>
          <a:ln w="12700">
            <a:solidFill>
              <a:srgbClr val="4ECDC4"/>
            </a:solidFill>
            <a:prstDash val="solid"/>
          </a:ln>
        </p:spPr>
        <p:txBody>
          <a:bodyPr/>
          <a:lstStyle/>
          <a:p>
            <a:endParaRPr lang="en-GB"/>
          </a:p>
        </p:txBody>
      </p:sp>
      <p:sp>
        <p:nvSpPr>
          <p:cNvPr id="37" name="PerlinTitle">
            <a:extLst>
              <a:ext uri="{FF2B5EF4-FFF2-40B4-BE49-F238E27FC236}">
                <a16:creationId xmlns:a16="http://schemas.microsoft.com/office/drawing/2014/main" id="{953C4C46-4BAB-76D1-28BE-69478E04EC0F}"/>
              </a:ext>
            </a:extLst>
          </p:cNvPr>
          <p:cNvSpPr/>
          <p:nvPr/>
        </p:nvSpPr>
        <p:spPr>
          <a:xfrm>
            <a:off x="4885600" y="763118"/>
            <a:ext cx="3900000" cy="380000"/>
          </a:xfrm>
          <a:prstGeom prst="rect">
            <a:avLst/>
          </a:prstGeom>
          <a:noFill/>
          <a:ln/>
        </p:spPr>
        <p:txBody>
          <a:bodyPr wrap="square" lIns="91440" tIns="45720" rIns="91440" bIns="45720" rtlCol="0" anchor="ctr"/>
          <a:lstStyle/>
          <a:p>
            <a:pPr marL="0" indent="0">
              <a:buNone/>
            </a:pPr>
            <a:r>
              <a:rPr lang="en-US" sz="1400" b="1" dirty="0">
                <a:solidFill>
                  <a:srgbClr val="EAEAEA"/>
                </a:solidFill>
                <a:latin typeface="Calibri" pitchFamily="34" charset="0"/>
              </a:rPr>
              <a:t>Perlin Noise</a:t>
            </a:r>
          </a:p>
        </p:txBody>
      </p:sp>
      <p:sp>
        <p:nvSpPr>
          <p:cNvPr id="39" name="PerlinDesc">
            <a:extLst>
              <a:ext uri="{FF2B5EF4-FFF2-40B4-BE49-F238E27FC236}">
                <a16:creationId xmlns:a16="http://schemas.microsoft.com/office/drawing/2014/main" id="{03F72AC2-581F-BE1B-AC8C-B2A86403AB18}"/>
              </a:ext>
            </a:extLst>
          </p:cNvPr>
          <p:cNvSpPr/>
          <p:nvPr/>
        </p:nvSpPr>
        <p:spPr>
          <a:xfrm>
            <a:off x="4923482" y="3527305"/>
            <a:ext cx="3900000" cy="1820000"/>
          </a:xfrm>
          <a:prstGeom prst="rect">
            <a:avLst/>
          </a:prstGeom>
          <a:noFill/>
          <a:ln/>
        </p:spPr>
        <p:txBody>
          <a:bodyPr wrap="square" lIns="91440" tIns="45720" rIns="91440" bIns="45720" rtlCol="0" anchor="t"/>
          <a:lstStyle/>
          <a:p>
            <a:pPr marL="0" indent="0">
              <a:buNone/>
            </a:pPr>
            <a:r>
              <a:rPr lang="en-US" sz="1000" b="1" dirty="0">
                <a:solidFill>
                  <a:srgbClr val="4ECDC4"/>
                </a:solidFill>
                <a:latin typeface="Calibri" pitchFamily="34" charset="0"/>
              </a:rPr>
              <a:t>What is it?</a:t>
            </a:r>
          </a:p>
          <a:p>
            <a:pPr marL="0" indent="0">
              <a:buNone/>
            </a:pPr>
            <a:r>
              <a:rPr lang="en-US" sz="950" dirty="0">
                <a:solidFill>
                  <a:srgbClr val="C8D8E8"/>
                </a:solidFill>
                <a:latin typeface="Calibri" pitchFamily="34" charset="0"/>
              </a:rPr>
              <a:t>Pure random noise looks like TV static. Perlin Noise is randomness that flows smoothly, like rolling hills or drifting clouds. Each value blends gently into the next. (Octaves are used to perform multiple layers of noise)</a:t>
            </a:r>
          </a:p>
          <a:p>
            <a:pPr marL="0" indent="0">
              <a:buNone/>
            </a:pPr>
            <a:endParaRPr lang="en-US" sz="950" dirty="0"/>
          </a:p>
          <a:p>
            <a:pPr marL="0" indent="0">
              <a:buNone/>
            </a:pPr>
            <a:r>
              <a:rPr lang="en-US" sz="950" b="1" dirty="0">
                <a:solidFill>
                  <a:srgbClr val="4ECDC4"/>
                </a:solidFill>
                <a:latin typeface="Calibri" pitchFamily="34" charset="0"/>
              </a:rPr>
              <a:t>In THORNS: </a:t>
            </a:r>
            <a:r>
              <a:rPr lang="en-US" sz="950" dirty="0">
                <a:solidFill>
                  <a:srgbClr val="C8D8E8"/>
                </a:solidFill>
                <a:latin typeface="Calibri" pitchFamily="34" charset="0"/>
              </a:rPr>
              <a:t>Used to scatter world objects (rocks, roots, stumps) across the terrain in natural-looking clusters, rather than totally random or evenly spaced patterns.</a:t>
            </a:r>
          </a:p>
        </p:txBody>
      </p:sp>
      <p:pic>
        <p:nvPicPr>
          <p:cNvPr id="1026" name="Picture 2" descr="How To Create Perlin Noise – Perlin Noise Tutorial – BVJH">
            <a:extLst>
              <a:ext uri="{FF2B5EF4-FFF2-40B4-BE49-F238E27FC236}">
                <a16:creationId xmlns:a16="http://schemas.microsoft.com/office/drawing/2014/main" id="{D19D0595-2C7B-3306-E39D-62806C7F27F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46937" y="1030000"/>
            <a:ext cx="2915698" cy="265385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Voronoi diagram. As given in Fig. 2, a Voronoi polygon contains the... |  Download Scientific Diagram">
            <a:extLst>
              <a:ext uri="{FF2B5EF4-FFF2-40B4-BE49-F238E27FC236}">
                <a16:creationId xmlns:a16="http://schemas.microsoft.com/office/drawing/2014/main" id="{62AF8775-880E-89BE-5158-8C50788FEC4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1191" y="1135034"/>
            <a:ext cx="3221759" cy="22299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85644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111827"/>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0A0F1E"/>
          </a:solidFill>
          <a:ln w="12700">
            <a:solidFill>
              <a:srgbClr val="0A0F1E"/>
            </a:solidFill>
            <a:prstDash val="solid"/>
          </a:ln>
        </p:spPr>
        <p:txBody>
          <a:bodyPr/>
          <a:lstStyle/>
          <a:p>
            <a:endParaRPr lang="en-GB"/>
          </a:p>
        </p:txBody>
      </p:sp>
      <p:sp>
        <p:nvSpPr>
          <p:cNvPr id="3" name="Shape 1"/>
          <p:cNvSpPr/>
          <p:nvPr/>
        </p:nvSpPr>
        <p:spPr>
          <a:xfrm>
            <a:off x="0" y="0"/>
            <a:ext cx="9144000" cy="64008"/>
          </a:xfrm>
          <a:prstGeom prst="rect">
            <a:avLst/>
          </a:prstGeom>
          <a:solidFill>
            <a:srgbClr val="4ECDC4"/>
          </a:solidFill>
          <a:ln w="12700">
            <a:solidFill>
              <a:srgbClr val="4ECDC4"/>
            </a:solidFill>
            <a:prstDash val="solid"/>
          </a:ln>
        </p:spPr>
        <p:txBody>
          <a:bodyPr/>
          <a:lstStyle/>
          <a:p>
            <a:endParaRPr lang="en-GB"/>
          </a:p>
        </p:txBody>
      </p:sp>
      <p:sp>
        <p:nvSpPr>
          <p:cNvPr id="4" name="Text 2"/>
          <p:cNvSpPr/>
          <p:nvPr/>
        </p:nvSpPr>
        <p:spPr>
          <a:xfrm>
            <a:off x="274320" y="91440"/>
            <a:ext cx="8229600" cy="548640"/>
          </a:xfrm>
          <a:prstGeom prst="rect">
            <a:avLst/>
          </a:prstGeom>
          <a:noFill/>
          <a:ln/>
        </p:spPr>
        <p:txBody>
          <a:bodyPr wrap="square" lIns="0" tIns="0" rIns="0" bIns="0" rtlCol="0" anchor="ctr"/>
          <a:lstStyle/>
          <a:p>
            <a:pPr marL="0" indent="0">
              <a:buNone/>
            </a:pPr>
            <a:r>
              <a:rPr lang="en-US" sz="2200" b="1" dirty="0">
                <a:solidFill>
                  <a:srgbClr val="EAEAEA"/>
                </a:solidFill>
                <a:latin typeface="Calibri" pitchFamily="34" charset="0"/>
                <a:ea typeface="Calibri" pitchFamily="34" charset="-122"/>
                <a:cs typeface="Calibri" pitchFamily="34" charset="-120"/>
              </a:rPr>
              <a:t>COMPLETED MILESTONES</a:t>
            </a:r>
            <a:endParaRPr lang="en-US" sz="2200" dirty="0"/>
          </a:p>
        </p:txBody>
      </p:sp>
      <p:sp>
        <p:nvSpPr>
          <p:cNvPr id="5" name="Shape 3"/>
          <p:cNvSpPr/>
          <p:nvPr/>
        </p:nvSpPr>
        <p:spPr>
          <a:xfrm>
            <a:off x="228600" y="914400"/>
            <a:ext cx="2743200" cy="1737360"/>
          </a:xfrm>
          <a:prstGeom prst="rect">
            <a:avLst/>
          </a:prstGeom>
          <a:solidFill>
            <a:srgbClr val="1A2744"/>
          </a:solidFill>
          <a:ln w="12700">
            <a:solidFill>
              <a:srgbClr val="4ECDC4"/>
            </a:solidFill>
            <a:prstDash val="solid"/>
          </a:ln>
          <a:effectLst>
            <a:outerShdw blurRad="76200" dist="25400" dir="8100000" algn="bl" rotWithShape="0">
              <a:srgbClr val="000000">
                <a:alpha val="25000"/>
              </a:srgbClr>
            </a:outerShdw>
          </a:effectLst>
        </p:spPr>
        <p:txBody>
          <a:bodyPr/>
          <a:lstStyle/>
          <a:p>
            <a:endParaRPr lang="en-GB"/>
          </a:p>
        </p:txBody>
      </p:sp>
      <p:sp>
        <p:nvSpPr>
          <p:cNvPr id="6" name="Shape 4"/>
          <p:cNvSpPr/>
          <p:nvPr/>
        </p:nvSpPr>
        <p:spPr>
          <a:xfrm>
            <a:off x="222069" y="914400"/>
            <a:ext cx="82296" cy="1737360"/>
          </a:xfrm>
          <a:prstGeom prst="rect">
            <a:avLst/>
          </a:prstGeom>
          <a:solidFill>
            <a:srgbClr val="2ECC71"/>
          </a:solidFill>
          <a:ln w="12700">
            <a:solidFill>
              <a:srgbClr val="2ECC71"/>
            </a:solidFill>
            <a:prstDash val="solid"/>
          </a:ln>
        </p:spPr>
        <p:txBody>
          <a:bodyPr/>
          <a:lstStyle/>
          <a:p>
            <a:endParaRPr lang="en-GB"/>
          </a:p>
        </p:txBody>
      </p:sp>
      <p:sp>
        <p:nvSpPr>
          <p:cNvPr id="7" name="Text 5"/>
          <p:cNvSpPr/>
          <p:nvPr/>
        </p:nvSpPr>
        <p:spPr>
          <a:xfrm>
            <a:off x="365760" y="987552"/>
            <a:ext cx="2514600" cy="411480"/>
          </a:xfrm>
          <a:prstGeom prst="rect">
            <a:avLst/>
          </a:prstGeom>
          <a:noFill/>
          <a:ln/>
        </p:spPr>
        <p:txBody>
          <a:bodyPr wrap="square" lIns="0" tIns="0" rIns="0" bIns="0" rtlCol="0" anchor="ctr"/>
          <a:lstStyle/>
          <a:p>
            <a:pPr marL="0" indent="0">
              <a:buNone/>
            </a:pPr>
            <a:r>
              <a:rPr lang="en-US" sz="1300" b="1" dirty="0">
                <a:solidFill>
                  <a:schemeClr val="bg1"/>
                </a:solidFill>
                <a:latin typeface="Calibri" pitchFamily="34" charset="0"/>
                <a:ea typeface="Calibri" pitchFamily="34" charset="-122"/>
                <a:cs typeface="Calibri" pitchFamily="34" charset="-120"/>
              </a:rPr>
              <a:t>Game Loop &amp; State Machine</a:t>
            </a:r>
            <a:endParaRPr lang="en-US" sz="1300" dirty="0">
              <a:solidFill>
                <a:schemeClr val="bg1"/>
              </a:solidFill>
            </a:endParaRPr>
          </a:p>
        </p:txBody>
      </p:sp>
      <p:sp>
        <p:nvSpPr>
          <p:cNvPr id="8" name="Text 6"/>
          <p:cNvSpPr/>
          <p:nvPr/>
        </p:nvSpPr>
        <p:spPr>
          <a:xfrm>
            <a:off x="365760" y="1417320"/>
            <a:ext cx="2514600" cy="1143000"/>
          </a:xfrm>
          <a:prstGeom prst="rect">
            <a:avLst/>
          </a:prstGeom>
          <a:noFill/>
          <a:ln/>
        </p:spPr>
        <p:txBody>
          <a:bodyPr wrap="square" lIns="0" tIns="0" rIns="0" bIns="0" rtlCol="0" anchor="ctr"/>
          <a:lstStyle/>
          <a:p>
            <a:pPr marL="0" indent="0">
              <a:buNone/>
            </a:pPr>
            <a:r>
              <a:rPr lang="en-US" sz="1050" dirty="0">
                <a:solidFill>
                  <a:schemeClr val="bg1"/>
                </a:solidFill>
                <a:latin typeface="Calibri" pitchFamily="34" charset="0"/>
                <a:ea typeface="Calibri" pitchFamily="34" charset="-122"/>
                <a:cs typeface="Calibri" pitchFamily="34" charset="-120"/>
              </a:rPr>
              <a:t>Fixed 60 frame per second, push/pop state transitions (Menu, Playing, Paused, Settings)</a:t>
            </a:r>
            <a:endParaRPr lang="en-US" sz="1050" dirty="0">
              <a:solidFill>
                <a:schemeClr val="bg1"/>
              </a:solidFill>
            </a:endParaRPr>
          </a:p>
        </p:txBody>
      </p:sp>
      <p:sp>
        <p:nvSpPr>
          <p:cNvPr id="9" name="Shape 7"/>
          <p:cNvSpPr/>
          <p:nvPr/>
        </p:nvSpPr>
        <p:spPr>
          <a:xfrm>
            <a:off x="3200400" y="914400"/>
            <a:ext cx="2743200" cy="1737360"/>
          </a:xfrm>
          <a:prstGeom prst="rect">
            <a:avLst/>
          </a:prstGeom>
          <a:solidFill>
            <a:srgbClr val="1A2744"/>
          </a:solidFill>
          <a:ln w="12700">
            <a:solidFill>
              <a:srgbClr val="4ECDC4"/>
            </a:solidFill>
            <a:prstDash val="solid"/>
          </a:ln>
          <a:effectLst>
            <a:outerShdw blurRad="76200" dist="25400" dir="8100000" algn="bl" rotWithShape="0">
              <a:srgbClr val="000000">
                <a:alpha val="25000"/>
              </a:srgbClr>
            </a:outerShdw>
          </a:effectLst>
        </p:spPr>
        <p:txBody>
          <a:bodyPr/>
          <a:lstStyle/>
          <a:p>
            <a:endParaRPr lang="en-GB"/>
          </a:p>
        </p:txBody>
      </p:sp>
      <p:sp>
        <p:nvSpPr>
          <p:cNvPr id="10" name="Shape 8"/>
          <p:cNvSpPr/>
          <p:nvPr/>
        </p:nvSpPr>
        <p:spPr>
          <a:xfrm>
            <a:off x="3200400" y="914400"/>
            <a:ext cx="82296" cy="1737360"/>
          </a:xfrm>
          <a:prstGeom prst="rect">
            <a:avLst/>
          </a:prstGeom>
          <a:solidFill>
            <a:srgbClr val="2ECC71"/>
          </a:solidFill>
          <a:ln w="12700">
            <a:solidFill>
              <a:srgbClr val="2ECC71"/>
            </a:solidFill>
            <a:prstDash val="solid"/>
          </a:ln>
        </p:spPr>
        <p:txBody>
          <a:bodyPr/>
          <a:lstStyle/>
          <a:p>
            <a:endParaRPr lang="en-GB"/>
          </a:p>
        </p:txBody>
      </p:sp>
      <p:sp>
        <p:nvSpPr>
          <p:cNvPr id="11" name="Text 9"/>
          <p:cNvSpPr/>
          <p:nvPr/>
        </p:nvSpPr>
        <p:spPr>
          <a:xfrm>
            <a:off x="3337560" y="987552"/>
            <a:ext cx="2514600" cy="411480"/>
          </a:xfrm>
          <a:prstGeom prst="rect">
            <a:avLst/>
          </a:prstGeom>
          <a:noFill/>
          <a:ln/>
        </p:spPr>
        <p:txBody>
          <a:bodyPr wrap="square" lIns="0" tIns="0" rIns="0" bIns="0" rtlCol="0" anchor="ctr"/>
          <a:lstStyle/>
          <a:p>
            <a:pPr marL="0" indent="0">
              <a:buNone/>
            </a:pPr>
            <a:r>
              <a:rPr lang="en-US" sz="1300" b="1" dirty="0">
                <a:solidFill>
                  <a:schemeClr val="bg1"/>
                </a:solidFill>
                <a:latin typeface="Calibri" pitchFamily="34" charset="0"/>
                <a:ea typeface="Calibri" pitchFamily="34" charset="-122"/>
                <a:cs typeface="Calibri" pitchFamily="34" charset="-120"/>
              </a:rPr>
              <a:t>Input Abstraction Layer</a:t>
            </a:r>
            <a:endParaRPr lang="en-US" sz="1300" dirty="0">
              <a:solidFill>
                <a:schemeClr val="bg1"/>
              </a:solidFill>
            </a:endParaRPr>
          </a:p>
        </p:txBody>
      </p:sp>
      <p:sp>
        <p:nvSpPr>
          <p:cNvPr id="12" name="Text 10"/>
          <p:cNvSpPr/>
          <p:nvPr/>
        </p:nvSpPr>
        <p:spPr>
          <a:xfrm>
            <a:off x="3337560" y="1417320"/>
            <a:ext cx="2514600" cy="1143000"/>
          </a:xfrm>
          <a:prstGeom prst="rect">
            <a:avLst/>
          </a:prstGeom>
          <a:noFill/>
          <a:ln/>
        </p:spPr>
        <p:txBody>
          <a:bodyPr wrap="square" lIns="0" tIns="0" rIns="0" bIns="0" rtlCol="0" anchor="ctr"/>
          <a:lstStyle/>
          <a:p>
            <a:pPr marL="0" indent="0">
              <a:buNone/>
            </a:pPr>
            <a:r>
              <a:rPr lang="en-US" sz="1050" dirty="0">
                <a:solidFill>
                  <a:schemeClr val="bg1"/>
                </a:solidFill>
                <a:latin typeface="Calibri" pitchFamily="34" charset="0"/>
                <a:ea typeface="Calibri" pitchFamily="34" charset="-122"/>
                <a:cs typeface="Calibri" pitchFamily="34" charset="-120"/>
              </a:rPr>
              <a:t>Keyboard + gamepad support, rebindable keys, device detection at runtime</a:t>
            </a:r>
            <a:endParaRPr lang="en-US" sz="1050" dirty="0">
              <a:solidFill>
                <a:schemeClr val="bg1"/>
              </a:solidFill>
            </a:endParaRPr>
          </a:p>
        </p:txBody>
      </p:sp>
      <p:sp>
        <p:nvSpPr>
          <p:cNvPr id="13" name="Shape 11"/>
          <p:cNvSpPr/>
          <p:nvPr/>
        </p:nvSpPr>
        <p:spPr>
          <a:xfrm>
            <a:off x="6172200" y="914400"/>
            <a:ext cx="2743200" cy="1737360"/>
          </a:xfrm>
          <a:prstGeom prst="rect">
            <a:avLst/>
          </a:prstGeom>
          <a:solidFill>
            <a:srgbClr val="1A2744"/>
          </a:solidFill>
          <a:ln w="12700">
            <a:solidFill>
              <a:srgbClr val="4ECDC4"/>
            </a:solidFill>
            <a:prstDash val="solid"/>
          </a:ln>
          <a:effectLst>
            <a:outerShdw blurRad="76200" dist="25400" dir="8100000" algn="bl" rotWithShape="0">
              <a:srgbClr val="000000">
                <a:alpha val="25000"/>
              </a:srgbClr>
            </a:outerShdw>
          </a:effectLst>
        </p:spPr>
        <p:txBody>
          <a:bodyPr/>
          <a:lstStyle/>
          <a:p>
            <a:endParaRPr lang="en-GB" dirty="0"/>
          </a:p>
        </p:txBody>
      </p:sp>
      <p:sp>
        <p:nvSpPr>
          <p:cNvPr id="14" name="Shape 12"/>
          <p:cNvSpPr/>
          <p:nvPr/>
        </p:nvSpPr>
        <p:spPr>
          <a:xfrm>
            <a:off x="6172200" y="914400"/>
            <a:ext cx="82296" cy="1737360"/>
          </a:xfrm>
          <a:prstGeom prst="rect">
            <a:avLst/>
          </a:prstGeom>
          <a:solidFill>
            <a:srgbClr val="2ECC71"/>
          </a:solidFill>
          <a:ln w="12700">
            <a:solidFill>
              <a:srgbClr val="2ECC71"/>
            </a:solidFill>
            <a:prstDash val="solid"/>
          </a:ln>
        </p:spPr>
        <p:txBody>
          <a:bodyPr/>
          <a:lstStyle/>
          <a:p>
            <a:endParaRPr lang="en-GB"/>
          </a:p>
        </p:txBody>
      </p:sp>
      <p:sp>
        <p:nvSpPr>
          <p:cNvPr id="15" name="Text 13"/>
          <p:cNvSpPr/>
          <p:nvPr/>
        </p:nvSpPr>
        <p:spPr>
          <a:xfrm>
            <a:off x="6309360" y="987552"/>
            <a:ext cx="2514600" cy="411480"/>
          </a:xfrm>
          <a:prstGeom prst="rect">
            <a:avLst/>
          </a:prstGeom>
          <a:noFill/>
          <a:ln/>
        </p:spPr>
        <p:txBody>
          <a:bodyPr wrap="square" lIns="0" tIns="0" rIns="0" bIns="0" rtlCol="0" anchor="ctr"/>
          <a:lstStyle/>
          <a:p>
            <a:pPr marL="0" indent="0">
              <a:buNone/>
            </a:pPr>
            <a:r>
              <a:rPr lang="en-US" sz="1300" b="1" dirty="0">
                <a:solidFill>
                  <a:schemeClr val="bg1"/>
                </a:solidFill>
                <a:latin typeface="Calibri" pitchFamily="34" charset="0"/>
                <a:ea typeface="Calibri" pitchFamily="34" charset="-122"/>
                <a:cs typeface="Calibri" pitchFamily="34" charset="-120"/>
              </a:rPr>
              <a:t>Procedural Map Generation</a:t>
            </a:r>
            <a:endParaRPr lang="en-US" sz="1300" dirty="0">
              <a:solidFill>
                <a:schemeClr val="bg1"/>
              </a:solidFill>
            </a:endParaRPr>
          </a:p>
        </p:txBody>
      </p:sp>
      <p:sp>
        <p:nvSpPr>
          <p:cNvPr id="16" name="Text 14"/>
          <p:cNvSpPr/>
          <p:nvPr/>
        </p:nvSpPr>
        <p:spPr>
          <a:xfrm>
            <a:off x="6309360" y="1417320"/>
            <a:ext cx="2514600" cy="1143000"/>
          </a:xfrm>
          <a:prstGeom prst="rect">
            <a:avLst/>
          </a:prstGeom>
          <a:noFill/>
          <a:ln/>
        </p:spPr>
        <p:txBody>
          <a:bodyPr wrap="square" lIns="0" tIns="0" rIns="0" bIns="0" rtlCol="0" anchor="ctr"/>
          <a:lstStyle/>
          <a:p>
            <a:pPr marL="0" indent="0">
              <a:buNone/>
            </a:pPr>
            <a:r>
              <a:rPr lang="en-US" sz="1050" dirty="0">
                <a:solidFill>
                  <a:schemeClr val="bg1"/>
                </a:solidFill>
                <a:latin typeface="Calibri" pitchFamily="34" charset="0"/>
                <a:ea typeface="Calibri" pitchFamily="34" charset="-122"/>
                <a:cs typeface="Calibri" pitchFamily="34" charset="-120"/>
              </a:rPr>
              <a:t>Voronoi regionalization via Poisson disk sampling, spatial grid O(k) lookups</a:t>
            </a:r>
            <a:endParaRPr lang="en-US" sz="1050" dirty="0">
              <a:solidFill>
                <a:schemeClr val="bg1"/>
              </a:solidFill>
            </a:endParaRPr>
          </a:p>
        </p:txBody>
      </p:sp>
      <p:sp>
        <p:nvSpPr>
          <p:cNvPr id="17" name="Shape 15"/>
          <p:cNvSpPr/>
          <p:nvPr/>
        </p:nvSpPr>
        <p:spPr>
          <a:xfrm>
            <a:off x="228600" y="2834640"/>
            <a:ext cx="2743200" cy="1737360"/>
          </a:xfrm>
          <a:prstGeom prst="rect">
            <a:avLst/>
          </a:prstGeom>
          <a:solidFill>
            <a:srgbClr val="1A2744"/>
          </a:solidFill>
          <a:ln w="12700">
            <a:solidFill>
              <a:srgbClr val="4ECDC4"/>
            </a:solidFill>
            <a:prstDash val="solid"/>
          </a:ln>
          <a:effectLst>
            <a:outerShdw blurRad="76200" dist="25400" dir="8100000" algn="bl" rotWithShape="0">
              <a:srgbClr val="000000">
                <a:alpha val="25000"/>
              </a:srgbClr>
            </a:outerShdw>
          </a:effectLst>
        </p:spPr>
        <p:txBody>
          <a:bodyPr/>
          <a:lstStyle/>
          <a:p>
            <a:endParaRPr lang="en-GB"/>
          </a:p>
        </p:txBody>
      </p:sp>
      <p:sp>
        <p:nvSpPr>
          <p:cNvPr id="18" name="Shape 16"/>
          <p:cNvSpPr/>
          <p:nvPr/>
        </p:nvSpPr>
        <p:spPr>
          <a:xfrm>
            <a:off x="228600" y="2834640"/>
            <a:ext cx="82296" cy="1737360"/>
          </a:xfrm>
          <a:prstGeom prst="rect">
            <a:avLst/>
          </a:prstGeom>
          <a:solidFill>
            <a:srgbClr val="2ECC71"/>
          </a:solidFill>
          <a:ln w="12700">
            <a:solidFill>
              <a:srgbClr val="2ECC71"/>
            </a:solidFill>
            <a:prstDash val="solid"/>
          </a:ln>
        </p:spPr>
        <p:txBody>
          <a:bodyPr/>
          <a:lstStyle/>
          <a:p>
            <a:endParaRPr lang="en-GB"/>
          </a:p>
        </p:txBody>
      </p:sp>
      <p:sp>
        <p:nvSpPr>
          <p:cNvPr id="19" name="Text 17"/>
          <p:cNvSpPr/>
          <p:nvPr/>
        </p:nvSpPr>
        <p:spPr>
          <a:xfrm>
            <a:off x="365760" y="2907792"/>
            <a:ext cx="2514600" cy="411480"/>
          </a:xfrm>
          <a:prstGeom prst="rect">
            <a:avLst/>
          </a:prstGeom>
          <a:noFill/>
          <a:ln/>
        </p:spPr>
        <p:txBody>
          <a:bodyPr wrap="square" lIns="0" tIns="0" rIns="0" bIns="0" rtlCol="0" anchor="ctr"/>
          <a:lstStyle/>
          <a:p>
            <a:pPr marL="0" indent="0">
              <a:buNone/>
            </a:pPr>
            <a:r>
              <a:rPr lang="en-US" sz="1300" b="1" dirty="0">
                <a:solidFill>
                  <a:schemeClr val="bg1"/>
                </a:solidFill>
                <a:latin typeface="Calibri" pitchFamily="34" charset="0"/>
                <a:ea typeface="Calibri" pitchFamily="34" charset="-122"/>
                <a:cs typeface="Calibri" pitchFamily="34" charset="-120"/>
              </a:rPr>
              <a:t>POI System</a:t>
            </a:r>
            <a:endParaRPr lang="en-US" sz="1300" dirty="0">
              <a:solidFill>
                <a:schemeClr val="bg1"/>
              </a:solidFill>
            </a:endParaRPr>
          </a:p>
        </p:txBody>
      </p:sp>
      <p:sp>
        <p:nvSpPr>
          <p:cNvPr id="20" name="Text 18"/>
          <p:cNvSpPr/>
          <p:nvPr/>
        </p:nvSpPr>
        <p:spPr>
          <a:xfrm>
            <a:off x="365760" y="3337560"/>
            <a:ext cx="2514600" cy="1143000"/>
          </a:xfrm>
          <a:prstGeom prst="rect">
            <a:avLst/>
          </a:prstGeom>
          <a:noFill/>
          <a:ln/>
        </p:spPr>
        <p:txBody>
          <a:bodyPr wrap="square" lIns="0" tIns="0" rIns="0" bIns="0" rtlCol="0" anchor="ctr"/>
          <a:lstStyle/>
          <a:p>
            <a:pPr marL="0" indent="0">
              <a:buNone/>
            </a:pPr>
            <a:r>
              <a:rPr lang="en-US" sz="1050" dirty="0">
                <a:solidFill>
                  <a:schemeClr val="bg1"/>
                </a:solidFill>
                <a:latin typeface="Calibri" pitchFamily="34" charset="0"/>
                <a:ea typeface="Calibri" pitchFamily="34" charset="-122"/>
                <a:cs typeface="Calibri" pitchFamily="34" charset="-120"/>
              </a:rPr>
              <a:t>Farms placed at Voronoi sites, TMX collision templates</a:t>
            </a:r>
            <a:endParaRPr lang="en-US" sz="1050" dirty="0">
              <a:solidFill>
                <a:schemeClr val="bg1"/>
              </a:solidFill>
            </a:endParaRPr>
          </a:p>
        </p:txBody>
      </p:sp>
      <p:sp>
        <p:nvSpPr>
          <p:cNvPr id="21" name="Shape 19"/>
          <p:cNvSpPr/>
          <p:nvPr/>
        </p:nvSpPr>
        <p:spPr>
          <a:xfrm>
            <a:off x="3200400" y="2834640"/>
            <a:ext cx="2743200" cy="1737360"/>
          </a:xfrm>
          <a:prstGeom prst="rect">
            <a:avLst/>
          </a:prstGeom>
          <a:solidFill>
            <a:srgbClr val="1A2744"/>
          </a:solidFill>
          <a:ln w="12700">
            <a:solidFill>
              <a:srgbClr val="4ECDC4"/>
            </a:solidFill>
            <a:prstDash val="solid"/>
          </a:ln>
          <a:effectLst>
            <a:outerShdw blurRad="76200" dist="25400" dir="8100000" algn="bl" rotWithShape="0">
              <a:srgbClr val="000000">
                <a:alpha val="25000"/>
              </a:srgbClr>
            </a:outerShdw>
          </a:effectLst>
        </p:spPr>
        <p:txBody>
          <a:bodyPr/>
          <a:lstStyle/>
          <a:p>
            <a:endParaRPr lang="en-GB"/>
          </a:p>
        </p:txBody>
      </p:sp>
      <p:sp>
        <p:nvSpPr>
          <p:cNvPr id="22" name="Shape 20"/>
          <p:cNvSpPr/>
          <p:nvPr/>
        </p:nvSpPr>
        <p:spPr>
          <a:xfrm>
            <a:off x="3200400" y="2834640"/>
            <a:ext cx="82296" cy="1737360"/>
          </a:xfrm>
          <a:prstGeom prst="rect">
            <a:avLst/>
          </a:prstGeom>
          <a:solidFill>
            <a:srgbClr val="2ECC71"/>
          </a:solidFill>
          <a:ln w="12700">
            <a:solidFill>
              <a:srgbClr val="2ECC71"/>
            </a:solidFill>
            <a:prstDash val="solid"/>
          </a:ln>
        </p:spPr>
        <p:txBody>
          <a:bodyPr/>
          <a:lstStyle/>
          <a:p>
            <a:endParaRPr lang="en-GB"/>
          </a:p>
        </p:txBody>
      </p:sp>
      <p:sp>
        <p:nvSpPr>
          <p:cNvPr id="23" name="Text 21"/>
          <p:cNvSpPr/>
          <p:nvPr/>
        </p:nvSpPr>
        <p:spPr>
          <a:xfrm>
            <a:off x="3337560" y="2907792"/>
            <a:ext cx="2514600" cy="411480"/>
          </a:xfrm>
          <a:prstGeom prst="rect">
            <a:avLst/>
          </a:prstGeom>
          <a:noFill/>
          <a:ln/>
        </p:spPr>
        <p:txBody>
          <a:bodyPr wrap="square" lIns="0" tIns="0" rIns="0" bIns="0" rtlCol="0" anchor="ctr"/>
          <a:lstStyle/>
          <a:p>
            <a:pPr marL="0" indent="0">
              <a:buNone/>
            </a:pPr>
            <a:r>
              <a:rPr lang="en-US" sz="1300" b="1" dirty="0">
                <a:solidFill>
                  <a:srgbClr val="EAEAEA"/>
                </a:solidFill>
                <a:latin typeface="Calibri" pitchFamily="34" charset="0"/>
                <a:ea typeface="Calibri" pitchFamily="34" charset="-122"/>
                <a:cs typeface="Calibri" pitchFamily="34" charset="-120"/>
              </a:rPr>
              <a:t>Player &amp; Camera</a:t>
            </a:r>
            <a:endParaRPr lang="en-US" sz="1300" dirty="0"/>
          </a:p>
        </p:txBody>
      </p:sp>
      <p:sp>
        <p:nvSpPr>
          <p:cNvPr id="24" name="Text 22"/>
          <p:cNvSpPr/>
          <p:nvPr/>
        </p:nvSpPr>
        <p:spPr>
          <a:xfrm>
            <a:off x="3337560" y="3337560"/>
            <a:ext cx="2514600" cy="1143000"/>
          </a:xfrm>
          <a:prstGeom prst="rect">
            <a:avLst/>
          </a:prstGeom>
          <a:noFill/>
          <a:ln/>
        </p:spPr>
        <p:txBody>
          <a:bodyPr wrap="square" lIns="0" tIns="0" rIns="0" bIns="0" rtlCol="0" anchor="ctr"/>
          <a:lstStyle/>
          <a:p>
            <a:pPr marL="0" indent="0">
              <a:buNone/>
            </a:pPr>
            <a:r>
              <a:rPr lang="en-US" sz="1050" dirty="0">
                <a:solidFill>
                  <a:schemeClr val="bg1"/>
                </a:solidFill>
                <a:latin typeface="Calibri" pitchFamily="34" charset="0"/>
                <a:ea typeface="Calibri" pitchFamily="34" charset="-122"/>
                <a:cs typeface="Calibri" pitchFamily="34" charset="-120"/>
              </a:rPr>
              <a:t>State machine (Idle/Walk/Sprint/Inventory), mouse-facing rotation, camera clamp</a:t>
            </a:r>
            <a:endParaRPr lang="en-US" sz="1050" dirty="0">
              <a:solidFill>
                <a:schemeClr val="bg1"/>
              </a:solidFill>
            </a:endParaRPr>
          </a:p>
        </p:txBody>
      </p:sp>
      <p:sp>
        <p:nvSpPr>
          <p:cNvPr id="25" name="Shape 23"/>
          <p:cNvSpPr/>
          <p:nvPr/>
        </p:nvSpPr>
        <p:spPr>
          <a:xfrm>
            <a:off x="6172200" y="2834640"/>
            <a:ext cx="2743200" cy="1737360"/>
          </a:xfrm>
          <a:prstGeom prst="rect">
            <a:avLst/>
          </a:prstGeom>
          <a:solidFill>
            <a:srgbClr val="1A2744"/>
          </a:solidFill>
          <a:ln w="12700">
            <a:solidFill>
              <a:srgbClr val="4ECDC4"/>
            </a:solidFill>
            <a:prstDash val="solid"/>
          </a:ln>
          <a:effectLst>
            <a:outerShdw blurRad="76200" dist="25400" dir="8100000" algn="bl" rotWithShape="0">
              <a:srgbClr val="000000">
                <a:alpha val="25000"/>
              </a:srgbClr>
            </a:outerShdw>
          </a:effectLst>
        </p:spPr>
        <p:txBody>
          <a:bodyPr/>
          <a:lstStyle/>
          <a:p>
            <a:endParaRPr lang="en-GB"/>
          </a:p>
        </p:txBody>
      </p:sp>
      <p:sp>
        <p:nvSpPr>
          <p:cNvPr id="26" name="Shape 24"/>
          <p:cNvSpPr/>
          <p:nvPr/>
        </p:nvSpPr>
        <p:spPr>
          <a:xfrm>
            <a:off x="6172200" y="2834640"/>
            <a:ext cx="82296" cy="1737360"/>
          </a:xfrm>
          <a:prstGeom prst="rect">
            <a:avLst/>
          </a:prstGeom>
          <a:solidFill>
            <a:srgbClr val="2ECC71"/>
          </a:solidFill>
          <a:ln w="12700">
            <a:solidFill>
              <a:srgbClr val="2ECC71"/>
            </a:solidFill>
            <a:prstDash val="solid"/>
          </a:ln>
        </p:spPr>
        <p:txBody>
          <a:bodyPr/>
          <a:lstStyle/>
          <a:p>
            <a:endParaRPr lang="en-GB"/>
          </a:p>
        </p:txBody>
      </p:sp>
      <p:sp>
        <p:nvSpPr>
          <p:cNvPr id="27" name="Text 25"/>
          <p:cNvSpPr/>
          <p:nvPr/>
        </p:nvSpPr>
        <p:spPr>
          <a:xfrm>
            <a:off x="6309360" y="2907792"/>
            <a:ext cx="2514600" cy="411480"/>
          </a:xfrm>
          <a:prstGeom prst="rect">
            <a:avLst/>
          </a:prstGeom>
          <a:noFill/>
          <a:ln/>
        </p:spPr>
        <p:txBody>
          <a:bodyPr wrap="square" lIns="0" tIns="0" rIns="0" bIns="0" rtlCol="0" anchor="ctr"/>
          <a:lstStyle/>
          <a:p>
            <a:pPr marL="0" indent="0">
              <a:buNone/>
            </a:pPr>
            <a:r>
              <a:rPr lang="en-US" sz="1300" b="1" dirty="0">
                <a:solidFill>
                  <a:srgbClr val="EAEAEA"/>
                </a:solidFill>
                <a:latin typeface="Calibri" pitchFamily="34" charset="0"/>
                <a:ea typeface="Calibri" pitchFamily="34" charset="-122"/>
                <a:cs typeface="Calibri" pitchFamily="34" charset="-120"/>
              </a:rPr>
              <a:t>UI Framework</a:t>
            </a:r>
            <a:endParaRPr lang="en-US" sz="1300" dirty="0"/>
          </a:p>
        </p:txBody>
      </p:sp>
      <p:sp>
        <p:nvSpPr>
          <p:cNvPr id="28" name="Text 26"/>
          <p:cNvSpPr/>
          <p:nvPr/>
        </p:nvSpPr>
        <p:spPr>
          <a:xfrm>
            <a:off x="6309360" y="3337560"/>
            <a:ext cx="2514600" cy="1143000"/>
          </a:xfrm>
          <a:prstGeom prst="rect">
            <a:avLst/>
          </a:prstGeom>
          <a:noFill/>
          <a:ln/>
        </p:spPr>
        <p:txBody>
          <a:bodyPr wrap="square" lIns="0" tIns="0" rIns="0" bIns="0" rtlCol="0" anchor="ctr"/>
          <a:lstStyle/>
          <a:p>
            <a:pPr marL="0" indent="0">
              <a:buNone/>
            </a:pPr>
            <a:r>
              <a:rPr lang="en-US" sz="1050" dirty="0">
                <a:solidFill>
                  <a:schemeClr val="bg1"/>
                </a:solidFill>
                <a:latin typeface="Calibri" pitchFamily="34" charset="0"/>
                <a:ea typeface="Calibri" pitchFamily="34" charset="-122"/>
                <a:cs typeface="Calibri" pitchFamily="34" charset="-120"/>
              </a:rPr>
              <a:t>Main, Pause &amp; Settings menus with key rebinding, inventory grid (10 slots), HUD bars</a:t>
            </a:r>
            <a:endParaRPr lang="en-US" sz="1050" dirty="0">
              <a:solidFill>
                <a:schemeClr val="bg1"/>
              </a:solidFill>
            </a:endParaRPr>
          </a:p>
        </p:txBody>
      </p:sp>
      <p:sp>
        <p:nvSpPr>
          <p:cNvPr id="29" name="Text 27"/>
          <p:cNvSpPr/>
          <p:nvPr/>
        </p:nvSpPr>
        <p:spPr>
          <a:xfrm>
            <a:off x="0" y="4754880"/>
            <a:ext cx="9144000" cy="365760"/>
          </a:xfrm>
          <a:prstGeom prst="rect">
            <a:avLst/>
          </a:prstGeom>
          <a:noFill/>
          <a:ln/>
        </p:spPr>
        <p:txBody>
          <a:bodyPr wrap="square" lIns="0" tIns="0" rIns="0" bIns="0" rtlCol="0" anchor="ctr"/>
          <a:lstStyle/>
          <a:p>
            <a:pPr marL="0" indent="0" algn="ctr">
              <a:buNone/>
            </a:pP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D0D1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0A0F1E"/>
          </a:solidFill>
          <a:ln w="12700">
            <a:solidFill>
              <a:srgbClr val="0A0F1E"/>
            </a:solidFill>
            <a:prstDash val="solid"/>
          </a:ln>
        </p:spPr>
        <p:txBody>
          <a:bodyPr/>
          <a:lstStyle/>
          <a:p>
            <a:endParaRPr lang="en-GB"/>
          </a:p>
        </p:txBody>
      </p:sp>
      <p:sp>
        <p:nvSpPr>
          <p:cNvPr id="3" name="Shape 1"/>
          <p:cNvSpPr/>
          <p:nvPr/>
        </p:nvSpPr>
        <p:spPr>
          <a:xfrm>
            <a:off x="0" y="0"/>
            <a:ext cx="9144000" cy="64008"/>
          </a:xfrm>
          <a:prstGeom prst="rect">
            <a:avLst/>
          </a:prstGeom>
          <a:solidFill>
            <a:srgbClr val="E94560"/>
          </a:solidFill>
          <a:ln w="12700">
            <a:solidFill>
              <a:srgbClr val="E94560"/>
            </a:solidFill>
            <a:prstDash val="solid"/>
          </a:ln>
        </p:spPr>
        <p:txBody>
          <a:bodyPr/>
          <a:lstStyle/>
          <a:p>
            <a:endParaRPr lang="en-GB"/>
          </a:p>
        </p:txBody>
      </p:sp>
      <p:sp>
        <p:nvSpPr>
          <p:cNvPr id="4" name="Text 2"/>
          <p:cNvSpPr/>
          <p:nvPr/>
        </p:nvSpPr>
        <p:spPr>
          <a:xfrm>
            <a:off x="274320" y="91440"/>
            <a:ext cx="6400800" cy="548640"/>
          </a:xfrm>
          <a:prstGeom prst="rect">
            <a:avLst/>
          </a:prstGeom>
          <a:noFill/>
          <a:ln/>
        </p:spPr>
        <p:txBody>
          <a:bodyPr wrap="square" lIns="0" tIns="0" rIns="0" bIns="0" rtlCol="0" anchor="ctr"/>
          <a:lstStyle/>
          <a:p>
            <a:pPr marL="0" indent="0">
              <a:buNone/>
            </a:pPr>
            <a:r>
              <a:rPr lang="en-US" sz="2200" b="1" dirty="0">
                <a:solidFill>
                  <a:srgbClr val="EAEAEA"/>
                </a:solidFill>
                <a:latin typeface="Calibri" pitchFamily="34" charset="0"/>
                <a:ea typeface="Calibri" pitchFamily="34" charset="-122"/>
                <a:cs typeface="Calibri" pitchFamily="34" charset="-120"/>
              </a:rPr>
              <a:t>REMAINING MILESTONES</a:t>
            </a:r>
            <a:endParaRPr lang="en-US" sz="2200" dirty="0"/>
          </a:p>
        </p:txBody>
      </p:sp>
      <p:sp>
        <p:nvSpPr>
          <p:cNvPr id="5" name="Text 3"/>
          <p:cNvSpPr/>
          <p:nvPr/>
        </p:nvSpPr>
        <p:spPr>
          <a:xfrm>
            <a:off x="6858000" y="91440"/>
            <a:ext cx="2103120" cy="548640"/>
          </a:xfrm>
          <a:prstGeom prst="rect">
            <a:avLst/>
          </a:prstGeom>
          <a:noFill/>
          <a:ln/>
        </p:spPr>
        <p:txBody>
          <a:bodyPr wrap="square" lIns="0" tIns="0" rIns="0" bIns="0" rtlCol="0" anchor="ctr"/>
          <a:lstStyle/>
          <a:p>
            <a:pPr marL="0" indent="0" algn="r">
              <a:buNone/>
            </a:pPr>
            <a:endParaRPr lang="en-US" sz="1600" dirty="0"/>
          </a:p>
        </p:txBody>
      </p:sp>
      <p:sp>
        <p:nvSpPr>
          <p:cNvPr id="6" name="Shape 4"/>
          <p:cNvSpPr/>
          <p:nvPr/>
        </p:nvSpPr>
        <p:spPr>
          <a:xfrm rot="5400000">
            <a:off x="-1532601" y="2746794"/>
            <a:ext cx="4105657" cy="75112"/>
          </a:xfrm>
          <a:prstGeom prst="rect">
            <a:avLst/>
          </a:prstGeom>
          <a:solidFill>
            <a:schemeClr val="bg2"/>
          </a:solidFill>
          <a:ln w="12700">
            <a:solidFill>
              <a:srgbClr val="2A3A5E"/>
            </a:solidFill>
            <a:prstDash val="solid"/>
          </a:ln>
        </p:spPr>
        <p:txBody>
          <a:bodyPr/>
          <a:lstStyle/>
          <a:p>
            <a:endParaRPr lang="en-GB" dirty="0">
              <a:solidFill>
                <a:schemeClr val="bg1"/>
              </a:solidFill>
            </a:endParaRPr>
          </a:p>
        </p:txBody>
      </p:sp>
      <p:sp>
        <p:nvSpPr>
          <p:cNvPr id="7" name="Shape 5"/>
          <p:cNvSpPr/>
          <p:nvPr/>
        </p:nvSpPr>
        <p:spPr>
          <a:xfrm>
            <a:off x="361188" y="651183"/>
            <a:ext cx="329184" cy="329184"/>
          </a:xfrm>
          <a:prstGeom prst="ellipse">
            <a:avLst/>
          </a:prstGeom>
          <a:solidFill>
            <a:srgbClr val="4ECDC4"/>
          </a:solidFill>
          <a:ln w="12700">
            <a:solidFill>
              <a:srgbClr val="4ECDC4"/>
            </a:solidFill>
            <a:prstDash val="solid"/>
          </a:ln>
        </p:spPr>
        <p:txBody>
          <a:bodyPr/>
          <a:lstStyle/>
          <a:p>
            <a:endParaRPr lang="en-GB"/>
          </a:p>
        </p:txBody>
      </p:sp>
      <p:sp>
        <p:nvSpPr>
          <p:cNvPr id="8" name="Shape 6"/>
          <p:cNvSpPr/>
          <p:nvPr/>
        </p:nvSpPr>
        <p:spPr>
          <a:xfrm>
            <a:off x="1045029" y="667186"/>
            <a:ext cx="1828800" cy="731520"/>
          </a:xfrm>
          <a:prstGeom prst="rect">
            <a:avLst/>
          </a:prstGeom>
          <a:solidFill>
            <a:srgbClr val="1A2744"/>
          </a:solidFill>
          <a:ln w="19050">
            <a:solidFill>
              <a:srgbClr val="4ECDC4"/>
            </a:solidFill>
            <a:prstDash val="solid"/>
          </a:ln>
          <a:effectLst>
            <a:outerShdw blurRad="101600" dist="38100" dir="8100000" algn="bl" rotWithShape="0">
              <a:srgbClr val="000000">
                <a:alpha val="30000"/>
              </a:srgbClr>
            </a:outerShdw>
          </a:effectLst>
        </p:spPr>
        <p:txBody>
          <a:bodyPr/>
          <a:lstStyle/>
          <a:p>
            <a:endParaRPr lang="en-GB"/>
          </a:p>
        </p:txBody>
      </p:sp>
      <p:sp>
        <p:nvSpPr>
          <p:cNvPr id="9" name="Shape 7"/>
          <p:cNvSpPr/>
          <p:nvPr/>
        </p:nvSpPr>
        <p:spPr>
          <a:xfrm>
            <a:off x="1045029" y="667186"/>
            <a:ext cx="1828800" cy="45720"/>
          </a:xfrm>
          <a:prstGeom prst="rect">
            <a:avLst/>
          </a:prstGeom>
          <a:solidFill>
            <a:srgbClr val="4ECDC4"/>
          </a:solidFill>
          <a:ln w="12700">
            <a:solidFill>
              <a:srgbClr val="4ECDC4"/>
            </a:solidFill>
            <a:prstDash val="solid"/>
          </a:ln>
        </p:spPr>
        <p:txBody>
          <a:bodyPr/>
          <a:lstStyle/>
          <a:p>
            <a:endParaRPr lang="en-GB"/>
          </a:p>
        </p:txBody>
      </p:sp>
      <p:sp>
        <p:nvSpPr>
          <p:cNvPr id="10" name="Text 8"/>
          <p:cNvSpPr/>
          <p:nvPr/>
        </p:nvSpPr>
        <p:spPr>
          <a:xfrm>
            <a:off x="1090749" y="776914"/>
            <a:ext cx="1737360" cy="365760"/>
          </a:xfrm>
          <a:prstGeom prst="rect">
            <a:avLst/>
          </a:prstGeom>
          <a:noFill/>
          <a:ln/>
        </p:spPr>
        <p:txBody>
          <a:bodyPr wrap="square" lIns="0" tIns="0" rIns="0" bIns="0" rtlCol="0" anchor="ctr"/>
          <a:lstStyle/>
          <a:p>
            <a:pPr marL="0" indent="0" algn="ctr">
              <a:buNone/>
            </a:pPr>
            <a:r>
              <a:rPr lang="en-US" sz="1400" b="1" dirty="0">
                <a:solidFill>
                  <a:srgbClr val="EAEAEA"/>
                </a:solidFill>
                <a:latin typeface="Calibri" pitchFamily="34" charset="0"/>
                <a:ea typeface="Calibri" pitchFamily="34" charset="-122"/>
                <a:cs typeface="Calibri" pitchFamily="34" charset="-120"/>
              </a:rPr>
              <a:t>Inventory</a:t>
            </a:r>
            <a:endParaRPr lang="en-US" sz="1400" dirty="0"/>
          </a:p>
          <a:p>
            <a:pPr marL="0" indent="0" algn="ctr">
              <a:buNone/>
            </a:pPr>
            <a:r>
              <a:rPr lang="en-US" sz="1400" b="1" dirty="0">
                <a:solidFill>
                  <a:srgbClr val="EAEAEA"/>
                </a:solidFill>
                <a:latin typeface="Calibri" pitchFamily="34" charset="0"/>
                <a:ea typeface="Calibri" pitchFamily="34" charset="-122"/>
                <a:cs typeface="Calibri" pitchFamily="34" charset="-120"/>
              </a:rPr>
              <a:t>Items &amp; Use</a:t>
            </a:r>
            <a:endParaRPr lang="en-US" sz="1400" dirty="0"/>
          </a:p>
        </p:txBody>
      </p:sp>
      <p:sp>
        <p:nvSpPr>
          <p:cNvPr id="11" name="Text 9"/>
          <p:cNvSpPr/>
          <p:nvPr/>
        </p:nvSpPr>
        <p:spPr>
          <a:xfrm>
            <a:off x="1136469" y="1156390"/>
            <a:ext cx="1737360" cy="205740"/>
          </a:xfrm>
          <a:prstGeom prst="rect">
            <a:avLst/>
          </a:prstGeom>
          <a:noFill/>
          <a:ln/>
        </p:spPr>
        <p:txBody>
          <a:bodyPr wrap="square" lIns="0" tIns="0" rIns="0" bIns="0" rtlCol="0" anchor="ctr"/>
          <a:lstStyle/>
          <a:p>
            <a:pPr marL="0" indent="0" algn="ctr">
              <a:buNone/>
            </a:pPr>
            <a:r>
              <a:rPr lang="en-US" sz="1000" i="1" dirty="0">
                <a:solidFill>
                  <a:srgbClr val="4ECDC4"/>
                </a:solidFill>
                <a:latin typeface="Calibri" pitchFamily="34" charset="0"/>
                <a:ea typeface="Calibri" pitchFamily="34" charset="-122"/>
                <a:cs typeface="Calibri" pitchFamily="34" charset="-120"/>
              </a:rPr>
              <a:t>Week 10 (Current week)</a:t>
            </a:r>
            <a:endParaRPr lang="en-US" sz="1000" dirty="0"/>
          </a:p>
        </p:txBody>
      </p:sp>
      <p:sp>
        <p:nvSpPr>
          <p:cNvPr id="12" name="Shape 10"/>
          <p:cNvSpPr/>
          <p:nvPr/>
        </p:nvSpPr>
        <p:spPr>
          <a:xfrm>
            <a:off x="365760" y="1680210"/>
            <a:ext cx="329184" cy="329184"/>
          </a:xfrm>
          <a:prstGeom prst="ellipse">
            <a:avLst/>
          </a:prstGeom>
          <a:solidFill>
            <a:srgbClr val="9B59B6"/>
          </a:solidFill>
          <a:ln w="12700">
            <a:solidFill>
              <a:srgbClr val="9B59B6"/>
            </a:solidFill>
            <a:prstDash val="solid"/>
          </a:ln>
        </p:spPr>
        <p:txBody>
          <a:bodyPr/>
          <a:lstStyle/>
          <a:p>
            <a:endParaRPr lang="en-GB"/>
          </a:p>
        </p:txBody>
      </p:sp>
      <p:sp>
        <p:nvSpPr>
          <p:cNvPr id="13" name="Shape 11"/>
          <p:cNvSpPr/>
          <p:nvPr/>
        </p:nvSpPr>
        <p:spPr>
          <a:xfrm>
            <a:off x="1051560" y="1599874"/>
            <a:ext cx="1828800" cy="731520"/>
          </a:xfrm>
          <a:prstGeom prst="rect">
            <a:avLst/>
          </a:prstGeom>
          <a:solidFill>
            <a:srgbClr val="1A2744"/>
          </a:solidFill>
          <a:ln w="19050">
            <a:solidFill>
              <a:srgbClr val="9B59B6"/>
            </a:solidFill>
            <a:prstDash val="solid"/>
          </a:ln>
          <a:effectLst>
            <a:outerShdw blurRad="101600" dist="38100" dir="8100000" algn="bl" rotWithShape="0">
              <a:srgbClr val="000000">
                <a:alpha val="30000"/>
              </a:srgbClr>
            </a:outerShdw>
          </a:effectLst>
        </p:spPr>
        <p:txBody>
          <a:bodyPr/>
          <a:lstStyle/>
          <a:p>
            <a:endParaRPr lang="en-GB"/>
          </a:p>
        </p:txBody>
      </p:sp>
      <p:sp>
        <p:nvSpPr>
          <p:cNvPr id="14" name="Shape 12"/>
          <p:cNvSpPr/>
          <p:nvPr/>
        </p:nvSpPr>
        <p:spPr>
          <a:xfrm>
            <a:off x="1051560" y="1599874"/>
            <a:ext cx="1828800" cy="45720"/>
          </a:xfrm>
          <a:prstGeom prst="rect">
            <a:avLst/>
          </a:prstGeom>
          <a:solidFill>
            <a:srgbClr val="9B59B6"/>
          </a:solidFill>
          <a:ln w="12700">
            <a:solidFill>
              <a:srgbClr val="9B59B6"/>
            </a:solidFill>
            <a:prstDash val="solid"/>
          </a:ln>
        </p:spPr>
        <p:txBody>
          <a:bodyPr/>
          <a:lstStyle/>
          <a:p>
            <a:endParaRPr lang="en-GB"/>
          </a:p>
        </p:txBody>
      </p:sp>
      <p:sp>
        <p:nvSpPr>
          <p:cNvPr id="15" name="Text 13"/>
          <p:cNvSpPr/>
          <p:nvPr/>
        </p:nvSpPr>
        <p:spPr>
          <a:xfrm>
            <a:off x="1097280" y="1709602"/>
            <a:ext cx="1760220" cy="365760"/>
          </a:xfrm>
          <a:prstGeom prst="rect">
            <a:avLst/>
          </a:prstGeom>
          <a:noFill/>
          <a:ln/>
        </p:spPr>
        <p:txBody>
          <a:bodyPr wrap="square" lIns="0" tIns="0" rIns="0" bIns="0" rtlCol="0" anchor="ctr"/>
          <a:lstStyle/>
          <a:p>
            <a:pPr marL="0" indent="0" algn="ctr">
              <a:buNone/>
            </a:pPr>
            <a:r>
              <a:rPr lang="en-US" sz="1400" b="1" dirty="0">
                <a:solidFill>
                  <a:srgbClr val="EAEAEA"/>
                </a:solidFill>
                <a:latin typeface="Calibri" pitchFamily="34" charset="0"/>
                <a:ea typeface="Calibri" pitchFamily="34" charset="-122"/>
                <a:cs typeface="Calibri" pitchFamily="34" charset="-120"/>
              </a:rPr>
              <a:t>AI &amp; Enemies</a:t>
            </a:r>
            <a:endParaRPr lang="en-US" sz="1400" dirty="0"/>
          </a:p>
        </p:txBody>
      </p:sp>
      <p:sp>
        <p:nvSpPr>
          <p:cNvPr id="16" name="Text 14"/>
          <p:cNvSpPr/>
          <p:nvPr/>
        </p:nvSpPr>
        <p:spPr>
          <a:xfrm>
            <a:off x="1120140" y="2075362"/>
            <a:ext cx="1737360" cy="154142"/>
          </a:xfrm>
          <a:prstGeom prst="rect">
            <a:avLst/>
          </a:prstGeom>
          <a:noFill/>
          <a:ln/>
        </p:spPr>
        <p:txBody>
          <a:bodyPr wrap="square" lIns="0" tIns="0" rIns="0" bIns="0" rtlCol="0" anchor="ctr"/>
          <a:lstStyle/>
          <a:p>
            <a:pPr marL="0" indent="0" algn="ctr">
              <a:buNone/>
            </a:pPr>
            <a:r>
              <a:rPr lang="en-US" sz="1000" i="1" dirty="0">
                <a:solidFill>
                  <a:srgbClr val="9B59B6"/>
                </a:solidFill>
                <a:latin typeface="Calibri" pitchFamily="34" charset="0"/>
                <a:ea typeface="Calibri" pitchFamily="34" charset="-122"/>
                <a:cs typeface="Calibri" pitchFamily="34" charset="-120"/>
              </a:rPr>
              <a:t>Easter Break</a:t>
            </a:r>
            <a:endParaRPr lang="en-US" sz="1000" dirty="0"/>
          </a:p>
        </p:txBody>
      </p:sp>
      <p:sp>
        <p:nvSpPr>
          <p:cNvPr id="17" name="Shape 15"/>
          <p:cNvSpPr/>
          <p:nvPr/>
        </p:nvSpPr>
        <p:spPr>
          <a:xfrm>
            <a:off x="365107" y="2784350"/>
            <a:ext cx="329184" cy="329184"/>
          </a:xfrm>
          <a:prstGeom prst="ellipse">
            <a:avLst/>
          </a:prstGeom>
          <a:solidFill>
            <a:srgbClr val="E94560"/>
          </a:solidFill>
          <a:ln w="12700">
            <a:solidFill>
              <a:srgbClr val="E94560"/>
            </a:solidFill>
            <a:prstDash val="solid"/>
          </a:ln>
        </p:spPr>
        <p:txBody>
          <a:bodyPr/>
          <a:lstStyle/>
          <a:p>
            <a:endParaRPr lang="en-GB"/>
          </a:p>
        </p:txBody>
      </p:sp>
      <p:sp>
        <p:nvSpPr>
          <p:cNvPr id="18" name="Shape 16"/>
          <p:cNvSpPr/>
          <p:nvPr/>
        </p:nvSpPr>
        <p:spPr>
          <a:xfrm>
            <a:off x="1051560" y="2578282"/>
            <a:ext cx="1828800" cy="731520"/>
          </a:xfrm>
          <a:prstGeom prst="rect">
            <a:avLst/>
          </a:prstGeom>
          <a:solidFill>
            <a:srgbClr val="1A2744"/>
          </a:solidFill>
          <a:ln w="19050">
            <a:solidFill>
              <a:srgbClr val="E94560"/>
            </a:solidFill>
            <a:prstDash val="solid"/>
          </a:ln>
          <a:effectLst>
            <a:outerShdw blurRad="101600" dist="38100" dir="8100000" algn="bl" rotWithShape="0">
              <a:srgbClr val="000000">
                <a:alpha val="30000"/>
              </a:srgbClr>
            </a:outerShdw>
          </a:effectLst>
        </p:spPr>
        <p:txBody>
          <a:bodyPr/>
          <a:lstStyle/>
          <a:p>
            <a:endParaRPr lang="en-GB"/>
          </a:p>
        </p:txBody>
      </p:sp>
      <p:sp>
        <p:nvSpPr>
          <p:cNvPr id="19" name="Shape 17"/>
          <p:cNvSpPr/>
          <p:nvPr/>
        </p:nvSpPr>
        <p:spPr>
          <a:xfrm>
            <a:off x="1051560" y="2578282"/>
            <a:ext cx="1828800" cy="45720"/>
          </a:xfrm>
          <a:prstGeom prst="rect">
            <a:avLst/>
          </a:prstGeom>
          <a:solidFill>
            <a:srgbClr val="E94560"/>
          </a:solidFill>
          <a:ln w="12700">
            <a:solidFill>
              <a:srgbClr val="E94560"/>
            </a:solidFill>
            <a:prstDash val="solid"/>
          </a:ln>
        </p:spPr>
        <p:txBody>
          <a:bodyPr/>
          <a:lstStyle/>
          <a:p>
            <a:endParaRPr lang="en-GB"/>
          </a:p>
        </p:txBody>
      </p:sp>
      <p:sp>
        <p:nvSpPr>
          <p:cNvPr id="20" name="Text 18"/>
          <p:cNvSpPr/>
          <p:nvPr/>
        </p:nvSpPr>
        <p:spPr>
          <a:xfrm>
            <a:off x="1097280" y="2688010"/>
            <a:ext cx="1737360" cy="365760"/>
          </a:xfrm>
          <a:prstGeom prst="rect">
            <a:avLst/>
          </a:prstGeom>
          <a:noFill/>
          <a:ln/>
        </p:spPr>
        <p:txBody>
          <a:bodyPr wrap="square" lIns="0" tIns="0" rIns="0" bIns="0" rtlCol="0" anchor="ctr"/>
          <a:lstStyle/>
          <a:p>
            <a:pPr marL="0" indent="0" algn="ctr">
              <a:buNone/>
            </a:pPr>
            <a:r>
              <a:rPr lang="en-US" sz="1400" b="1" dirty="0">
                <a:solidFill>
                  <a:srgbClr val="EAEAEA"/>
                </a:solidFill>
                <a:latin typeface="Calibri" pitchFamily="34" charset="0"/>
                <a:ea typeface="Calibri" pitchFamily="34" charset="-122"/>
                <a:cs typeface="Calibri" pitchFamily="34" charset="-120"/>
              </a:rPr>
              <a:t>Weapons</a:t>
            </a:r>
            <a:endParaRPr lang="en-US" sz="1400" dirty="0"/>
          </a:p>
          <a:p>
            <a:pPr marL="0" indent="0" algn="ctr">
              <a:buNone/>
            </a:pPr>
            <a:r>
              <a:rPr lang="en-US" sz="1400" b="1" dirty="0">
                <a:solidFill>
                  <a:srgbClr val="EAEAEA"/>
                </a:solidFill>
                <a:latin typeface="Calibri" pitchFamily="34" charset="0"/>
                <a:ea typeface="Calibri" pitchFamily="34" charset="-122"/>
                <a:cs typeface="Calibri" pitchFamily="34" charset="-120"/>
              </a:rPr>
              <a:t>System</a:t>
            </a:r>
            <a:endParaRPr lang="en-US" sz="1400" dirty="0"/>
          </a:p>
        </p:txBody>
      </p:sp>
      <p:sp>
        <p:nvSpPr>
          <p:cNvPr id="21" name="Text 19"/>
          <p:cNvSpPr/>
          <p:nvPr/>
        </p:nvSpPr>
        <p:spPr>
          <a:xfrm>
            <a:off x="1097280" y="3089040"/>
            <a:ext cx="1737360" cy="205740"/>
          </a:xfrm>
          <a:prstGeom prst="rect">
            <a:avLst/>
          </a:prstGeom>
          <a:noFill/>
          <a:ln/>
        </p:spPr>
        <p:txBody>
          <a:bodyPr wrap="square" lIns="0" tIns="0" rIns="0" bIns="0" rtlCol="0" anchor="ctr"/>
          <a:lstStyle/>
          <a:p>
            <a:pPr marL="0" indent="0" algn="ctr">
              <a:buNone/>
            </a:pPr>
            <a:r>
              <a:rPr lang="en-US" sz="1000" i="1" dirty="0">
                <a:solidFill>
                  <a:srgbClr val="E94560"/>
                </a:solidFill>
                <a:latin typeface="Calibri" pitchFamily="34" charset="0"/>
                <a:ea typeface="Calibri" pitchFamily="34" charset="-122"/>
                <a:cs typeface="Calibri" pitchFamily="34" charset="-120"/>
              </a:rPr>
              <a:t>Easter Break</a:t>
            </a:r>
          </a:p>
        </p:txBody>
      </p:sp>
      <p:sp>
        <p:nvSpPr>
          <p:cNvPr id="22" name="Shape 20"/>
          <p:cNvSpPr/>
          <p:nvPr/>
        </p:nvSpPr>
        <p:spPr>
          <a:xfrm>
            <a:off x="355635" y="3826111"/>
            <a:ext cx="329184" cy="329184"/>
          </a:xfrm>
          <a:prstGeom prst="ellipse">
            <a:avLst/>
          </a:prstGeom>
          <a:solidFill>
            <a:srgbClr val="D4AC0D"/>
          </a:solidFill>
          <a:ln w="12700">
            <a:solidFill>
              <a:srgbClr val="D4AC0D"/>
            </a:solidFill>
            <a:prstDash val="solid"/>
          </a:ln>
        </p:spPr>
        <p:txBody>
          <a:bodyPr/>
          <a:lstStyle/>
          <a:p>
            <a:endParaRPr lang="en-GB"/>
          </a:p>
        </p:txBody>
      </p:sp>
      <p:sp>
        <p:nvSpPr>
          <p:cNvPr id="23" name="Shape 21"/>
          <p:cNvSpPr/>
          <p:nvPr/>
        </p:nvSpPr>
        <p:spPr>
          <a:xfrm>
            <a:off x="1051560" y="3624943"/>
            <a:ext cx="1828800" cy="731520"/>
          </a:xfrm>
          <a:prstGeom prst="rect">
            <a:avLst/>
          </a:prstGeom>
          <a:solidFill>
            <a:srgbClr val="1A2744"/>
          </a:solidFill>
          <a:ln w="19050">
            <a:solidFill>
              <a:srgbClr val="D4AC0D"/>
            </a:solidFill>
            <a:prstDash val="solid"/>
          </a:ln>
          <a:effectLst>
            <a:outerShdw blurRad="101600" dist="38100" dir="8100000" algn="bl" rotWithShape="0">
              <a:srgbClr val="000000">
                <a:alpha val="30000"/>
              </a:srgbClr>
            </a:outerShdw>
          </a:effectLst>
        </p:spPr>
        <p:txBody>
          <a:bodyPr/>
          <a:lstStyle/>
          <a:p>
            <a:endParaRPr lang="en-GB"/>
          </a:p>
        </p:txBody>
      </p:sp>
      <p:sp>
        <p:nvSpPr>
          <p:cNvPr id="24" name="Shape 22"/>
          <p:cNvSpPr/>
          <p:nvPr/>
        </p:nvSpPr>
        <p:spPr>
          <a:xfrm>
            <a:off x="1051560" y="3624943"/>
            <a:ext cx="1828800" cy="45720"/>
          </a:xfrm>
          <a:prstGeom prst="rect">
            <a:avLst/>
          </a:prstGeom>
          <a:solidFill>
            <a:srgbClr val="D4AC0D"/>
          </a:solidFill>
          <a:ln w="12700">
            <a:solidFill>
              <a:srgbClr val="D4AC0D"/>
            </a:solidFill>
            <a:prstDash val="solid"/>
          </a:ln>
        </p:spPr>
        <p:txBody>
          <a:bodyPr/>
          <a:lstStyle/>
          <a:p>
            <a:endParaRPr lang="en-GB"/>
          </a:p>
        </p:txBody>
      </p:sp>
      <p:sp>
        <p:nvSpPr>
          <p:cNvPr id="25" name="Text 23"/>
          <p:cNvSpPr/>
          <p:nvPr/>
        </p:nvSpPr>
        <p:spPr>
          <a:xfrm>
            <a:off x="1097280" y="3734671"/>
            <a:ext cx="1737360" cy="365760"/>
          </a:xfrm>
          <a:prstGeom prst="rect">
            <a:avLst/>
          </a:prstGeom>
          <a:noFill/>
          <a:ln/>
        </p:spPr>
        <p:txBody>
          <a:bodyPr wrap="square" lIns="0" tIns="0" rIns="0" bIns="0" rtlCol="0" anchor="ctr"/>
          <a:lstStyle/>
          <a:p>
            <a:pPr marL="0" indent="0" algn="ctr">
              <a:buNone/>
            </a:pPr>
            <a:r>
              <a:rPr lang="en-US" sz="1400" b="1" dirty="0">
                <a:solidFill>
                  <a:srgbClr val="EAEAEA"/>
                </a:solidFill>
                <a:latin typeface="Calibri" pitchFamily="34" charset="0"/>
                <a:ea typeface="Calibri" pitchFamily="34" charset="-122"/>
                <a:cs typeface="Calibri" pitchFamily="34" charset="-120"/>
              </a:rPr>
              <a:t>POI &amp; World</a:t>
            </a:r>
            <a:endParaRPr lang="en-US" sz="1400" dirty="0"/>
          </a:p>
          <a:p>
            <a:pPr marL="0" indent="0" algn="ctr">
              <a:buNone/>
            </a:pPr>
            <a:r>
              <a:rPr lang="en-US" sz="1400" b="1" dirty="0">
                <a:solidFill>
                  <a:srgbClr val="EAEAEA"/>
                </a:solidFill>
                <a:latin typeface="Calibri" pitchFamily="34" charset="0"/>
                <a:ea typeface="Calibri" pitchFamily="34" charset="-122"/>
                <a:cs typeface="Calibri" pitchFamily="34" charset="-120"/>
              </a:rPr>
              <a:t>Finalization</a:t>
            </a:r>
            <a:endParaRPr lang="en-US" sz="1400" dirty="0"/>
          </a:p>
        </p:txBody>
      </p:sp>
      <p:sp>
        <p:nvSpPr>
          <p:cNvPr id="26" name="Text 24"/>
          <p:cNvSpPr/>
          <p:nvPr/>
        </p:nvSpPr>
        <p:spPr>
          <a:xfrm>
            <a:off x="1051560" y="4125577"/>
            <a:ext cx="1737360" cy="205740"/>
          </a:xfrm>
          <a:prstGeom prst="rect">
            <a:avLst/>
          </a:prstGeom>
          <a:noFill/>
          <a:ln/>
        </p:spPr>
        <p:txBody>
          <a:bodyPr wrap="square" lIns="0" tIns="0" rIns="0" bIns="0" rtlCol="0" anchor="ctr"/>
          <a:lstStyle/>
          <a:p>
            <a:pPr marL="0" indent="0" algn="ctr">
              <a:buNone/>
            </a:pPr>
            <a:r>
              <a:rPr lang="en-US" sz="1000" i="1" dirty="0">
                <a:solidFill>
                  <a:srgbClr val="D4AC0D"/>
                </a:solidFill>
                <a:latin typeface="Calibri" pitchFamily="34" charset="0"/>
                <a:ea typeface="Calibri" pitchFamily="34" charset="-122"/>
                <a:cs typeface="Calibri" pitchFamily="34" charset="-120"/>
              </a:rPr>
              <a:t>Week 11</a:t>
            </a:r>
            <a:endParaRPr lang="en-US" sz="1000" dirty="0"/>
          </a:p>
        </p:txBody>
      </p:sp>
      <p:sp>
        <p:nvSpPr>
          <p:cNvPr id="27" name="Text 25"/>
          <p:cNvSpPr/>
          <p:nvPr/>
        </p:nvSpPr>
        <p:spPr>
          <a:xfrm>
            <a:off x="365760" y="4450843"/>
            <a:ext cx="8595360" cy="457200"/>
          </a:xfrm>
          <a:prstGeom prst="rect">
            <a:avLst/>
          </a:prstGeom>
          <a:noFill/>
          <a:ln/>
        </p:spPr>
        <p:txBody>
          <a:bodyPr wrap="square" lIns="0" tIns="0" rIns="0" bIns="0" rtlCol="0" anchor="ctr"/>
          <a:lstStyle/>
          <a:p>
            <a:pPr marL="0" indent="0" algn="ctr">
              <a:buNone/>
            </a:pPr>
            <a:r>
              <a:rPr lang="en-US" sz="1400" i="1" dirty="0">
                <a:solidFill>
                  <a:schemeClr val="bg1"/>
                </a:solidFill>
                <a:latin typeface="Calibri" pitchFamily="34" charset="0"/>
                <a:ea typeface="Calibri" pitchFamily="34" charset="-122"/>
                <a:cs typeface="Calibri" pitchFamily="34" charset="-120"/>
              </a:rPr>
              <a:t>Priority ordered: Inventory  -&gt;  AI  →  Weapons  -&gt;  World Finalization</a:t>
            </a:r>
            <a:endParaRPr lang="en-US" sz="1400" dirty="0">
              <a:solidFill>
                <a:schemeClr val="bg1"/>
              </a:solidFill>
            </a:endParaRPr>
          </a:p>
        </p:txBody>
      </p:sp>
      <p:sp>
        <p:nvSpPr>
          <p:cNvPr id="29" name="Text 27"/>
          <p:cNvSpPr/>
          <p:nvPr/>
        </p:nvSpPr>
        <p:spPr>
          <a:xfrm>
            <a:off x="2286000" y="4617720"/>
            <a:ext cx="4572000" cy="411480"/>
          </a:xfrm>
          <a:prstGeom prst="rect">
            <a:avLst/>
          </a:prstGeom>
          <a:noFill/>
          <a:ln/>
        </p:spPr>
        <p:txBody>
          <a:bodyPr wrap="square" lIns="0" tIns="0" rIns="0" bIns="0" rtlCol="0" anchor="ctr"/>
          <a:lstStyle/>
          <a:p>
            <a:pPr marL="0" indent="0" algn="ctr">
              <a:buNone/>
            </a:pPr>
            <a:endParaRPr lang="en-US" sz="1200" dirty="0"/>
          </a:p>
        </p:txBody>
      </p:sp>
      <p:sp>
        <p:nvSpPr>
          <p:cNvPr id="30" name="Shape 6">
            <a:extLst>
              <a:ext uri="{FF2B5EF4-FFF2-40B4-BE49-F238E27FC236}">
                <a16:creationId xmlns:a16="http://schemas.microsoft.com/office/drawing/2014/main" id="{3AEC3A8C-DF24-C473-6FAA-51CBCA69778C}"/>
              </a:ext>
            </a:extLst>
          </p:cNvPr>
          <p:cNvSpPr/>
          <p:nvPr/>
        </p:nvSpPr>
        <p:spPr>
          <a:xfrm>
            <a:off x="2980508" y="667186"/>
            <a:ext cx="5908765" cy="731520"/>
          </a:xfrm>
          <a:prstGeom prst="rect">
            <a:avLst/>
          </a:prstGeom>
          <a:solidFill>
            <a:srgbClr val="1A2744"/>
          </a:solidFill>
          <a:ln w="19050">
            <a:solidFill>
              <a:srgbClr val="4ECDC4"/>
            </a:solidFill>
            <a:prstDash val="solid"/>
          </a:ln>
          <a:effectLst>
            <a:outerShdw blurRad="101600" dist="38100" dir="8100000" algn="bl" rotWithShape="0">
              <a:srgbClr val="000000">
                <a:alpha val="30000"/>
              </a:srgbClr>
            </a:outerShdw>
          </a:effectLst>
        </p:spPr>
        <p:txBody>
          <a:bodyPr/>
          <a:lstStyle/>
          <a:p>
            <a:endParaRPr lang="en-GB" dirty="0"/>
          </a:p>
        </p:txBody>
      </p:sp>
      <p:sp>
        <p:nvSpPr>
          <p:cNvPr id="31" name="Shape 7">
            <a:extLst>
              <a:ext uri="{FF2B5EF4-FFF2-40B4-BE49-F238E27FC236}">
                <a16:creationId xmlns:a16="http://schemas.microsoft.com/office/drawing/2014/main" id="{09DE9DB5-7C38-D4C2-9DED-F4C5E37CD1E2}"/>
              </a:ext>
            </a:extLst>
          </p:cNvPr>
          <p:cNvSpPr/>
          <p:nvPr/>
        </p:nvSpPr>
        <p:spPr>
          <a:xfrm>
            <a:off x="2980508" y="667186"/>
            <a:ext cx="5908765" cy="45720"/>
          </a:xfrm>
          <a:prstGeom prst="rect">
            <a:avLst/>
          </a:prstGeom>
          <a:solidFill>
            <a:srgbClr val="4ECDC4"/>
          </a:solidFill>
          <a:ln w="12700">
            <a:solidFill>
              <a:srgbClr val="4ECDC4"/>
            </a:solidFill>
            <a:prstDash val="solid"/>
          </a:ln>
        </p:spPr>
        <p:txBody>
          <a:bodyPr/>
          <a:lstStyle/>
          <a:p>
            <a:endParaRPr lang="en-GB"/>
          </a:p>
        </p:txBody>
      </p:sp>
      <p:sp>
        <p:nvSpPr>
          <p:cNvPr id="32" name="Text 8">
            <a:extLst>
              <a:ext uri="{FF2B5EF4-FFF2-40B4-BE49-F238E27FC236}">
                <a16:creationId xmlns:a16="http://schemas.microsoft.com/office/drawing/2014/main" id="{1878848B-5B43-8E21-1E1A-FD3421442A44}"/>
              </a:ext>
            </a:extLst>
          </p:cNvPr>
          <p:cNvSpPr/>
          <p:nvPr/>
        </p:nvSpPr>
        <p:spPr>
          <a:xfrm>
            <a:off x="3128226" y="731520"/>
            <a:ext cx="5613327" cy="630610"/>
          </a:xfrm>
          <a:prstGeom prst="rect">
            <a:avLst/>
          </a:prstGeom>
          <a:noFill/>
          <a:ln/>
        </p:spPr>
        <p:txBody>
          <a:bodyPr wrap="square" lIns="0" tIns="0" rIns="0" bIns="0" rtlCol="0" anchor="ctr"/>
          <a:lstStyle/>
          <a:p>
            <a:pPr marL="0" indent="0" algn="ctr">
              <a:buNone/>
            </a:pPr>
            <a:r>
              <a:rPr lang="en-US" sz="1200" b="1" dirty="0">
                <a:solidFill>
                  <a:srgbClr val="EAEAEA"/>
                </a:solidFill>
                <a:latin typeface="Calibri" pitchFamily="34" charset="0"/>
                <a:ea typeface="Calibri" pitchFamily="34" charset="-122"/>
                <a:cs typeface="Calibri" pitchFamily="34" charset="-120"/>
              </a:rPr>
              <a:t>Making “Inventory” items such as Food, Water, Health Packs,</a:t>
            </a:r>
          </a:p>
        </p:txBody>
      </p:sp>
      <p:sp>
        <p:nvSpPr>
          <p:cNvPr id="33" name="Text 9">
            <a:extLst>
              <a:ext uri="{FF2B5EF4-FFF2-40B4-BE49-F238E27FC236}">
                <a16:creationId xmlns:a16="http://schemas.microsoft.com/office/drawing/2014/main" id="{D0627EF0-D99B-6E09-CD30-0DE61EF3F935}"/>
              </a:ext>
            </a:extLst>
          </p:cNvPr>
          <p:cNvSpPr/>
          <p:nvPr/>
        </p:nvSpPr>
        <p:spPr>
          <a:xfrm>
            <a:off x="3071948" y="1156390"/>
            <a:ext cx="5613327" cy="205740"/>
          </a:xfrm>
          <a:prstGeom prst="rect">
            <a:avLst/>
          </a:prstGeom>
          <a:noFill/>
          <a:ln/>
        </p:spPr>
        <p:txBody>
          <a:bodyPr wrap="square" lIns="0" tIns="0" rIns="0" bIns="0" rtlCol="0" anchor="ctr"/>
          <a:lstStyle/>
          <a:p>
            <a:pPr marL="0" indent="0" algn="ctr">
              <a:buNone/>
            </a:pPr>
            <a:endParaRPr lang="en-US" sz="1000" dirty="0"/>
          </a:p>
        </p:txBody>
      </p:sp>
      <p:sp>
        <p:nvSpPr>
          <p:cNvPr id="34" name="Shape 11">
            <a:extLst>
              <a:ext uri="{FF2B5EF4-FFF2-40B4-BE49-F238E27FC236}">
                <a16:creationId xmlns:a16="http://schemas.microsoft.com/office/drawing/2014/main" id="{BC6838BF-4B4D-784B-D740-C3F063668984}"/>
              </a:ext>
            </a:extLst>
          </p:cNvPr>
          <p:cNvSpPr/>
          <p:nvPr/>
        </p:nvSpPr>
        <p:spPr>
          <a:xfrm>
            <a:off x="2980508" y="1599874"/>
            <a:ext cx="5908764" cy="731520"/>
          </a:xfrm>
          <a:prstGeom prst="rect">
            <a:avLst/>
          </a:prstGeom>
          <a:solidFill>
            <a:srgbClr val="1A2744"/>
          </a:solidFill>
          <a:ln w="19050">
            <a:solidFill>
              <a:srgbClr val="9B59B6"/>
            </a:solidFill>
            <a:prstDash val="solid"/>
          </a:ln>
          <a:effectLst>
            <a:outerShdw blurRad="101600" dist="38100" dir="8100000" algn="bl" rotWithShape="0">
              <a:srgbClr val="000000">
                <a:alpha val="30000"/>
              </a:srgbClr>
            </a:outerShdw>
          </a:effectLst>
        </p:spPr>
        <p:txBody>
          <a:bodyPr/>
          <a:lstStyle/>
          <a:p>
            <a:endParaRPr lang="en-GB"/>
          </a:p>
        </p:txBody>
      </p:sp>
      <p:sp>
        <p:nvSpPr>
          <p:cNvPr id="35" name="Shape 12">
            <a:extLst>
              <a:ext uri="{FF2B5EF4-FFF2-40B4-BE49-F238E27FC236}">
                <a16:creationId xmlns:a16="http://schemas.microsoft.com/office/drawing/2014/main" id="{C181EA46-F8BC-229A-0EC1-6910D47AE0DC}"/>
              </a:ext>
            </a:extLst>
          </p:cNvPr>
          <p:cNvSpPr/>
          <p:nvPr/>
        </p:nvSpPr>
        <p:spPr>
          <a:xfrm>
            <a:off x="2980508" y="1599874"/>
            <a:ext cx="5908764" cy="45720"/>
          </a:xfrm>
          <a:prstGeom prst="rect">
            <a:avLst/>
          </a:prstGeom>
          <a:solidFill>
            <a:srgbClr val="9B59B6"/>
          </a:solidFill>
          <a:ln w="12700">
            <a:solidFill>
              <a:srgbClr val="9B59B6"/>
            </a:solidFill>
            <a:prstDash val="solid"/>
          </a:ln>
        </p:spPr>
        <p:txBody>
          <a:bodyPr/>
          <a:lstStyle/>
          <a:p>
            <a:endParaRPr lang="en-GB"/>
          </a:p>
        </p:txBody>
      </p:sp>
      <p:sp>
        <p:nvSpPr>
          <p:cNvPr id="36" name="Text 13">
            <a:extLst>
              <a:ext uri="{FF2B5EF4-FFF2-40B4-BE49-F238E27FC236}">
                <a16:creationId xmlns:a16="http://schemas.microsoft.com/office/drawing/2014/main" id="{0575B0A5-4405-F654-C1C6-025A5DA13903}"/>
              </a:ext>
            </a:extLst>
          </p:cNvPr>
          <p:cNvSpPr/>
          <p:nvPr/>
        </p:nvSpPr>
        <p:spPr>
          <a:xfrm>
            <a:off x="3026227" y="1657678"/>
            <a:ext cx="5687185" cy="673716"/>
          </a:xfrm>
          <a:prstGeom prst="rect">
            <a:avLst/>
          </a:prstGeom>
          <a:noFill/>
          <a:ln/>
        </p:spPr>
        <p:txBody>
          <a:bodyPr wrap="square" lIns="0" tIns="0" rIns="0" bIns="0" rtlCol="0" anchor="ctr"/>
          <a:lstStyle/>
          <a:p>
            <a:pPr marL="0" indent="0" algn="ctr">
              <a:buNone/>
            </a:pPr>
            <a:r>
              <a:rPr lang="en-US" sz="1200" b="1" dirty="0">
                <a:solidFill>
                  <a:srgbClr val="EAEAEA"/>
                </a:solidFill>
                <a:latin typeface="Calibri" pitchFamily="34" charset="0"/>
                <a:ea typeface="Calibri" pitchFamily="34" charset="-122"/>
                <a:cs typeface="Calibri" pitchFamily="34" charset="-120"/>
              </a:rPr>
              <a:t>Using the Voronoi Spatial Sites for enemy updating delegation and isolation.</a:t>
            </a:r>
          </a:p>
          <a:p>
            <a:pPr marL="0" indent="0" algn="ctr">
              <a:buNone/>
            </a:pPr>
            <a:r>
              <a:rPr lang="en-US" sz="1200" b="1" dirty="0">
                <a:solidFill>
                  <a:srgbClr val="EAEAEA"/>
                </a:solidFill>
                <a:latin typeface="Calibri" pitchFamily="34" charset="0"/>
                <a:ea typeface="Calibri" pitchFamily="34" charset="-122"/>
                <a:cs typeface="Calibri" pitchFamily="34" charset="-120"/>
              </a:rPr>
              <a:t>Either FSM or dynamic class pointer swapping</a:t>
            </a:r>
          </a:p>
        </p:txBody>
      </p:sp>
      <p:sp>
        <p:nvSpPr>
          <p:cNvPr id="37" name="Text 14">
            <a:extLst>
              <a:ext uri="{FF2B5EF4-FFF2-40B4-BE49-F238E27FC236}">
                <a16:creationId xmlns:a16="http://schemas.microsoft.com/office/drawing/2014/main" id="{CC17885E-3448-CE22-1E7E-07DD0657EDCE}"/>
              </a:ext>
            </a:extLst>
          </p:cNvPr>
          <p:cNvSpPr/>
          <p:nvPr/>
        </p:nvSpPr>
        <p:spPr>
          <a:xfrm>
            <a:off x="3049088" y="2075362"/>
            <a:ext cx="5613326" cy="154142"/>
          </a:xfrm>
          <a:prstGeom prst="rect">
            <a:avLst/>
          </a:prstGeom>
          <a:noFill/>
          <a:ln/>
        </p:spPr>
        <p:txBody>
          <a:bodyPr wrap="square" lIns="0" tIns="0" rIns="0" bIns="0" rtlCol="0" anchor="ctr"/>
          <a:lstStyle/>
          <a:p>
            <a:pPr marL="0" indent="0" algn="ctr">
              <a:buNone/>
            </a:pPr>
            <a:endParaRPr lang="en-US" sz="1000" dirty="0"/>
          </a:p>
        </p:txBody>
      </p:sp>
      <p:sp>
        <p:nvSpPr>
          <p:cNvPr id="42" name="Shape 16">
            <a:extLst>
              <a:ext uri="{FF2B5EF4-FFF2-40B4-BE49-F238E27FC236}">
                <a16:creationId xmlns:a16="http://schemas.microsoft.com/office/drawing/2014/main" id="{90531368-6D99-4FB8-5EC1-F810B5C263E6}"/>
              </a:ext>
            </a:extLst>
          </p:cNvPr>
          <p:cNvSpPr/>
          <p:nvPr/>
        </p:nvSpPr>
        <p:spPr>
          <a:xfrm>
            <a:off x="2987040" y="2578282"/>
            <a:ext cx="5902232" cy="731520"/>
          </a:xfrm>
          <a:prstGeom prst="rect">
            <a:avLst/>
          </a:prstGeom>
          <a:solidFill>
            <a:srgbClr val="1A2744"/>
          </a:solidFill>
          <a:ln w="19050">
            <a:solidFill>
              <a:srgbClr val="E94560"/>
            </a:solidFill>
            <a:prstDash val="solid"/>
          </a:ln>
          <a:effectLst>
            <a:outerShdw blurRad="101600" dist="38100" dir="8100000" algn="bl" rotWithShape="0">
              <a:srgbClr val="000000">
                <a:alpha val="30000"/>
              </a:srgbClr>
            </a:outerShdw>
          </a:effectLst>
        </p:spPr>
        <p:txBody>
          <a:bodyPr/>
          <a:lstStyle/>
          <a:p>
            <a:endParaRPr lang="en-GB"/>
          </a:p>
        </p:txBody>
      </p:sp>
      <p:sp>
        <p:nvSpPr>
          <p:cNvPr id="43" name="Shape 17">
            <a:extLst>
              <a:ext uri="{FF2B5EF4-FFF2-40B4-BE49-F238E27FC236}">
                <a16:creationId xmlns:a16="http://schemas.microsoft.com/office/drawing/2014/main" id="{790270A7-B9FF-F012-9A47-28A4A9C7E6A7}"/>
              </a:ext>
            </a:extLst>
          </p:cNvPr>
          <p:cNvSpPr/>
          <p:nvPr/>
        </p:nvSpPr>
        <p:spPr>
          <a:xfrm>
            <a:off x="2987040" y="2578282"/>
            <a:ext cx="5902232" cy="45720"/>
          </a:xfrm>
          <a:prstGeom prst="rect">
            <a:avLst/>
          </a:prstGeom>
          <a:solidFill>
            <a:srgbClr val="E94560"/>
          </a:solidFill>
          <a:ln w="12700">
            <a:solidFill>
              <a:srgbClr val="E94560"/>
            </a:solidFill>
            <a:prstDash val="solid"/>
          </a:ln>
        </p:spPr>
        <p:txBody>
          <a:bodyPr/>
          <a:lstStyle/>
          <a:p>
            <a:endParaRPr lang="en-GB"/>
          </a:p>
        </p:txBody>
      </p:sp>
      <p:sp>
        <p:nvSpPr>
          <p:cNvPr id="44" name="Text 18">
            <a:extLst>
              <a:ext uri="{FF2B5EF4-FFF2-40B4-BE49-F238E27FC236}">
                <a16:creationId xmlns:a16="http://schemas.microsoft.com/office/drawing/2014/main" id="{F0673DF6-096B-1BEF-D774-68893C6BC023}"/>
              </a:ext>
            </a:extLst>
          </p:cNvPr>
          <p:cNvSpPr/>
          <p:nvPr/>
        </p:nvSpPr>
        <p:spPr>
          <a:xfrm>
            <a:off x="3049088" y="2779125"/>
            <a:ext cx="5607120" cy="365760"/>
          </a:xfrm>
          <a:prstGeom prst="rect">
            <a:avLst/>
          </a:prstGeom>
          <a:noFill/>
          <a:ln/>
        </p:spPr>
        <p:txBody>
          <a:bodyPr wrap="square" lIns="0" tIns="0" rIns="0" bIns="0" rtlCol="0" anchor="ctr"/>
          <a:lstStyle/>
          <a:p>
            <a:pPr marL="0" indent="0" algn="ctr">
              <a:buNone/>
            </a:pPr>
            <a:r>
              <a:rPr lang="en-US" sz="1200" b="1" dirty="0">
                <a:solidFill>
                  <a:srgbClr val="EAEAEA"/>
                </a:solidFill>
                <a:latin typeface="Calibri" pitchFamily="34" charset="0"/>
                <a:ea typeface="Calibri" pitchFamily="34" charset="-122"/>
                <a:cs typeface="Calibri" pitchFamily="34" charset="-120"/>
              </a:rPr>
              <a:t>Different tiers of weapons to find and collect within the world.</a:t>
            </a:r>
          </a:p>
          <a:p>
            <a:pPr marL="0" indent="0" algn="ctr">
              <a:buNone/>
            </a:pPr>
            <a:r>
              <a:rPr lang="en-US" sz="1200" b="1" dirty="0">
                <a:solidFill>
                  <a:srgbClr val="EAEAEA"/>
                </a:solidFill>
                <a:latin typeface="Calibri" pitchFamily="34" charset="0"/>
                <a:ea typeface="Calibri" pitchFamily="34" charset="-122"/>
                <a:cs typeface="Calibri" pitchFamily="34" charset="-120"/>
              </a:rPr>
              <a:t>Range and Melee (knifes, axe, gun, </a:t>
            </a:r>
            <a:r>
              <a:rPr lang="en-US" sz="1200" b="1" dirty="0" err="1">
                <a:solidFill>
                  <a:srgbClr val="EAEAEA"/>
                </a:solidFill>
                <a:latin typeface="Calibri" pitchFamily="34" charset="0"/>
                <a:ea typeface="Calibri" pitchFamily="34" charset="-122"/>
                <a:cs typeface="Calibri" pitchFamily="34" charset="-120"/>
              </a:rPr>
              <a:t>etc</a:t>
            </a:r>
            <a:r>
              <a:rPr lang="en-US" sz="1200" b="1" dirty="0">
                <a:solidFill>
                  <a:srgbClr val="EAEAEA"/>
                </a:solidFill>
                <a:latin typeface="Calibri" pitchFamily="34" charset="0"/>
                <a:ea typeface="Calibri" pitchFamily="34" charset="-122"/>
                <a:cs typeface="Calibri" pitchFamily="34" charset="-120"/>
              </a:rPr>
              <a:t>)</a:t>
            </a:r>
            <a:endParaRPr lang="en-US" sz="1200" dirty="0"/>
          </a:p>
        </p:txBody>
      </p:sp>
      <p:sp>
        <p:nvSpPr>
          <p:cNvPr id="45" name="Text 19">
            <a:extLst>
              <a:ext uri="{FF2B5EF4-FFF2-40B4-BE49-F238E27FC236}">
                <a16:creationId xmlns:a16="http://schemas.microsoft.com/office/drawing/2014/main" id="{127E3891-0E49-0EAB-EC56-ADCF9C027F52}"/>
              </a:ext>
            </a:extLst>
          </p:cNvPr>
          <p:cNvSpPr/>
          <p:nvPr/>
        </p:nvSpPr>
        <p:spPr>
          <a:xfrm>
            <a:off x="3032760" y="3089040"/>
            <a:ext cx="5607120" cy="205740"/>
          </a:xfrm>
          <a:prstGeom prst="rect">
            <a:avLst/>
          </a:prstGeom>
          <a:noFill/>
          <a:ln/>
        </p:spPr>
        <p:txBody>
          <a:bodyPr wrap="square" lIns="0" tIns="0" rIns="0" bIns="0" rtlCol="0" anchor="ctr"/>
          <a:lstStyle/>
          <a:p>
            <a:pPr marL="0" indent="0" algn="ctr">
              <a:buNone/>
            </a:pPr>
            <a:endParaRPr lang="en-US" sz="1000" i="1" dirty="0">
              <a:solidFill>
                <a:srgbClr val="E94560"/>
              </a:solidFill>
              <a:latin typeface="Calibri" pitchFamily="34" charset="0"/>
              <a:ea typeface="Calibri" pitchFamily="34" charset="-122"/>
              <a:cs typeface="Calibri" pitchFamily="34" charset="-120"/>
            </a:endParaRPr>
          </a:p>
        </p:txBody>
      </p:sp>
      <p:sp>
        <p:nvSpPr>
          <p:cNvPr id="46" name="Shape 21">
            <a:extLst>
              <a:ext uri="{FF2B5EF4-FFF2-40B4-BE49-F238E27FC236}">
                <a16:creationId xmlns:a16="http://schemas.microsoft.com/office/drawing/2014/main" id="{91BAC2C7-0EF3-C1F7-FF12-94F33E73B243}"/>
              </a:ext>
            </a:extLst>
          </p:cNvPr>
          <p:cNvSpPr/>
          <p:nvPr/>
        </p:nvSpPr>
        <p:spPr>
          <a:xfrm>
            <a:off x="2980507" y="3619610"/>
            <a:ext cx="5908765" cy="731520"/>
          </a:xfrm>
          <a:prstGeom prst="rect">
            <a:avLst/>
          </a:prstGeom>
          <a:solidFill>
            <a:srgbClr val="1A2744"/>
          </a:solidFill>
          <a:ln w="19050">
            <a:solidFill>
              <a:srgbClr val="D4AC0D"/>
            </a:solidFill>
            <a:prstDash val="solid"/>
          </a:ln>
          <a:effectLst>
            <a:outerShdw blurRad="101600" dist="38100" dir="8100000" algn="bl" rotWithShape="0">
              <a:srgbClr val="000000">
                <a:alpha val="30000"/>
              </a:srgbClr>
            </a:outerShdw>
          </a:effectLst>
        </p:spPr>
        <p:txBody>
          <a:bodyPr/>
          <a:lstStyle/>
          <a:p>
            <a:endParaRPr lang="en-GB"/>
          </a:p>
        </p:txBody>
      </p:sp>
      <p:sp>
        <p:nvSpPr>
          <p:cNvPr id="47" name="Shape 22">
            <a:extLst>
              <a:ext uri="{FF2B5EF4-FFF2-40B4-BE49-F238E27FC236}">
                <a16:creationId xmlns:a16="http://schemas.microsoft.com/office/drawing/2014/main" id="{C3EECA04-DD91-4F20-C1BE-7F7D4B254E65}"/>
              </a:ext>
            </a:extLst>
          </p:cNvPr>
          <p:cNvSpPr/>
          <p:nvPr/>
        </p:nvSpPr>
        <p:spPr>
          <a:xfrm>
            <a:off x="2980507" y="3619610"/>
            <a:ext cx="5908765" cy="45720"/>
          </a:xfrm>
          <a:prstGeom prst="rect">
            <a:avLst/>
          </a:prstGeom>
          <a:solidFill>
            <a:srgbClr val="D4AC0D"/>
          </a:solidFill>
          <a:ln w="12700">
            <a:solidFill>
              <a:srgbClr val="D4AC0D"/>
            </a:solidFill>
            <a:prstDash val="solid"/>
          </a:ln>
        </p:spPr>
        <p:txBody>
          <a:bodyPr/>
          <a:lstStyle/>
          <a:p>
            <a:endParaRPr lang="en-GB"/>
          </a:p>
        </p:txBody>
      </p:sp>
      <p:sp>
        <p:nvSpPr>
          <p:cNvPr id="48" name="Text 23">
            <a:extLst>
              <a:ext uri="{FF2B5EF4-FFF2-40B4-BE49-F238E27FC236}">
                <a16:creationId xmlns:a16="http://schemas.microsoft.com/office/drawing/2014/main" id="{AF1262F9-3B22-6697-3067-7FFF303F383D}"/>
              </a:ext>
            </a:extLst>
          </p:cNvPr>
          <p:cNvSpPr/>
          <p:nvPr/>
        </p:nvSpPr>
        <p:spPr>
          <a:xfrm>
            <a:off x="3026227" y="3729338"/>
            <a:ext cx="5613327" cy="556588"/>
          </a:xfrm>
          <a:prstGeom prst="rect">
            <a:avLst/>
          </a:prstGeom>
          <a:noFill/>
          <a:ln/>
        </p:spPr>
        <p:txBody>
          <a:bodyPr wrap="square" lIns="0" tIns="0" rIns="0" bIns="0" rtlCol="0" anchor="ctr"/>
          <a:lstStyle/>
          <a:p>
            <a:pPr marL="0" indent="0" algn="ctr">
              <a:buNone/>
            </a:pPr>
            <a:r>
              <a:rPr lang="en-US" sz="1200" b="1" dirty="0">
                <a:solidFill>
                  <a:srgbClr val="EAEAEA"/>
                </a:solidFill>
                <a:latin typeface="Calibri" pitchFamily="34" charset="0"/>
                <a:ea typeface="Calibri" pitchFamily="34" charset="-122"/>
                <a:cs typeface="Calibri" pitchFamily="34" charset="-120"/>
              </a:rPr>
              <a:t>Fixing any final generation issues and adding in the rest of the world objects and POI sites</a:t>
            </a:r>
            <a:endParaRPr lang="en-US" sz="1200" dirty="0"/>
          </a:p>
        </p:txBody>
      </p:sp>
      <p:sp>
        <p:nvSpPr>
          <p:cNvPr id="49" name="Text 24">
            <a:extLst>
              <a:ext uri="{FF2B5EF4-FFF2-40B4-BE49-F238E27FC236}">
                <a16:creationId xmlns:a16="http://schemas.microsoft.com/office/drawing/2014/main" id="{9628A0D0-7F28-0A42-955F-630BD0AF061F}"/>
              </a:ext>
            </a:extLst>
          </p:cNvPr>
          <p:cNvSpPr/>
          <p:nvPr/>
        </p:nvSpPr>
        <p:spPr>
          <a:xfrm>
            <a:off x="2980507" y="4120244"/>
            <a:ext cx="5613327" cy="205740"/>
          </a:xfrm>
          <a:prstGeom prst="rect">
            <a:avLst/>
          </a:prstGeom>
          <a:noFill/>
          <a:ln/>
        </p:spPr>
        <p:txBody>
          <a:bodyPr wrap="square" lIns="0" tIns="0" rIns="0" bIns="0" rtlCol="0" anchor="ctr"/>
          <a:lstStyle/>
          <a:p>
            <a:pPr marL="0" indent="0" algn="ctr">
              <a:buNone/>
            </a:pP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111827"/>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0A0F1E"/>
          </a:solidFill>
          <a:ln w="12700">
            <a:solidFill>
              <a:srgbClr val="0A0F1E"/>
            </a:solidFill>
            <a:prstDash val="solid"/>
          </a:ln>
        </p:spPr>
        <p:txBody>
          <a:bodyPr/>
          <a:lstStyle/>
          <a:p>
            <a:endParaRPr lang="en-GB"/>
          </a:p>
        </p:txBody>
      </p:sp>
      <p:sp>
        <p:nvSpPr>
          <p:cNvPr id="3" name="Shape 1"/>
          <p:cNvSpPr/>
          <p:nvPr/>
        </p:nvSpPr>
        <p:spPr>
          <a:xfrm>
            <a:off x="0" y="0"/>
            <a:ext cx="9144000" cy="64008"/>
          </a:xfrm>
          <a:prstGeom prst="rect">
            <a:avLst/>
          </a:prstGeom>
          <a:solidFill>
            <a:srgbClr val="4ECDC4"/>
          </a:solidFill>
          <a:ln w="12700">
            <a:solidFill>
              <a:srgbClr val="4ECDC4"/>
            </a:solidFill>
            <a:prstDash val="solid"/>
          </a:ln>
        </p:spPr>
        <p:txBody>
          <a:bodyPr/>
          <a:lstStyle/>
          <a:p>
            <a:endParaRPr lang="en-GB"/>
          </a:p>
        </p:txBody>
      </p:sp>
      <p:sp>
        <p:nvSpPr>
          <p:cNvPr id="4" name="Text 2"/>
          <p:cNvSpPr/>
          <p:nvPr/>
        </p:nvSpPr>
        <p:spPr>
          <a:xfrm>
            <a:off x="274320" y="91440"/>
            <a:ext cx="8229600" cy="548640"/>
          </a:xfrm>
          <a:prstGeom prst="rect">
            <a:avLst/>
          </a:prstGeom>
          <a:noFill/>
          <a:ln/>
        </p:spPr>
        <p:txBody>
          <a:bodyPr wrap="square" lIns="0" tIns="0" rIns="0" bIns="0" rtlCol="0" anchor="ctr"/>
          <a:lstStyle/>
          <a:p>
            <a:pPr marL="0" indent="0">
              <a:buNone/>
            </a:pPr>
            <a:r>
              <a:rPr lang="en-US" sz="2000" b="1" dirty="0">
                <a:solidFill>
                  <a:srgbClr val="EAEAEA"/>
                </a:solidFill>
                <a:latin typeface="Calibri" pitchFamily="34" charset="0"/>
                <a:ea typeface="Calibri" pitchFamily="34" charset="-122"/>
                <a:cs typeface="Calibri" pitchFamily="34" charset="-120"/>
              </a:rPr>
              <a:t>PERLIN NOISE: WORLD OBJECT PLACEMENT</a:t>
            </a:r>
            <a:endParaRPr lang="en-US" sz="2000" dirty="0"/>
          </a:p>
        </p:txBody>
      </p:sp>
      <p:sp>
        <p:nvSpPr>
          <p:cNvPr id="7" name="Text 4"/>
          <p:cNvSpPr/>
          <p:nvPr/>
        </p:nvSpPr>
        <p:spPr>
          <a:xfrm>
            <a:off x="4754880" y="822960"/>
            <a:ext cx="4206240" cy="320040"/>
          </a:xfrm>
          <a:prstGeom prst="rect">
            <a:avLst/>
          </a:prstGeom>
          <a:noFill/>
          <a:ln/>
        </p:spPr>
        <p:txBody>
          <a:bodyPr wrap="square" lIns="0" tIns="0" rIns="0" bIns="0" rtlCol="0" anchor="ctr"/>
          <a:lstStyle/>
          <a:p>
            <a:pPr marL="0" indent="0" algn="ctr">
              <a:buNone/>
            </a:pPr>
            <a:endParaRPr lang="en-US" sz="1000" dirty="0"/>
          </a:p>
        </p:txBody>
      </p:sp>
      <p:sp>
        <p:nvSpPr>
          <p:cNvPr id="8" name="Shape 5"/>
          <p:cNvSpPr/>
          <p:nvPr/>
        </p:nvSpPr>
        <p:spPr>
          <a:xfrm>
            <a:off x="228600" y="914400"/>
            <a:ext cx="4297680" cy="868680"/>
          </a:xfrm>
          <a:prstGeom prst="rect">
            <a:avLst/>
          </a:prstGeom>
          <a:solidFill>
            <a:srgbClr val="1A2744"/>
          </a:solidFill>
          <a:ln w="9525">
            <a:solidFill>
              <a:srgbClr val="4ECDC4"/>
            </a:solidFill>
            <a:prstDash val="solid"/>
          </a:ln>
          <a:effectLst>
            <a:outerShdw blurRad="63500" dist="25400" dir="8100000" algn="bl" rotWithShape="0">
              <a:srgbClr val="000000">
                <a:alpha val="20000"/>
              </a:srgbClr>
            </a:outerShdw>
          </a:effectLst>
        </p:spPr>
        <p:txBody>
          <a:bodyPr/>
          <a:lstStyle/>
          <a:p>
            <a:endParaRPr lang="en-GB"/>
          </a:p>
        </p:txBody>
      </p:sp>
      <p:sp>
        <p:nvSpPr>
          <p:cNvPr id="9" name="Shape 6"/>
          <p:cNvSpPr/>
          <p:nvPr/>
        </p:nvSpPr>
        <p:spPr>
          <a:xfrm>
            <a:off x="228600" y="914400"/>
            <a:ext cx="73152" cy="868680"/>
          </a:xfrm>
          <a:prstGeom prst="rect">
            <a:avLst/>
          </a:prstGeom>
          <a:solidFill>
            <a:srgbClr val="4ECDC4"/>
          </a:solidFill>
          <a:ln w="12700">
            <a:solidFill>
              <a:srgbClr val="4ECDC4"/>
            </a:solidFill>
            <a:prstDash val="solid"/>
          </a:ln>
        </p:spPr>
        <p:txBody>
          <a:bodyPr/>
          <a:lstStyle/>
          <a:p>
            <a:endParaRPr lang="en-GB"/>
          </a:p>
        </p:txBody>
      </p:sp>
      <p:sp>
        <p:nvSpPr>
          <p:cNvPr id="10" name="Text 7"/>
          <p:cNvSpPr/>
          <p:nvPr/>
        </p:nvSpPr>
        <p:spPr>
          <a:xfrm>
            <a:off x="365760" y="960120"/>
            <a:ext cx="4069080" cy="274320"/>
          </a:xfrm>
          <a:prstGeom prst="rect">
            <a:avLst/>
          </a:prstGeom>
          <a:noFill/>
          <a:ln/>
        </p:spPr>
        <p:txBody>
          <a:bodyPr wrap="square" lIns="0" tIns="0" rIns="0" bIns="0" rtlCol="0" anchor="ctr"/>
          <a:lstStyle/>
          <a:p>
            <a:pPr marL="0" indent="0">
              <a:buNone/>
            </a:pPr>
            <a:r>
              <a:rPr lang="en-US" sz="1200" b="1" dirty="0">
                <a:solidFill>
                  <a:schemeClr val="bg1"/>
                </a:solidFill>
                <a:latin typeface="Calibri" pitchFamily="34" charset="0"/>
                <a:ea typeface="Calibri" pitchFamily="34" charset="-122"/>
                <a:cs typeface="Calibri" pitchFamily="34" charset="-120"/>
              </a:rPr>
              <a:t>What It Does</a:t>
            </a:r>
            <a:endParaRPr lang="en-US" sz="1200" dirty="0">
              <a:solidFill>
                <a:schemeClr val="bg1"/>
              </a:solidFill>
            </a:endParaRPr>
          </a:p>
        </p:txBody>
      </p:sp>
      <p:sp>
        <p:nvSpPr>
          <p:cNvPr id="11" name="Text 8"/>
          <p:cNvSpPr/>
          <p:nvPr/>
        </p:nvSpPr>
        <p:spPr>
          <a:xfrm>
            <a:off x="365760" y="1234440"/>
            <a:ext cx="4069080" cy="502920"/>
          </a:xfrm>
          <a:prstGeom prst="rect">
            <a:avLst/>
          </a:prstGeom>
          <a:noFill/>
          <a:ln/>
        </p:spPr>
        <p:txBody>
          <a:bodyPr wrap="square" lIns="0" tIns="0" rIns="0" bIns="0" rtlCol="0" anchor="ctr"/>
          <a:lstStyle/>
          <a:p>
            <a:pPr marL="0" indent="0">
              <a:buNone/>
            </a:pPr>
            <a:r>
              <a:rPr lang="en-US" sz="1050" dirty="0">
                <a:solidFill>
                  <a:schemeClr val="bg1"/>
                </a:solidFill>
                <a:latin typeface="Calibri" pitchFamily="34" charset="0"/>
                <a:ea typeface="Calibri" pitchFamily="34" charset="-122"/>
                <a:cs typeface="Calibri" pitchFamily="34" charset="-120"/>
              </a:rPr>
              <a:t>Generates organic, natural looking clusters for world object placement (tree stumps, roots, rocks – note these will be added in final week) across the map terrain.</a:t>
            </a:r>
            <a:endParaRPr lang="en-US" sz="1050" dirty="0">
              <a:solidFill>
                <a:schemeClr val="bg1"/>
              </a:solidFill>
            </a:endParaRPr>
          </a:p>
        </p:txBody>
      </p:sp>
      <p:sp>
        <p:nvSpPr>
          <p:cNvPr id="12" name="Shape 9"/>
          <p:cNvSpPr/>
          <p:nvPr/>
        </p:nvSpPr>
        <p:spPr>
          <a:xfrm>
            <a:off x="228600" y="1920240"/>
            <a:ext cx="4297680" cy="868680"/>
          </a:xfrm>
          <a:prstGeom prst="rect">
            <a:avLst/>
          </a:prstGeom>
          <a:solidFill>
            <a:srgbClr val="1A2744"/>
          </a:solidFill>
          <a:ln w="9525">
            <a:solidFill>
              <a:srgbClr val="4ECDC4"/>
            </a:solidFill>
            <a:prstDash val="solid"/>
          </a:ln>
          <a:effectLst>
            <a:outerShdw blurRad="63500" dist="25400" dir="8100000" algn="bl" rotWithShape="0">
              <a:srgbClr val="000000">
                <a:alpha val="20000"/>
              </a:srgbClr>
            </a:outerShdw>
          </a:effectLst>
        </p:spPr>
        <p:txBody>
          <a:bodyPr/>
          <a:lstStyle/>
          <a:p>
            <a:endParaRPr lang="en-GB"/>
          </a:p>
        </p:txBody>
      </p:sp>
      <p:sp>
        <p:nvSpPr>
          <p:cNvPr id="13" name="Shape 10"/>
          <p:cNvSpPr/>
          <p:nvPr/>
        </p:nvSpPr>
        <p:spPr>
          <a:xfrm>
            <a:off x="228600" y="1920240"/>
            <a:ext cx="73152" cy="868680"/>
          </a:xfrm>
          <a:prstGeom prst="rect">
            <a:avLst/>
          </a:prstGeom>
          <a:solidFill>
            <a:srgbClr val="4ECDC4"/>
          </a:solidFill>
          <a:ln w="12700">
            <a:solidFill>
              <a:srgbClr val="4ECDC4"/>
            </a:solidFill>
            <a:prstDash val="solid"/>
          </a:ln>
        </p:spPr>
        <p:txBody>
          <a:bodyPr/>
          <a:lstStyle/>
          <a:p>
            <a:endParaRPr lang="en-GB"/>
          </a:p>
        </p:txBody>
      </p:sp>
      <p:sp>
        <p:nvSpPr>
          <p:cNvPr id="14" name="Text 11"/>
          <p:cNvSpPr/>
          <p:nvPr/>
        </p:nvSpPr>
        <p:spPr>
          <a:xfrm>
            <a:off x="365760" y="1949631"/>
            <a:ext cx="4069080" cy="274320"/>
          </a:xfrm>
          <a:prstGeom prst="rect">
            <a:avLst/>
          </a:prstGeom>
          <a:noFill/>
          <a:ln/>
        </p:spPr>
        <p:txBody>
          <a:bodyPr wrap="square" lIns="0" tIns="0" rIns="0" bIns="0" rtlCol="0" anchor="ctr"/>
          <a:lstStyle/>
          <a:p>
            <a:pPr marL="0" indent="0">
              <a:buNone/>
            </a:pPr>
            <a:r>
              <a:rPr lang="en-US" sz="1200" b="1" dirty="0">
                <a:solidFill>
                  <a:schemeClr val="bg1"/>
                </a:solidFill>
                <a:latin typeface="Calibri" pitchFamily="34" charset="0"/>
                <a:ea typeface="Calibri" pitchFamily="34" charset="-122"/>
                <a:cs typeface="Calibri" pitchFamily="34" charset="-120"/>
              </a:rPr>
              <a:t>How It Works</a:t>
            </a:r>
            <a:endParaRPr lang="en-US" sz="1200" dirty="0">
              <a:solidFill>
                <a:schemeClr val="bg1"/>
              </a:solidFill>
            </a:endParaRPr>
          </a:p>
        </p:txBody>
      </p:sp>
      <p:sp>
        <p:nvSpPr>
          <p:cNvPr id="15" name="Text 12"/>
          <p:cNvSpPr/>
          <p:nvPr/>
        </p:nvSpPr>
        <p:spPr>
          <a:xfrm>
            <a:off x="365760" y="2191294"/>
            <a:ext cx="4069080" cy="502920"/>
          </a:xfrm>
          <a:prstGeom prst="rect">
            <a:avLst/>
          </a:prstGeom>
          <a:noFill/>
          <a:ln/>
        </p:spPr>
        <p:txBody>
          <a:bodyPr wrap="square" lIns="0" tIns="0" rIns="0" bIns="0" rtlCol="0" anchor="ctr"/>
          <a:lstStyle/>
          <a:p>
            <a:pPr marL="0" indent="0">
              <a:buNone/>
            </a:pPr>
            <a:r>
              <a:rPr lang="en-US" sz="1050" dirty="0">
                <a:solidFill>
                  <a:schemeClr val="bg1"/>
                </a:solidFill>
                <a:latin typeface="Calibri" pitchFamily="34" charset="0"/>
                <a:ea typeface="Calibri" pitchFamily="34" charset="-122"/>
                <a:cs typeface="Calibri" pitchFamily="34" charset="-120"/>
              </a:rPr>
              <a:t>Each tile's world position is sampled through multi-octave(passes) Perlin noise. Values the threshold trigger a valid placement.</a:t>
            </a:r>
            <a:endParaRPr lang="en-US" sz="1050" dirty="0">
              <a:solidFill>
                <a:schemeClr val="bg1"/>
              </a:solidFill>
            </a:endParaRPr>
          </a:p>
        </p:txBody>
      </p:sp>
      <p:sp>
        <p:nvSpPr>
          <p:cNvPr id="20" name="Shape 17"/>
          <p:cNvSpPr/>
          <p:nvPr/>
        </p:nvSpPr>
        <p:spPr>
          <a:xfrm>
            <a:off x="228600" y="2926080"/>
            <a:ext cx="4297680" cy="868680"/>
          </a:xfrm>
          <a:prstGeom prst="rect">
            <a:avLst/>
          </a:prstGeom>
          <a:solidFill>
            <a:srgbClr val="1A2744"/>
          </a:solidFill>
          <a:ln w="9525">
            <a:solidFill>
              <a:srgbClr val="4ECDC4"/>
            </a:solidFill>
            <a:prstDash val="solid"/>
          </a:ln>
          <a:effectLst>
            <a:outerShdw blurRad="63500" dist="25400" dir="8100000" algn="bl" rotWithShape="0">
              <a:srgbClr val="000000">
                <a:alpha val="20000"/>
              </a:srgbClr>
            </a:outerShdw>
          </a:effectLst>
        </p:spPr>
        <p:txBody>
          <a:bodyPr/>
          <a:lstStyle/>
          <a:p>
            <a:endParaRPr lang="en-GB"/>
          </a:p>
        </p:txBody>
      </p:sp>
      <p:sp>
        <p:nvSpPr>
          <p:cNvPr id="21" name="Shape 18"/>
          <p:cNvSpPr/>
          <p:nvPr/>
        </p:nvSpPr>
        <p:spPr>
          <a:xfrm>
            <a:off x="228600" y="2926080"/>
            <a:ext cx="73152" cy="868680"/>
          </a:xfrm>
          <a:prstGeom prst="rect">
            <a:avLst/>
          </a:prstGeom>
          <a:solidFill>
            <a:srgbClr val="4ECDC4"/>
          </a:solidFill>
          <a:ln w="12700">
            <a:solidFill>
              <a:srgbClr val="4ECDC4"/>
            </a:solidFill>
            <a:prstDash val="solid"/>
          </a:ln>
        </p:spPr>
        <p:txBody>
          <a:bodyPr/>
          <a:lstStyle/>
          <a:p>
            <a:endParaRPr lang="en-GB"/>
          </a:p>
        </p:txBody>
      </p:sp>
      <p:sp>
        <p:nvSpPr>
          <p:cNvPr id="22" name="Text 19"/>
          <p:cNvSpPr/>
          <p:nvPr/>
        </p:nvSpPr>
        <p:spPr>
          <a:xfrm>
            <a:off x="365760" y="2971800"/>
            <a:ext cx="4069080" cy="274320"/>
          </a:xfrm>
          <a:prstGeom prst="rect">
            <a:avLst/>
          </a:prstGeom>
          <a:noFill/>
          <a:ln/>
        </p:spPr>
        <p:txBody>
          <a:bodyPr wrap="square" lIns="0" tIns="0" rIns="0" bIns="0" rtlCol="0" anchor="ctr"/>
          <a:lstStyle/>
          <a:p>
            <a:pPr marL="0" indent="0">
              <a:buNone/>
            </a:pPr>
            <a:r>
              <a:rPr lang="en-US" sz="1200" b="1" dirty="0">
                <a:solidFill>
                  <a:schemeClr val="bg1"/>
                </a:solidFill>
                <a:latin typeface="Calibri" pitchFamily="34" charset="0"/>
                <a:ea typeface="Calibri" pitchFamily="34" charset="-122"/>
                <a:cs typeface="Calibri" pitchFamily="34" charset="-120"/>
              </a:rPr>
              <a:t>Performance</a:t>
            </a:r>
            <a:endParaRPr lang="en-US" sz="1200" dirty="0">
              <a:solidFill>
                <a:schemeClr val="bg1"/>
              </a:solidFill>
            </a:endParaRPr>
          </a:p>
        </p:txBody>
      </p:sp>
      <p:sp>
        <p:nvSpPr>
          <p:cNvPr id="23" name="Text 20"/>
          <p:cNvSpPr/>
          <p:nvPr/>
        </p:nvSpPr>
        <p:spPr>
          <a:xfrm>
            <a:off x="365760" y="3246120"/>
            <a:ext cx="4069080" cy="502920"/>
          </a:xfrm>
          <a:prstGeom prst="rect">
            <a:avLst/>
          </a:prstGeom>
          <a:noFill/>
          <a:ln/>
        </p:spPr>
        <p:txBody>
          <a:bodyPr wrap="square" lIns="0" tIns="0" rIns="0" bIns="0" rtlCol="0" anchor="ctr"/>
          <a:lstStyle/>
          <a:p>
            <a:pPr marL="0" indent="0">
              <a:buNone/>
            </a:pPr>
            <a:r>
              <a:rPr lang="en-US" sz="1050" dirty="0">
                <a:solidFill>
                  <a:schemeClr val="bg1"/>
                </a:solidFill>
                <a:latin typeface="Calibri" pitchFamily="34" charset="0"/>
                <a:ea typeface="Calibri" pitchFamily="34" charset="-122"/>
                <a:cs typeface="Calibri" pitchFamily="34" charset="-120"/>
              </a:rPr>
              <a:t>Shared flyweight atlas for the objects to point to, frustrum culling to only render on screen objects and skips every 2</a:t>
            </a:r>
            <a:r>
              <a:rPr lang="en-US" sz="1050" baseline="30000" dirty="0">
                <a:solidFill>
                  <a:schemeClr val="bg1"/>
                </a:solidFill>
                <a:latin typeface="Calibri" pitchFamily="34" charset="0"/>
                <a:ea typeface="Calibri" pitchFamily="34" charset="-122"/>
                <a:cs typeface="Calibri" pitchFamily="34" charset="-120"/>
              </a:rPr>
              <a:t>nd</a:t>
            </a:r>
            <a:r>
              <a:rPr lang="en-US" sz="1050" dirty="0">
                <a:solidFill>
                  <a:schemeClr val="bg1"/>
                </a:solidFill>
                <a:latin typeface="Calibri" pitchFamily="34" charset="0"/>
                <a:ea typeface="Calibri" pitchFamily="34" charset="-122"/>
                <a:cs typeface="Calibri" pitchFamily="34" charset="-120"/>
              </a:rPr>
              <a:t> tile for generation.</a:t>
            </a:r>
            <a:endParaRPr lang="en-US" sz="1050" dirty="0">
              <a:solidFill>
                <a:schemeClr val="bg1"/>
              </a:solidFill>
            </a:endParaRPr>
          </a:p>
        </p:txBody>
      </p:sp>
      <p:pic>
        <p:nvPicPr>
          <p:cNvPr id="27" name="Picture 26">
            <a:extLst>
              <a:ext uri="{FF2B5EF4-FFF2-40B4-BE49-F238E27FC236}">
                <a16:creationId xmlns:a16="http://schemas.microsoft.com/office/drawing/2014/main" id="{47CB273F-FB7D-B329-69EF-75F7870AE660}"/>
              </a:ext>
            </a:extLst>
          </p:cNvPr>
          <p:cNvPicPr>
            <a:picLocks noChangeAspect="1"/>
          </p:cNvPicPr>
          <p:nvPr/>
        </p:nvPicPr>
        <p:blipFill>
          <a:blip r:embed="rId3"/>
          <a:stretch>
            <a:fillRect/>
          </a:stretch>
        </p:blipFill>
        <p:spPr>
          <a:xfrm>
            <a:off x="5111496" y="1023908"/>
            <a:ext cx="3776472" cy="3730972"/>
          </a:xfrm>
          <a:prstGeom prst="rect">
            <a:avLst/>
          </a:prstGeom>
        </p:spPr>
      </p:pic>
      <p:sp>
        <p:nvSpPr>
          <p:cNvPr id="5" name="Shape 17">
            <a:extLst>
              <a:ext uri="{FF2B5EF4-FFF2-40B4-BE49-F238E27FC236}">
                <a16:creationId xmlns:a16="http://schemas.microsoft.com/office/drawing/2014/main" id="{345B4363-9445-787B-4217-D39A54EDC020}"/>
              </a:ext>
            </a:extLst>
          </p:cNvPr>
          <p:cNvSpPr/>
          <p:nvPr/>
        </p:nvSpPr>
        <p:spPr>
          <a:xfrm>
            <a:off x="228600" y="3931920"/>
            <a:ext cx="4297680" cy="868680"/>
          </a:xfrm>
          <a:prstGeom prst="rect">
            <a:avLst/>
          </a:prstGeom>
          <a:solidFill>
            <a:srgbClr val="1A2744"/>
          </a:solidFill>
          <a:ln w="9525">
            <a:solidFill>
              <a:srgbClr val="4ECDC4"/>
            </a:solidFill>
            <a:prstDash val="solid"/>
          </a:ln>
          <a:effectLst>
            <a:outerShdw blurRad="63500" dist="25400" dir="8100000" algn="bl" rotWithShape="0">
              <a:srgbClr val="000000">
                <a:alpha val="20000"/>
              </a:srgbClr>
            </a:outerShdw>
          </a:effectLst>
        </p:spPr>
        <p:txBody>
          <a:bodyPr/>
          <a:lstStyle/>
          <a:p>
            <a:endParaRPr lang="en-GB"/>
          </a:p>
        </p:txBody>
      </p:sp>
      <p:sp>
        <p:nvSpPr>
          <p:cNvPr id="6" name="Shape 18">
            <a:extLst>
              <a:ext uri="{FF2B5EF4-FFF2-40B4-BE49-F238E27FC236}">
                <a16:creationId xmlns:a16="http://schemas.microsoft.com/office/drawing/2014/main" id="{ECF703B0-1807-0CF0-C98F-6780083FB02F}"/>
              </a:ext>
            </a:extLst>
          </p:cNvPr>
          <p:cNvSpPr/>
          <p:nvPr/>
        </p:nvSpPr>
        <p:spPr>
          <a:xfrm>
            <a:off x="228600" y="3931920"/>
            <a:ext cx="73152" cy="868680"/>
          </a:xfrm>
          <a:prstGeom prst="rect">
            <a:avLst/>
          </a:prstGeom>
          <a:solidFill>
            <a:srgbClr val="4ECDC4"/>
          </a:solidFill>
          <a:ln w="12700">
            <a:solidFill>
              <a:srgbClr val="4ECDC4"/>
            </a:solidFill>
            <a:prstDash val="solid"/>
          </a:ln>
        </p:spPr>
        <p:txBody>
          <a:bodyPr/>
          <a:lstStyle/>
          <a:p>
            <a:endParaRPr lang="en-GB"/>
          </a:p>
        </p:txBody>
      </p:sp>
      <p:sp>
        <p:nvSpPr>
          <p:cNvPr id="16" name="Text 19">
            <a:extLst>
              <a:ext uri="{FF2B5EF4-FFF2-40B4-BE49-F238E27FC236}">
                <a16:creationId xmlns:a16="http://schemas.microsoft.com/office/drawing/2014/main" id="{76729060-D555-7671-E159-B1DF5C6CF043}"/>
              </a:ext>
            </a:extLst>
          </p:cNvPr>
          <p:cNvSpPr/>
          <p:nvPr/>
        </p:nvSpPr>
        <p:spPr>
          <a:xfrm>
            <a:off x="365760" y="3977640"/>
            <a:ext cx="4069080" cy="274320"/>
          </a:xfrm>
          <a:prstGeom prst="rect">
            <a:avLst/>
          </a:prstGeom>
          <a:noFill/>
          <a:ln/>
        </p:spPr>
        <p:txBody>
          <a:bodyPr wrap="square" lIns="0" tIns="0" rIns="0" bIns="0" rtlCol="0" anchor="ctr"/>
          <a:lstStyle/>
          <a:p>
            <a:r>
              <a:rPr lang="en-US" sz="1200" b="1" dirty="0">
                <a:solidFill>
                  <a:schemeClr val="bg1"/>
                </a:solidFill>
                <a:latin typeface="Calibri" pitchFamily="34" charset="0"/>
                <a:ea typeface="Calibri" pitchFamily="34" charset="-122"/>
                <a:cs typeface="Calibri" pitchFamily="34" charset="-120"/>
              </a:rPr>
              <a:t>Reproducible</a:t>
            </a:r>
            <a:endParaRPr lang="en-US" sz="1200" dirty="0">
              <a:solidFill>
                <a:schemeClr val="bg1"/>
              </a:solidFill>
            </a:endParaRPr>
          </a:p>
        </p:txBody>
      </p:sp>
      <p:sp>
        <p:nvSpPr>
          <p:cNvPr id="17" name="Text 20">
            <a:extLst>
              <a:ext uri="{FF2B5EF4-FFF2-40B4-BE49-F238E27FC236}">
                <a16:creationId xmlns:a16="http://schemas.microsoft.com/office/drawing/2014/main" id="{A21723FF-6771-558A-35EC-76BAA08F9966}"/>
              </a:ext>
            </a:extLst>
          </p:cNvPr>
          <p:cNvSpPr/>
          <p:nvPr/>
        </p:nvSpPr>
        <p:spPr>
          <a:xfrm>
            <a:off x="365760" y="4251960"/>
            <a:ext cx="4069080" cy="502920"/>
          </a:xfrm>
          <a:prstGeom prst="rect">
            <a:avLst/>
          </a:prstGeom>
          <a:noFill/>
          <a:ln/>
        </p:spPr>
        <p:txBody>
          <a:bodyPr wrap="square" lIns="0" tIns="0" rIns="0" bIns="0" rtlCol="0" anchor="ctr"/>
          <a:lstStyle/>
          <a:p>
            <a:pPr marL="0" indent="0">
              <a:buNone/>
            </a:pPr>
            <a:r>
              <a:rPr lang="en-US" sz="1050" dirty="0">
                <a:solidFill>
                  <a:schemeClr val="bg1"/>
                </a:solidFill>
                <a:latin typeface="Calibri" pitchFamily="34" charset="0"/>
                <a:ea typeface="Calibri" pitchFamily="34" charset="-122"/>
                <a:cs typeface="Calibri" pitchFamily="34" charset="-120"/>
              </a:rPr>
              <a:t>Using Perlin allows for the map to have deterministic seed generation, so its reproducible but still adheres to random generation.</a:t>
            </a:r>
            <a:endParaRPr lang="en-US" sz="1050" dirty="0">
              <a:solidFill>
                <a:schemeClr val="bg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0D1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0A0F1E"/>
          </a:solidFill>
          <a:ln w="12700">
            <a:solidFill>
              <a:srgbClr val="0A0F1E"/>
            </a:solidFill>
            <a:prstDash val="solid"/>
          </a:ln>
        </p:spPr>
        <p:txBody>
          <a:bodyPr/>
          <a:lstStyle/>
          <a:p>
            <a:endParaRPr lang="en-GB"/>
          </a:p>
        </p:txBody>
      </p:sp>
      <p:sp>
        <p:nvSpPr>
          <p:cNvPr id="4" name="Text 2"/>
          <p:cNvSpPr/>
          <p:nvPr/>
        </p:nvSpPr>
        <p:spPr>
          <a:xfrm>
            <a:off x="274320" y="91440"/>
            <a:ext cx="8229600" cy="548640"/>
          </a:xfrm>
          <a:prstGeom prst="rect">
            <a:avLst/>
          </a:prstGeom>
          <a:noFill/>
          <a:ln/>
        </p:spPr>
        <p:txBody>
          <a:bodyPr wrap="square" lIns="0" tIns="0" rIns="0" bIns="0" rtlCol="0" anchor="ctr"/>
          <a:lstStyle/>
          <a:p>
            <a:pPr marL="0" indent="0">
              <a:buNone/>
            </a:pPr>
            <a:r>
              <a:rPr lang="en-US" sz="2000" b="1" dirty="0">
                <a:solidFill>
                  <a:srgbClr val="EAEAEA"/>
                </a:solidFill>
                <a:latin typeface="Calibri" pitchFamily="34" charset="0"/>
                <a:ea typeface="Calibri" pitchFamily="34" charset="-122"/>
                <a:cs typeface="Calibri" pitchFamily="34" charset="-120"/>
              </a:rPr>
              <a:t>TILED &amp; TMX: COLLISION SYSTEM</a:t>
            </a:r>
            <a:endParaRPr lang="en-US" sz="2000" dirty="0"/>
          </a:p>
        </p:txBody>
      </p:sp>
      <p:pic>
        <p:nvPicPr>
          <p:cNvPr id="5" name="Image 0" descr="/home/claude/hideout_collision.png"/>
          <p:cNvPicPr>
            <a:picLocks noChangeAspect="1"/>
          </p:cNvPicPr>
          <p:nvPr/>
        </p:nvPicPr>
        <p:blipFill>
          <a:blip r:embed="rId3"/>
          <a:srcRect/>
          <a:stretch/>
        </p:blipFill>
        <p:spPr>
          <a:xfrm>
            <a:off x="150223" y="662940"/>
            <a:ext cx="3657600" cy="2926080"/>
          </a:xfrm>
          <a:prstGeom prst="rect">
            <a:avLst/>
          </a:prstGeom>
        </p:spPr>
      </p:pic>
      <p:pic>
        <p:nvPicPr>
          <p:cNvPr id="6" name="Image 1" descr="/home/claude/farm_tiled.png"/>
          <p:cNvPicPr>
            <a:picLocks noChangeAspect="1"/>
          </p:cNvPicPr>
          <p:nvPr/>
        </p:nvPicPr>
        <p:blipFill>
          <a:blip r:embed="rId4"/>
          <a:srcRect/>
          <a:stretch/>
        </p:blipFill>
        <p:spPr>
          <a:xfrm>
            <a:off x="4114800" y="662940"/>
            <a:ext cx="4800600" cy="2926080"/>
          </a:xfrm>
          <a:prstGeom prst="rect">
            <a:avLst/>
          </a:prstGeom>
        </p:spPr>
      </p:pic>
      <p:sp>
        <p:nvSpPr>
          <p:cNvPr id="7" name="Text 3"/>
          <p:cNvSpPr/>
          <p:nvPr/>
        </p:nvSpPr>
        <p:spPr>
          <a:xfrm>
            <a:off x="104502" y="3566160"/>
            <a:ext cx="3657600" cy="274320"/>
          </a:xfrm>
          <a:prstGeom prst="rect">
            <a:avLst/>
          </a:prstGeom>
          <a:noFill/>
          <a:ln/>
        </p:spPr>
        <p:txBody>
          <a:bodyPr wrap="square" lIns="0" tIns="0" rIns="0" bIns="0" rtlCol="0" anchor="ctr"/>
          <a:lstStyle/>
          <a:p>
            <a:pPr marL="0" indent="0" algn="ctr">
              <a:buNone/>
            </a:pPr>
            <a:r>
              <a:rPr lang="en-US" sz="1000" dirty="0">
                <a:solidFill>
                  <a:schemeClr val="bg1"/>
                </a:solidFill>
                <a:latin typeface="Calibri" pitchFamily="34" charset="0"/>
                <a:ea typeface="Calibri" pitchFamily="34" charset="-122"/>
                <a:cs typeface="Calibri" pitchFamily="34" charset="-120"/>
              </a:rPr>
              <a:t>Hideout TMX file</a:t>
            </a:r>
            <a:endParaRPr lang="en-US" sz="1000" dirty="0">
              <a:solidFill>
                <a:schemeClr val="bg1"/>
              </a:solidFill>
            </a:endParaRPr>
          </a:p>
        </p:txBody>
      </p:sp>
      <p:sp>
        <p:nvSpPr>
          <p:cNvPr id="8" name="Text 4"/>
          <p:cNvSpPr/>
          <p:nvPr/>
        </p:nvSpPr>
        <p:spPr>
          <a:xfrm>
            <a:off x="4147457" y="3566160"/>
            <a:ext cx="4800600" cy="274320"/>
          </a:xfrm>
          <a:prstGeom prst="rect">
            <a:avLst/>
          </a:prstGeom>
          <a:noFill/>
          <a:ln/>
        </p:spPr>
        <p:txBody>
          <a:bodyPr wrap="square" lIns="0" tIns="0" rIns="0" bIns="0" rtlCol="0" anchor="ctr"/>
          <a:lstStyle/>
          <a:p>
            <a:pPr marL="0" indent="0" algn="ctr">
              <a:buNone/>
            </a:pPr>
            <a:r>
              <a:rPr lang="en-US" sz="1000" dirty="0">
                <a:solidFill>
                  <a:schemeClr val="bg1"/>
                </a:solidFill>
                <a:latin typeface="Calibri" pitchFamily="34" charset="0"/>
                <a:ea typeface="Calibri" pitchFamily="34" charset="-122"/>
                <a:cs typeface="Calibri" pitchFamily="34" charset="-120"/>
              </a:rPr>
              <a:t>Farm TMX file</a:t>
            </a:r>
            <a:endParaRPr lang="en-US" sz="1000" dirty="0">
              <a:solidFill>
                <a:schemeClr val="bg1"/>
              </a:solidFill>
            </a:endParaRPr>
          </a:p>
        </p:txBody>
      </p:sp>
      <p:sp>
        <p:nvSpPr>
          <p:cNvPr id="9" name="Shape 5"/>
          <p:cNvSpPr/>
          <p:nvPr/>
        </p:nvSpPr>
        <p:spPr>
          <a:xfrm>
            <a:off x="91438" y="3840480"/>
            <a:ext cx="2168435" cy="1211580"/>
          </a:xfrm>
          <a:prstGeom prst="rect">
            <a:avLst/>
          </a:prstGeom>
          <a:solidFill>
            <a:srgbClr val="1A2744"/>
          </a:solidFill>
          <a:ln w="9525">
            <a:solidFill>
              <a:srgbClr val="4ECDC4"/>
            </a:solidFill>
            <a:prstDash val="solid"/>
          </a:ln>
          <a:effectLst>
            <a:outerShdw blurRad="50800" dist="25400" dir="8100000" algn="bl" rotWithShape="0">
              <a:srgbClr val="000000">
                <a:alpha val="20000"/>
              </a:srgbClr>
            </a:outerShdw>
          </a:effectLst>
        </p:spPr>
        <p:txBody>
          <a:bodyPr/>
          <a:lstStyle/>
          <a:p>
            <a:endParaRPr lang="en-GB" dirty="0"/>
          </a:p>
        </p:txBody>
      </p:sp>
      <p:sp>
        <p:nvSpPr>
          <p:cNvPr id="10" name="Text 6"/>
          <p:cNvSpPr/>
          <p:nvPr/>
        </p:nvSpPr>
        <p:spPr>
          <a:xfrm>
            <a:off x="164590" y="3886199"/>
            <a:ext cx="2010731" cy="357097"/>
          </a:xfrm>
          <a:prstGeom prst="rect">
            <a:avLst/>
          </a:prstGeom>
          <a:noFill/>
          <a:ln/>
        </p:spPr>
        <p:txBody>
          <a:bodyPr wrap="square" lIns="0" tIns="0" rIns="0" bIns="0" rtlCol="0" anchor="ctr"/>
          <a:lstStyle/>
          <a:p>
            <a:pPr marL="0" indent="0">
              <a:buNone/>
            </a:pPr>
            <a:r>
              <a:rPr lang="en-US" sz="1400" b="1" dirty="0">
                <a:solidFill>
                  <a:srgbClr val="4ECDC4"/>
                </a:solidFill>
                <a:latin typeface="Calibri" pitchFamily="34" charset="0"/>
                <a:ea typeface="Calibri" pitchFamily="34" charset="-122"/>
                <a:cs typeface="Calibri" pitchFamily="34" charset="-120"/>
              </a:rPr>
              <a:t>Tiled Map Editor</a:t>
            </a:r>
            <a:endParaRPr lang="en-US" sz="1400" dirty="0">
              <a:solidFill>
                <a:srgbClr val="4ECDC4"/>
              </a:solidFill>
            </a:endParaRPr>
          </a:p>
        </p:txBody>
      </p:sp>
      <p:sp>
        <p:nvSpPr>
          <p:cNvPr id="11" name="Text 7"/>
          <p:cNvSpPr/>
          <p:nvPr/>
        </p:nvSpPr>
        <p:spPr>
          <a:xfrm>
            <a:off x="164590" y="4142232"/>
            <a:ext cx="2010731" cy="726948"/>
          </a:xfrm>
          <a:prstGeom prst="rect">
            <a:avLst/>
          </a:prstGeom>
          <a:noFill/>
          <a:ln/>
        </p:spPr>
        <p:txBody>
          <a:bodyPr wrap="square" lIns="0" tIns="0" rIns="0" bIns="0" rtlCol="0" anchor="ctr"/>
          <a:lstStyle/>
          <a:p>
            <a:pPr marL="0" indent="0">
              <a:buNone/>
            </a:pPr>
            <a:r>
              <a:rPr lang="en-US" sz="1200" dirty="0">
                <a:solidFill>
                  <a:schemeClr val="bg1"/>
                </a:solidFill>
                <a:latin typeface="Calibri" pitchFamily="34" charset="0"/>
                <a:ea typeface="Calibri" pitchFamily="34" charset="-122"/>
                <a:cs typeface="Calibri" pitchFamily="34" charset="-120"/>
              </a:rPr>
              <a:t>TMX files define named collision shapes for each POI and world object.</a:t>
            </a:r>
            <a:endParaRPr lang="en-US" sz="1200" dirty="0">
              <a:solidFill>
                <a:schemeClr val="bg1"/>
              </a:solidFill>
            </a:endParaRPr>
          </a:p>
        </p:txBody>
      </p:sp>
      <p:sp>
        <p:nvSpPr>
          <p:cNvPr id="12" name="Shape 8"/>
          <p:cNvSpPr/>
          <p:nvPr/>
        </p:nvSpPr>
        <p:spPr>
          <a:xfrm>
            <a:off x="2331718" y="3840480"/>
            <a:ext cx="2168435" cy="1211580"/>
          </a:xfrm>
          <a:prstGeom prst="rect">
            <a:avLst/>
          </a:prstGeom>
          <a:solidFill>
            <a:srgbClr val="1A2744"/>
          </a:solidFill>
          <a:ln w="9525">
            <a:solidFill>
              <a:srgbClr val="4ECDC4"/>
            </a:solidFill>
            <a:prstDash val="solid"/>
          </a:ln>
          <a:effectLst>
            <a:outerShdw blurRad="50800" dist="25400" dir="8100000" algn="bl" rotWithShape="0">
              <a:srgbClr val="000000">
                <a:alpha val="20000"/>
              </a:srgbClr>
            </a:outerShdw>
          </a:effectLst>
        </p:spPr>
        <p:txBody>
          <a:bodyPr/>
          <a:lstStyle/>
          <a:p>
            <a:endParaRPr lang="en-GB"/>
          </a:p>
        </p:txBody>
      </p:sp>
      <p:sp>
        <p:nvSpPr>
          <p:cNvPr id="13" name="Text 9"/>
          <p:cNvSpPr/>
          <p:nvPr/>
        </p:nvSpPr>
        <p:spPr>
          <a:xfrm>
            <a:off x="2404870" y="3886199"/>
            <a:ext cx="2010731" cy="357097"/>
          </a:xfrm>
          <a:prstGeom prst="rect">
            <a:avLst/>
          </a:prstGeom>
          <a:noFill/>
          <a:ln/>
        </p:spPr>
        <p:txBody>
          <a:bodyPr wrap="square" lIns="0" tIns="0" rIns="0" bIns="0" rtlCol="0" anchor="ctr"/>
          <a:lstStyle/>
          <a:p>
            <a:pPr marL="0" indent="0">
              <a:buNone/>
            </a:pPr>
            <a:r>
              <a:rPr lang="en-US" sz="1400" b="1" dirty="0">
                <a:solidFill>
                  <a:srgbClr val="4ECDC4"/>
                </a:solidFill>
                <a:latin typeface="Calibri" pitchFamily="34" charset="0"/>
                <a:ea typeface="Calibri" pitchFamily="34" charset="-122"/>
                <a:cs typeface="Calibri" pitchFamily="34" charset="-120"/>
              </a:rPr>
              <a:t>tmxlite Library</a:t>
            </a:r>
            <a:endParaRPr lang="en-US" sz="1400" dirty="0">
              <a:solidFill>
                <a:srgbClr val="4ECDC4"/>
              </a:solidFill>
            </a:endParaRPr>
          </a:p>
        </p:txBody>
      </p:sp>
      <p:sp>
        <p:nvSpPr>
          <p:cNvPr id="14" name="Text 10"/>
          <p:cNvSpPr/>
          <p:nvPr/>
        </p:nvSpPr>
        <p:spPr>
          <a:xfrm>
            <a:off x="2404870" y="4142232"/>
            <a:ext cx="2010731" cy="726948"/>
          </a:xfrm>
          <a:prstGeom prst="rect">
            <a:avLst/>
          </a:prstGeom>
          <a:noFill/>
          <a:ln/>
        </p:spPr>
        <p:txBody>
          <a:bodyPr wrap="square" lIns="0" tIns="0" rIns="0" bIns="0" rtlCol="0" anchor="ctr"/>
          <a:lstStyle/>
          <a:p>
            <a:pPr marL="0" indent="0">
              <a:buNone/>
            </a:pPr>
            <a:r>
              <a:rPr lang="en-US" sz="1200" dirty="0">
                <a:solidFill>
                  <a:schemeClr val="bg1"/>
                </a:solidFill>
                <a:latin typeface="Calibri" pitchFamily="34" charset="0"/>
                <a:ea typeface="Calibri" pitchFamily="34" charset="-122"/>
                <a:cs typeface="Calibri" pitchFamily="34" charset="-120"/>
              </a:rPr>
              <a:t>Parses .tmx XML at compile time, extracting polygons &amp; rectangles.</a:t>
            </a:r>
            <a:endParaRPr lang="en-US" sz="1200" dirty="0">
              <a:solidFill>
                <a:schemeClr val="bg1"/>
              </a:solidFill>
            </a:endParaRPr>
          </a:p>
        </p:txBody>
      </p:sp>
      <p:sp>
        <p:nvSpPr>
          <p:cNvPr id="15" name="Shape 11"/>
          <p:cNvSpPr/>
          <p:nvPr/>
        </p:nvSpPr>
        <p:spPr>
          <a:xfrm>
            <a:off x="4571998" y="3840480"/>
            <a:ext cx="2168435" cy="1211580"/>
          </a:xfrm>
          <a:prstGeom prst="rect">
            <a:avLst/>
          </a:prstGeom>
          <a:solidFill>
            <a:srgbClr val="1A2744"/>
          </a:solidFill>
          <a:ln w="9525">
            <a:solidFill>
              <a:srgbClr val="4ECDC4"/>
            </a:solidFill>
            <a:prstDash val="solid"/>
          </a:ln>
          <a:effectLst>
            <a:outerShdw blurRad="50800" dist="25400" dir="8100000" algn="bl" rotWithShape="0">
              <a:srgbClr val="000000">
                <a:alpha val="20000"/>
              </a:srgbClr>
            </a:outerShdw>
          </a:effectLst>
        </p:spPr>
        <p:txBody>
          <a:bodyPr/>
          <a:lstStyle/>
          <a:p>
            <a:endParaRPr lang="en-GB"/>
          </a:p>
        </p:txBody>
      </p:sp>
      <p:sp>
        <p:nvSpPr>
          <p:cNvPr id="16" name="Text 12"/>
          <p:cNvSpPr/>
          <p:nvPr/>
        </p:nvSpPr>
        <p:spPr>
          <a:xfrm>
            <a:off x="4645150" y="3886199"/>
            <a:ext cx="2010731" cy="357097"/>
          </a:xfrm>
          <a:prstGeom prst="rect">
            <a:avLst/>
          </a:prstGeom>
          <a:noFill/>
          <a:ln/>
        </p:spPr>
        <p:txBody>
          <a:bodyPr wrap="square" lIns="0" tIns="0" rIns="0" bIns="0" rtlCol="0" anchor="ctr"/>
          <a:lstStyle/>
          <a:p>
            <a:pPr marL="0" indent="0">
              <a:buNone/>
            </a:pPr>
            <a:r>
              <a:rPr lang="en-US" sz="1400" b="1" dirty="0">
                <a:solidFill>
                  <a:srgbClr val="4ECDC4"/>
                </a:solidFill>
                <a:latin typeface="Calibri" pitchFamily="34" charset="0"/>
                <a:ea typeface="Calibri" pitchFamily="34" charset="-122"/>
                <a:cs typeface="Calibri" pitchFamily="34" charset="-120"/>
              </a:rPr>
              <a:t>SAT Collision</a:t>
            </a:r>
            <a:endParaRPr lang="en-US" sz="1400" dirty="0">
              <a:solidFill>
                <a:srgbClr val="4ECDC4"/>
              </a:solidFill>
            </a:endParaRPr>
          </a:p>
        </p:txBody>
      </p:sp>
      <p:sp>
        <p:nvSpPr>
          <p:cNvPr id="17" name="Text 13"/>
          <p:cNvSpPr/>
          <p:nvPr/>
        </p:nvSpPr>
        <p:spPr>
          <a:xfrm>
            <a:off x="4645150" y="4142232"/>
            <a:ext cx="2010731" cy="726948"/>
          </a:xfrm>
          <a:prstGeom prst="rect">
            <a:avLst/>
          </a:prstGeom>
          <a:noFill/>
          <a:ln/>
        </p:spPr>
        <p:txBody>
          <a:bodyPr wrap="square" lIns="0" tIns="0" rIns="0" bIns="0" rtlCol="0" anchor="ctr"/>
          <a:lstStyle/>
          <a:p>
            <a:pPr marL="0" indent="0">
              <a:buNone/>
            </a:pPr>
            <a:r>
              <a:rPr lang="en-US" sz="1200" dirty="0">
                <a:solidFill>
                  <a:schemeClr val="bg1"/>
                </a:solidFill>
                <a:latin typeface="Calibri" pitchFamily="34" charset="0"/>
                <a:ea typeface="Calibri" pitchFamily="34" charset="-122"/>
                <a:cs typeface="Calibri" pitchFamily="34" charset="-120"/>
              </a:rPr>
              <a:t>CollisionManager uses Separating Axis Theorem (SAT). “Does this vector overlap this one?”.</a:t>
            </a:r>
            <a:endParaRPr lang="en-US" sz="1200" dirty="0">
              <a:solidFill>
                <a:schemeClr val="bg1"/>
              </a:solidFill>
            </a:endParaRPr>
          </a:p>
        </p:txBody>
      </p:sp>
      <p:sp>
        <p:nvSpPr>
          <p:cNvPr id="18" name="Shape 14"/>
          <p:cNvSpPr/>
          <p:nvPr/>
        </p:nvSpPr>
        <p:spPr>
          <a:xfrm>
            <a:off x="6812278" y="3840480"/>
            <a:ext cx="2168435" cy="1211580"/>
          </a:xfrm>
          <a:prstGeom prst="rect">
            <a:avLst/>
          </a:prstGeom>
          <a:solidFill>
            <a:srgbClr val="1A2744"/>
          </a:solidFill>
          <a:ln w="9525">
            <a:solidFill>
              <a:srgbClr val="4ECDC4"/>
            </a:solidFill>
            <a:prstDash val="solid"/>
          </a:ln>
          <a:effectLst>
            <a:outerShdw blurRad="50800" dist="25400" dir="8100000" algn="bl" rotWithShape="0">
              <a:srgbClr val="000000">
                <a:alpha val="20000"/>
              </a:srgbClr>
            </a:outerShdw>
          </a:effectLst>
        </p:spPr>
        <p:txBody>
          <a:bodyPr/>
          <a:lstStyle/>
          <a:p>
            <a:endParaRPr lang="en-GB"/>
          </a:p>
        </p:txBody>
      </p:sp>
      <p:sp>
        <p:nvSpPr>
          <p:cNvPr id="19" name="Text 15"/>
          <p:cNvSpPr/>
          <p:nvPr/>
        </p:nvSpPr>
        <p:spPr>
          <a:xfrm>
            <a:off x="6885430" y="3886199"/>
            <a:ext cx="2010731" cy="357097"/>
          </a:xfrm>
          <a:prstGeom prst="rect">
            <a:avLst/>
          </a:prstGeom>
          <a:noFill/>
          <a:ln/>
        </p:spPr>
        <p:txBody>
          <a:bodyPr wrap="square" lIns="0" tIns="0" rIns="0" bIns="0" rtlCol="0" anchor="ctr"/>
          <a:lstStyle/>
          <a:p>
            <a:pPr marL="0" indent="0">
              <a:buNone/>
            </a:pPr>
            <a:r>
              <a:rPr lang="en-US" sz="1400" b="1" dirty="0">
                <a:solidFill>
                  <a:srgbClr val="4ECDC4"/>
                </a:solidFill>
                <a:latin typeface="Calibri" pitchFamily="34" charset="0"/>
                <a:ea typeface="Calibri" pitchFamily="34" charset="-122"/>
                <a:cs typeface="Calibri" pitchFamily="34" charset="-120"/>
              </a:rPr>
              <a:t>Flyweight Pattern</a:t>
            </a:r>
            <a:endParaRPr lang="en-US" sz="1400" dirty="0">
              <a:solidFill>
                <a:srgbClr val="4ECDC4"/>
              </a:solidFill>
            </a:endParaRPr>
          </a:p>
        </p:txBody>
      </p:sp>
      <p:sp>
        <p:nvSpPr>
          <p:cNvPr id="20" name="Text 16"/>
          <p:cNvSpPr/>
          <p:nvPr/>
        </p:nvSpPr>
        <p:spPr>
          <a:xfrm>
            <a:off x="6885430" y="4142232"/>
            <a:ext cx="2010731" cy="726948"/>
          </a:xfrm>
          <a:prstGeom prst="rect">
            <a:avLst/>
          </a:prstGeom>
          <a:noFill/>
          <a:ln/>
        </p:spPr>
        <p:txBody>
          <a:bodyPr wrap="square" lIns="0" tIns="0" rIns="0" bIns="0" rtlCol="0" anchor="ctr"/>
          <a:lstStyle/>
          <a:p>
            <a:pPr marL="0" indent="0">
              <a:buNone/>
            </a:pPr>
            <a:r>
              <a:rPr lang="en-US" sz="1200" dirty="0">
                <a:solidFill>
                  <a:schemeClr val="bg1"/>
                </a:solidFill>
                <a:latin typeface="Calibri" pitchFamily="34" charset="0"/>
                <a:ea typeface="Calibri" pitchFamily="34" charset="-122"/>
                <a:cs typeface="Calibri" pitchFamily="34" charset="-120"/>
              </a:rPr>
              <a:t>Multiple objects reference the same data table for collision, not given individual ones.</a:t>
            </a:r>
            <a:endParaRPr lang="en-US" sz="1200" dirty="0">
              <a:solidFill>
                <a:schemeClr val="bg1"/>
              </a:solidFill>
            </a:endParaRPr>
          </a:p>
        </p:txBody>
      </p:sp>
      <p:sp>
        <p:nvSpPr>
          <p:cNvPr id="23" name="Shape 1">
            <a:extLst>
              <a:ext uri="{FF2B5EF4-FFF2-40B4-BE49-F238E27FC236}">
                <a16:creationId xmlns:a16="http://schemas.microsoft.com/office/drawing/2014/main" id="{7C31A312-0305-E8DE-BB91-636E03E81EA8}"/>
              </a:ext>
            </a:extLst>
          </p:cNvPr>
          <p:cNvSpPr/>
          <p:nvPr/>
        </p:nvSpPr>
        <p:spPr>
          <a:xfrm>
            <a:off x="0" y="0"/>
            <a:ext cx="9144000" cy="64008"/>
          </a:xfrm>
          <a:prstGeom prst="rect">
            <a:avLst/>
          </a:prstGeom>
          <a:solidFill>
            <a:srgbClr val="4ECDC4"/>
          </a:solidFill>
          <a:ln w="12700">
            <a:solidFill>
              <a:srgbClr val="4ECDC4"/>
            </a:solidFill>
            <a:prstDash val="solid"/>
          </a:ln>
        </p:spPr>
        <p:txBody>
          <a:bodyPr/>
          <a:lstStyle/>
          <a:p>
            <a:endParaRPr lang="en-GB"/>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111827"/>
        </a:solidFill>
        <a:effectLst/>
      </p:bgPr>
    </p:bg>
    <p:spTree>
      <p:nvGrpSpPr>
        <p:cNvPr id="1" name=""/>
        <p:cNvGrpSpPr/>
        <p:nvPr/>
      </p:nvGrpSpPr>
      <p:grpSpPr>
        <a:xfrm>
          <a:off x="0" y="0"/>
          <a:ext cx="0" cy="0"/>
          <a:chOff x="0" y="0"/>
          <a:chExt cx="0" cy="0"/>
        </a:xfrm>
      </p:grpSpPr>
      <p:sp>
        <p:nvSpPr>
          <p:cNvPr id="52" name="Shape 3">
            <a:extLst>
              <a:ext uri="{FF2B5EF4-FFF2-40B4-BE49-F238E27FC236}">
                <a16:creationId xmlns:a16="http://schemas.microsoft.com/office/drawing/2014/main" id="{0842A5EA-7281-1D08-3E8D-305B3FF9345C}"/>
              </a:ext>
            </a:extLst>
          </p:cNvPr>
          <p:cNvSpPr/>
          <p:nvPr/>
        </p:nvSpPr>
        <p:spPr>
          <a:xfrm>
            <a:off x="109728" y="3349970"/>
            <a:ext cx="5029200" cy="914400"/>
          </a:xfrm>
          <a:prstGeom prst="rect">
            <a:avLst/>
          </a:prstGeom>
          <a:solidFill>
            <a:srgbClr val="1A2744"/>
          </a:solidFill>
          <a:ln w="12700">
            <a:solidFill>
              <a:srgbClr val="4ECDC4"/>
            </a:solidFill>
            <a:prstDash val="solid"/>
          </a:ln>
          <a:effectLst>
            <a:outerShdw blurRad="63500" dist="25400" dir="8100000" algn="bl" rotWithShape="0">
              <a:srgbClr val="000000">
                <a:alpha val="20000"/>
              </a:srgbClr>
            </a:outerShdw>
          </a:effectLst>
        </p:spPr>
        <p:txBody>
          <a:bodyPr/>
          <a:lstStyle/>
          <a:p>
            <a:endParaRPr lang="en-GB"/>
          </a:p>
        </p:txBody>
      </p:sp>
      <p:sp>
        <p:nvSpPr>
          <p:cNvPr id="51" name="Shape 3">
            <a:extLst>
              <a:ext uri="{FF2B5EF4-FFF2-40B4-BE49-F238E27FC236}">
                <a16:creationId xmlns:a16="http://schemas.microsoft.com/office/drawing/2014/main" id="{4EBE9113-4BB9-69AC-757F-3084034424AA}"/>
              </a:ext>
            </a:extLst>
          </p:cNvPr>
          <p:cNvSpPr/>
          <p:nvPr/>
        </p:nvSpPr>
        <p:spPr>
          <a:xfrm>
            <a:off x="109728" y="2350008"/>
            <a:ext cx="5029200" cy="914400"/>
          </a:xfrm>
          <a:prstGeom prst="rect">
            <a:avLst/>
          </a:prstGeom>
          <a:solidFill>
            <a:srgbClr val="1A2744"/>
          </a:solidFill>
          <a:ln w="12700">
            <a:solidFill>
              <a:srgbClr val="4ECDC4"/>
            </a:solidFill>
            <a:prstDash val="solid"/>
          </a:ln>
          <a:effectLst>
            <a:outerShdw blurRad="63500" dist="25400" dir="8100000" algn="bl" rotWithShape="0">
              <a:srgbClr val="000000">
                <a:alpha val="20000"/>
              </a:srgbClr>
            </a:outerShdw>
          </a:effectLst>
        </p:spPr>
        <p:txBody>
          <a:bodyPr/>
          <a:lstStyle/>
          <a:p>
            <a:endParaRPr lang="en-GB"/>
          </a:p>
        </p:txBody>
      </p:sp>
      <p:sp>
        <p:nvSpPr>
          <p:cNvPr id="2" name="Shape 0"/>
          <p:cNvSpPr/>
          <p:nvPr/>
        </p:nvSpPr>
        <p:spPr>
          <a:xfrm>
            <a:off x="0" y="0"/>
            <a:ext cx="9144000" cy="731520"/>
          </a:xfrm>
          <a:prstGeom prst="rect">
            <a:avLst/>
          </a:prstGeom>
          <a:solidFill>
            <a:srgbClr val="0A0F1E"/>
          </a:solidFill>
          <a:ln w="12700">
            <a:solidFill>
              <a:srgbClr val="0A0F1E"/>
            </a:solidFill>
            <a:prstDash val="solid"/>
          </a:ln>
        </p:spPr>
        <p:txBody>
          <a:bodyPr/>
          <a:lstStyle/>
          <a:p>
            <a:endParaRPr lang="en-GB"/>
          </a:p>
        </p:txBody>
      </p:sp>
      <p:sp>
        <p:nvSpPr>
          <p:cNvPr id="3" name="Shape 1"/>
          <p:cNvSpPr/>
          <p:nvPr/>
        </p:nvSpPr>
        <p:spPr>
          <a:xfrm>
            <a:off x="0" y="0"/>
            <a:ext cx="9144000" cy="64008"/>
          </a:xfrm>
          <a:prstGeom prst="rect">
            <a:avLst/>
          </a:prstGeom>
          <a:solidFill>
            <a:srgbClr val="4ECDC4"/>
          </a:solidFill>
          <a:ln w="12700">
            <a:solidFill>
              <a:srgbClr val="4ECDC4"/>
            </a:solidFill>
            <a:prstDash val="solid"/>
          </a:ln>
        </p:spPr>
        <p:txBody>
          <a:bodyPr/>
          <a:lstStyle/>
          <a:p>
            <a:endParaRPr lang="en-GB">
              <a:solidFill>
                <a:srgbClr val="4ECDC4"/>
              </a:solidFill>
            </a:endParaRPr>
          </a:p>
        </p:txBody>
      </p:sp>
      <p:sp>
        <p:nvSpPr>
          <p:cNvPr id="4" name="Text 2"/>
          <p:cNvSpPr/>
          <p:nvPr/>
        </p:nvSpPr>
        <p:spPr>
          <a:xfrm>
            <a:off x="274320" y="91440"/>
            <a:ext cx="8229600" cy="548640"/>
          </a:xfrm>
          <a:prstGeom prst="rect">
            <a:avLst/>
          </a:prstGeom>
          <a:noFill/>
          <a:ln/>
        </p:spPr>
        <p:txBody>
          <a:bodyPr wrap="square" lIns="0" tIns="0" rIns="0" bIns="0" rtlCol="0" anchor="ctr"/>
          <a:lstStyle/>
          <a:p>
            <a:pPr marL="0" indent="0">
              <a:buNone/>
            </a:pPr>
            <a:r>
              <a:rPr lang="en-US" sz="2000" b="1" dirty="0">
                <a:solidFill>
                  <a:srgbClr val="EAEAEA"/>
                </a:solidFill>
                <a:latin typeface="Calibri" pitchFamily="34" charset="0"/>
                <a:ea typeface="Calibri" pitchFamily="34" charset="-122"/>
                <a:cs typeface="Calibri" pitchFamily="34" charset="-120"/>
              </a:rPr>
              <a:t>VORONOI: UPDATED GENERATION</a:t>
            </a:r>
            <a:endParaRPr lang="en-US" sz="2000" dirty="0"/>
          </a:p>
        </p:txBody>
      </p:sp>
      <p:sp>
        <p:nvSpPr>
          <p:cNvPr id="5" name="Shape 3"/>
          <p:cNvSpPr/>
          <p:nvPr/>
        </p:nvSpPr>
        <p:spPr>
          <a:xfrm>
            <a:off x="109728" y="1324574"/>
            <a:ext cx="5029200" cy="914400"/>
          </a:xfrm>
          <a:prstGeom prst="rect">
            <a:avLst/>
          </a:prstGeom>
          <a:solidFill>
            <a:srgbClr val="1A2744"/>
          </a:solidFill>
          <a:ln w="12700">
            <a:solidFill>
              <a:srgbClr val="4ECDC4"/>
            </a:solidFill>
            <a:prstDash val="solid"/>
          </a:ln>
          <a:effectLst>
            <a:outerShdw blurRad="63500" dist="25400" dir="8100000" algn="bl" rotWithShape="0">
              <a:srgbClr val="000000">
                <a:alpha val="20000"/>
              </a:srgbClr>
            </a:outerShdw>
          </a:effectLst>
        </p:spPr>
        <p:txBody>
          <a:bodyPr/>
          <a:lstStyle/>
          <a:p>
            <a:endParaRPr lang="en-GB"/>
          </a:p>
        </p:txBody>
      </p:sp>
      <p:sp>
        <p:nvSpPr>
          <p:cNvPr id="6" name="Shape 4"/>
          <p:cNvSpPr/>
          <p:nvPr/>
        </p:nvSpPr>
        <p:spPr>
          <a:xfrm>
            <a:off x="109728" y="1324574"/>
            <a:ext cx="82296" cy="914400"/>
          </a:xfrm>
          <a:prstGeom prst="rect">
            <a:avLst/>
          </a:prstGeom>
          <a:solidFill>
            <a:srgbClr val="4ECDC4"/>
          </a:solidFill>
          <a:ln w="12700">
            <a:solidFill>
              <a:srgbClr val="4ECDC4"/>
            </a:solidFill>
            <a:prstDash val="solid"/>
          </a:ln>
        </p:spPr>
        <p:txBody>
          <a:bodyPr/>
          <a:lstStyle/>
          <a:p>
            <a:endParaRPr lang="en-GB"/>
          </a:p>
        </p:txBody>
      </p:sp>
      <p:sp>
        <p:nvSpPr>
          <p:cNvPr id="7" name="Text 5"/>
          <p:cNvSpPr/>
          <p:nvPr/>
        </p:nvSpPr>
        <p:spPr>
          <a:xfrm>
            <a:off x="265176" y="1388582"/>
            <a:ext cx="4754880" cy="292608"/>
          </a:xfrm>
          <a:prstGeom prst="rect">
            <a:avLst/>
          </a:prstGeom>
          <a:noFill/>
          <a:ln/>
        </p:spPr>
        <p:txBody>
          <a:bodyPr wrap="square" lIns="0" tIns="0" rIns="0" bIns="0" rtlCol="0" anchor="ctr"/>
          <a:lstStyle/>
          <a:p>
            <a:pPr marL="0" indent="0">
              <a:buNone/>
            </a:pPr>
            <a:r>
              <a:rPr lang="en-US" sz="1300" b="1" dirty="0">
                <a:solidFill>
                  <a:srgbClr val="EAEAEA"/>
                </a:solidFill>
                <a:latin typeface="Calibri" pitchFamily="34" charset="0"/>
                <a:ea typeface="Calibri" pitchFamily="34" charset="-122"/>
                <a:cs typeface="Calibri" pitchFamily="34" charset="-120"/>
              </a:rPr>
              <a:t>Auto Site Spacing</a:t>
            </a:r>
            <a:endParaRPr lang="en-US" sz="1300" dirty="0"/>
          </a:p>
        </p:txBody>
      </p:sp>
      <p:sp>
        <p:nvSpPr>
          <p:cNvPr id="8" name="Text 6"/>
          <p:cNvSpPr/>
          <p:nvPr/>
        </p:nvSpPr>
        <p:spPr>
          <a:xfrm>
            <a:off x="265176" y="1690334"/>
            <a:ext cx="4754880" cy="457200"/>
          </a:xfrm>
          <a:prstGeom prst="rect">
            <a:avLst/>
          </a:prstGeom>
          <a:noFill/>
          <a:ln/>
        </p:spPr>
        <p:txBody>
          <a:bodyPr wrap="square" lIns="0" tIns="0" rIns="0" bIns="0" rtlCol="0" anchor="ctr"/>
          <a:lstStyle/>
          <a:p>
            <a:pPr marL="0" indent="0">
              <a:buNone/>
            </a:pPr>
            <a:r>
              <a:rPr lang="en-US" sz="1050" dirty="0">
                <a:solidFill>
                  <a:schemeClr val="bg1"/>
                </a:solidFill>
                <a:latin typeface="Calibri" pitchFamily="34" charset="0"/>
                <a:ea typeface="Calibri" pitchFamily="34" charset="-122"/>
                <a:cs typeface="Calibri" pitchFamily="34" charset="-120"/>
              </a:rPr>
              <a:t>Sites will now auto space the distance needed between them. </a:t>
            </a:r>
            <a:r>
              <a:rPr lang="en-US" sz="1050" dirty="0" err="1">
                <a:solidFill>
                  <a:schemeClr val="bg1"/>
                </a:solidFill>
                <a:latin typeface="Calibri" pitchFamily="34" charset="0"/>
                <a:ea typeface="Calibri" pitchFamily="34" charset="-122"/>
                <a:cs typeface="Calibri" pitchFamily="34" charset="-120"/>
              </a:rPr>
              <a:t>i.e</a:t>
            </a:r>
            <a:r>
              <a:rPr lang="en-US" sz="1050" dirty="0">
                <a:solidFill>
                  <a:schemeClr val="bg1"/>
                </a:solidFill>
                <a:latin typeface="Calibri" pitchFamily="34" charset="0"/>
                <a:ea typeface="Calibri" pitchFamily="34" charset="-122"/>
                <a:cs typeface="Calibri" pitchFamily="34" charset="-120"/>
              </a:rPr>
              <a:t> (Map is X big and to use 5 sites, divide into 5 sections accordingly.) </a:t>
            </a:r>
            <a:endParaRPr lang="en-US" sz="1050" dirty="0">
              <a:solidFill>
                <a:schemeClr val="bg1"/>
              </a:solidFill>
            </a:endParaRPr>
          </a:p>
        </p:txBody>
      </p:sp>
      <p:sp>
        <p:nvSpPr>
          <p:cNvPr id="11" name="Text 9"/>
          <p:cNvSpPr/>
          <p:nvPr/>
        </p:nvSpPr>
        <p:spPr>
          <a:xfrm>
            <a:off x="265176" y="2412710"/>
            <a:ext cx="4754880" cy="292608"/>
          </a:xfrm>
          <a:prstGeom prst="rect">
            <a:avLst/>
          </a:prstGeom>
          <a:noFill/>
          <a:ln/>
        </p:spPr>
        <p:txBody>
          <a:bodyPr wrap="square" lIns="0" tIns="0" rIns="0" bIns="0" rtlCol="0" anchor="ctr"/>
          <a:lstStyle/>
          <a:p>
            <a:pPr marL="0" indent="0">
              <a:buNone/>
            </a:pPr>
            <a:r>
              <a:rPr lang="en-US" sz="1300" b="1" dirty="0">
                <a:solidFill>
                  <a:srgbClr val="EAEAEA"/>
                </a:solidFill>
                <a:latin typeface="Calibri" pitchFamily="34" charset="0"/>
                <a:ea typeface="Calibri" pitchFamily="34" charset="-122"/>
                <a:cs typeface="Calibri" pitchFamily="34" charset="-120"/>
              </a:rPr>
              <a:t>Full Map Coverage</a:t>
            </a:r>
            <a:endParaRPr lang="en-US" sz="1300" dirty="0"/>
          </a:p>
        </p:txBody>
      </p:sp>
      <p:sp>
        <p:nvSpPr>
          <p:cNvPr id="12" name="Text 10"/>
          <p:cNvSpPr/>
          <p:nvPr/>
        </p:nvSpPr>
        <p:spPr>
          <a:xfrm>
            <a:off x="265176" y="2714462"/>
            <a:ext cx="4754880" cy="457200"/>
          </a:xfrm>
          <a:prstGeom prst="rect">
            <a:avLst/>
          </a:prstGeom>
          <a:noFill/>
          <a:ln/>
        </p:spPr>
        <p:txBody>
          <a:bodyPr wrap="square" lIns="0" tIns="0" rIns="0" bIns="0" rtlCol="0" anchor="ctr"/>
          <a:lstStyle/>
          <a:p>
            <a:pPr marL="0" indent="0">
              <a:buNone/>
            </a:pPr>
            <a:r>
              <a:rPr lang="en-US" sz="1050" dirty="0">
                <a:solidFill>
                  <a:schemeClr val="bg1"/>
                </a:solidFill>
                <a:latin typeface="Calibri" pitchFamily="34" charset="0"/>
                <a:ea typeface="Calibri" pitchFamily="34" charset="-122"/>
                <a:cs typeface="Calibri" pitchFamily="34" charset="-120"/>
              </a:rPr>
              <a:t>Sites used to only cover small, unscaled, sections of the map, now more tiles are assigned to a site region. (</a:t>
            </a:r>
            <a:r>
              <a:rPr lang="en-US" sz="1050" dirty="0" err="1">
                <a:solidFill>
                  <a:schemeClr val="bg1"/>
                </a:solidFill>
                <a:latin typeface="Calibri" pitchFamily="34" charset="0"/>
                <a:ea typeface="Calibri" pitchFamily="34" charset="-122"/>
                <a:cs typeface="Calibri" pitchFamily="34" charset="-120"/>
              </a:rPr>
              <a:t>I.e</a:t>
            </a:r>
            <a:r>
              <a:rPr lang="en-US" sz="1050" dirty="0">
                <a:solidFill>
                  <a:schemeClr val="bg1"/>
                </a:solidFill>
                <a:latin typeface="Calibri" pitchFamily="34" charset="0"/>
                <a:ea typeface="Calibri" pitchFamily="34" charset="-122"/>
                <a:cs typeface="Calibri" pitchFamily="34" charset="-120"/>
              </a:rPr>
              <a:t> 2 sites split map into 2 sections now)</a:t>
            </a:r>
            <a:endParaRPr lang="en-US" sz="1050" dirty="0">
              <a:solidFill>
                <a:schemeClr val="bg1"/>
              </a:solidFill>
            </a:endParaRPr>
          </a:p>
        </p:txBody>
      </p:sp>
      <p:sp>
        <p:nvSpPr>
          <p:cNvPr id="15" name="Text 13"/>
          <p:cNvSpPr/>
          <p:nvPr/>
        </p:nvSpPr>
        <p:spPr>
          <a:xfrm>
            <a:off x="265176" y="3436838"/>
            <a:ext cx="4754880" cy="292608"/>
          </a:xfrm>
          <a:prstGeom prst="rect">
            <a:avLst/>
          </a:prstGeom>
          <a:noFill/>
          <a:ln/>
        </p:spPr>
        <p:txBody>
          <a:bodyPr wrap="square" lIns="0" tIns="0" rIns="0" bIns="0" rtlCol="0" anchor="ctr"/>
          <a:lstStyle/>
          <a:p>
            <a:pPr marL="0" indent="0">
              <a:buNone/>
            </a:pPr>
            <a:r>
              <a:rPr lang="en-US" sz="1300" b="1" dirty="0">
                <a:solidFill>
                  <a:srgbClr val="EAEAEA"/>
                </a:solidFill>
                <a:latin typeface="Calibri" pitchFamily="34" charset="0"/>
                <a:ea typeface="Calibri" pitchFamily="34" charset="-122"/>
                <a:cs typeface="Calibri" pitchFamily="34" charset="-120"/>
              </a:rPr>
              <a:t>POIs Spawn Far From Player</a:t>
            </a:r>
            <a:endParaRPr lang="en-US" sz="1300" dirty="0"/>
          </a:p>
        </p:txBody>
      </p:sp>
      <p:sp>
        <p:nvSpPr>
          <p:cNvPr id="16" name="Text 14"/>
          <p:cNvSpPr/>
          <p:nvPr/>
        </p:nvSpPr>
        <p:spPr>
          <a:xfrm>
            <a:off x="265176" y="3738590"/>
            <a:ext cx="4754880" cy="457200"/>
          </a:xfrm>
          <a:prstGeom prst="rect">
            <a:avLst/>
          </a:prstGeom>
          <a:noFill/>
          <a:ln/>
        </p:spPr>
        <p:txBody>
          <a:bodyPr wrap="square" lIns="0" tIns="0" rIns="0" bIns="0" rtlCol="0" anchor="ctr"/>
          <a:lstStyle/>
          <a:p>
            <a:pPr marL="0" indent="0">
              <a:buNone/>
            </a:pPr>
            <a:r>
              <a:rPr lang="en-US" sz="1050" dirty="0">
                <a:solidFill>
                  <a:schemeClr val="bg1"/>
                </a:solidFill>
                <a:latin typeface="Calibri" pitchFamily="34" charset="0"/>
                <a:ea typeface="Calibri" pitchFamily="34" charset="-122"/>
                <a:cs typeface="Calibri" pitchFamily="34" charset="-120"/>
              </a:rPr>
              <a:t>Voronoi sites are sorted by distance from the hideout before POI assignment — Villages and Farms spawn at furthest possible points.</a:t>
            </a:r>
            <a:endParaRPr lang="en-US" sz="1050" dirty="0">
              <a:solidFill>
                <a:schemeClr val="bg1"/>
              </a:solidFill>
            </a:endParaRPr>
          </a:p>
        </p:txBody>
      </p:sp>
      <p:pic>
        <p:nvPicPr>
          <p:cNvPr id="49" name="Picture 48">
            <a:extLst>
              <a:ext uri="{FF2B5EF4-FFF2-40B4-BE49-F238E27FC236}">
                <a16:creationId xmlns:a16="http://schemas.microsoft.com/office/drawing/2014/main" id="{3512FDF5-376D-CE7C-C952-E4BAF0B6A355}"/>
              </a:ext>
            </a:extLst>
          </p:cNvPr>
          <p:cNvPicPr>
            <a:picLocks noChangeAspect="1"/>
          </p:cNvPicPr>
          <p:nvPr/>
        </p:nvPicPr>
        <p:blipFill>
          <a:blip r:embed="rId3"/>
          <a:stretch>
            <a:fillRect/>
          </a:stretch>
        </p:blipFill>
        <p:spPr>
          <a:xfrm>
            <a:off x="5309617" y="1760934"/>
            <a:ext cx="3720083" cy="2092547"/>
          </a:xfrm>
          <a:prstGeom prst="rect">
            <a:avLst/>
          </a:prstGeom>
        </p:spPr>
      </p:pic>
      <p:sp>
        <p:nvSpPr>
          <p:cNvPr id="50" name="Shape 4">
            <a:extLst>
              <a:ext uri="{FF2B5EF4-FFF2-40B4-BE49-F238E27FC236}">
                <a16:creationId xmlns:a16="http://schemas.microsoft.com/office/drawing/2014/main" id="{56E75481-B0E0-2FA8-E88E-7D24BE38FB73}"/>
              </a:ext>
            </a:extLst>
          </p:cNvPr>
          <p:cNvSpPr/>
          <p:nvPr/>
        </p:nvSpPr>
        <p:spPr>
          <a:xfrm>
            <a:off x="109728" y="2350008"/>
            <a:ext cx="82296" cy="914400"/>
          </a:xfrm>
          <a:prstGeom prst="rect">
            <a:avLst/>
          </a:prstGeom>
          <a:solidFill>
            <a:srgbClr val="4ECDC4"/>
          </a:solidFill>
          <a:ln w="12700">
            <a:solidFill>
              <a:srgbClr val="4ECDC4"/>
            </a:solidFill>
            <a:prstDash val="solid"/>
          </a:ln>
        </p:spPr>
        <p:txBody>
          <a:bodyPr/>
          <a:lstStyle/>
          <a:p>
            <a:endParaRPr lang="en-GB"/>
          </a:p>
        </p:txBody>
      </p:sp>
      <p:sp>
        <p:nvSpPr>
          <p:cNvPr id="54" name="Shape 4">
            <a:extLst>
              <a:ext uri="{FF2B5EF4-FFF2-40B4-BE49-F238E27FC236}">
                <a16:creationId xmlns:a16="http://schemas.microsoft.com/office/drawing/2014/main" id="{049BD01E-74F8-794B-DF28-77815CF3D44E}"/>
              </a:ext>
            </a:extLst>
          </p:cNvPr>
          <p:cNvSpPr/>
          <p:nvPr/>
        </p:nvSpPr>
        <p:spPr>
          <a:xfrm>
            <a:off x="114300" y="3349970"/>
            <a:ext cx="82296" cy="914400"/>
          </a:xfrm>
          <a:prstGeom prst="rect">
            <a:avLst/>
          </a:prstGeom>
          <a:solidFill>
            <a:srgbClr val="4ECDC4"/>
          </a:solidFill>
          <a:ln w="12700">
            <a:solidFill>
              <a:srgbClr val="4ECDC4"/>
            </a:solidFill>
            <a:prstDash val="solid"/>
          </a:ln>
        </p:spPr>
        <p:txBody>
          <a:bodyPr/>
          <a:lstStyle/>
          <a:p>
            <a:endParaRPr lang="en-GB"/>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0D0D1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0A0F1E"/>
          </a:solidFill>
          <a:ln w="12700">
            <a:solidFill>
              <a:srgbClr val="0A0F1E"/>
            </a:solidFill>
            <a:prstDash val="solid"/>
          </a:ln>
        </p:spPr>
        <p:txBody>
          <a:bodyPr/>
          <a:lstStyle/>
          <a:p>
            <a:endParaRPr lang="en-GB"/>
          </a:p>
        </p:txBody>
      </p:sp>
      <p:sp>
        <p:nvSpPr>
          <p:cNvPr id="3" name="Shape 1"/>
          <p:cNvSpPr/>
          <p:nvPr/>
        </p:nvSpPr>
        <p:spPr>
          <a:xfrm>
            <a:off x="0" y="0"/>
            <a:ext cx="9144000" cy="64008"/>
          </a:xfrm>
          <a:prstGeom prst="rect">
            <a:avLst/>
          </a:prstGeom>
          <a:solidFill>
            <a:srgbClr val="4ECDC4"/>
          </a:solidFill>
          <a:ln w="12700">
            <a:solidFill>
              <a:srgbClr val="4ECDC4"/>
            </a:solidFill>
            <a:prstDash val="solid"/>
          </a:ln>
        </p:spPr>
        <p:txBody>
          <a:bodyPr/>
          <a:lstStyle/>
          <a:p>
            <a:endParaRPr lang="en-GB"/>
          </a:p>
        </p:txBody>
      </p:sp>
      <p:sp>
        <p:nvSpPr>
          <p:cNvPr id="4" name="Text 2"/>
          <p:cNvSpPr/>
          <p:nvPr/>
        </p:nvSpPr>
        <p:spPr>
          <a:xfrm>
            <a:off x="274320" y="91440"/>
            <a:ext cx="8229600" cy="548640"/>
          </a:xfrm>
          <a:prstGeom prst="rect">
            <a:avLst/>
          </a:prstGeom>
          <a:noFill/>
          <a:ln/>
        </p:spPr>
        <p:txBody>
          <a:bodyPr wrap="square" lIns="0" tIns="0" rIns="0" bIns="0" rtlCol="0" anchor="ctr"/>
          <a:lstStyle/>
          <a:p>
            <a:pPr marL="0" indent="0">
              <a:buNone/>
            </a:pPr>
            <a:r>
              <a:rPr lang="en-US" sz="2000" b="1" dirty="0">
                <a:solidFill>
                  <a:srgbClr val="EAEAEA"/>
                </a:solidFill>
                <a:latin typeface="Calibri" pitchFamily="34" charset="0"/>
                <a:ea typeface="Calibri" pitchFamily="34" charset="-122"/>
                <a:cs typeface="Calibri" pitchFamily="34" charset="-120"/>
              </a:rPr>
              <a:t>HUD SYSTEM — PLAYER STATS</a:t>
            </a:r>
            <a:endParaRPr lang="en-US" sz="2000" dirty="0"/>
          </a:p>
        </p:txBody>
      </p:sp>
      <p:sp>
        <p:nvSpPr>
          <p:cNvPr id="8" name="Shape 5"/>
          <p:cNvSpPr/>
          <p:nvPr/>
        </p:nvSpPr>
        <p:spPr>
          <a:xfrm>
            <a:off x="228600" y="960120"/>
            <a:ext cx="3657600" cy="804672"/>
          </a:xfrm>
          <a:prstGeom prst="rect">
            <a:avLst/>
          </a:prstGeom>
          <a:solidFill>
            <a:srgbClr val="1A2744"/>
          </a:solidFill>
          <a:ln w="12700">
            <a:solidFill>
              <a:srgbClr val="E74C3C"/>
            </a:solidFill>
            <a:prstDash val="solid"/>
          </a:ln>
          <a:effectLst>
            <a:outerShdw blurRad="50800" dist="25400" dir="8100000" algn="bl" rotWithShape="0">
              <a:srgbClr val="000000">
                <a:alpha val="20000"/>
              </a:srgbClr>
            </a:outerShdw>
          </a:effectLst>
        </p:spPr>
        <p:txBody>
          <a:bodyPr/>
          <a:lstStyle/>
          <a:p>
            <a:endParaRPr lang="en-GB"/>
          </a:p>
        </p:txBody>
      </p:sp>
      <p:sp>
        <p:nvSpPr>
          <p:cNvPr id="9" name="Shape 6"/>
          <p:cNvSpPr/>
          <p:nvPr/>
        </p:nvSpPr>
        <p:spPr>
          <a:xfrm>
            <a:off x="228600" y="960120"/>
            <a:ext cx="502920" cy="804672"/>
          </a:xfrm>
          <a:prstGeom prst="rect">
            <a:avLst/>
          </a:prstGeom>
          <a:solidFill>
            <a:srgbClr val="E74C3C"/>
          </a:solidFill>
          <a:ln w="12700">
            <a:solidFill>
              <a:srgbClr val="E74C3C"/>
            </a:solidFill>
            <a:prstDash val="solid"/>
          </a:ln>
        </p:spPr>
        <p:txBody>
          <a:bodyPr/>
          <a:lstStyle/>
          <a:p>
            <a:endParaRPr lang="en-GB"/>
          </a:p>
        </p:txBody>
      </p:sp>
      <p:sp>
        <p:nvSpPr>
          <p:cNvPr id="10" name="Text 7"/>
          <p:cNvSpPr/>
          <p:nvPr/>
        </p:nvSpPr>
        <p:spPr>
          <a:xfrm>
            <a:off x="228600" y="1124712"/>
            <a:ext cx="502920" cy="365760"/>
          </a:xfrm>
          <a:prstGeom prst="rect">
            <a:avLst/>
          </a:prstGeom>
          <a:noFill/>
          <a:ln/>
        </p:spPr>
        <p:txBody>
          <a:bodyPr wrap="square" lIns="0" tIns="0" rIns="0" bIns="0" rtlCol="0" anchor="ctr"/>
          <a:lstStyle/>
          <a:p>
            <a:pPr marL="0" indent="0" algn="ctr">
              <a:buNone/>
            </a:pPr>
            <a:r>
              <a:rPr lang="en-US" sz="1400" b="1" dirty="0">
                <a:solidFill>
                  <a:srgbClr val="111827"/>
                </a:solidFill>
                <a:latin typeface="Calibri" pitchFamily="34" charset="0"/>
                <a:ea typeface="Calibri" pitchFamily="34" charset="-122"/>
                <a:cs typeface="Calibri" pitchFamily="34" charset="-120"/>
              </a:rPr>
              <a:t>HP</a:t>
            </a:r>
            <a:endParaRPr lang="en-US" sz="1400" dirty="0"/>
          </a:p>
        </p:txBody>
      </p:sp>
      <p:sp>
        <p:nvSpPr>
          <p:cNvPr id="11" name="Text 8"/>
          <p:cNvSpPr/>
          <p:nvPr/>
        </p:nvSpPr>
        <p:spPr>
          <a:xfrm>
            <a:off x="822960" y="996696"/>
            <a:ext cx="1828800" cy="256032"/>
          </a:xfrm>
          <a:prstGeom prst="rect">
            <a:avLst/>
          </a:prstGeom>
          <a:noFill/>
          <a:ln/>
        </p:spPr>
        <p:txBody>
          <a:bodyPr wrap="square" lIns="0" tIns="0" rIns="0" bIns="0" rtlCol="0" anchor="ctr"/>
          <a:lstStyle/>
          <a:p>
            <a:pPr marL="0" indent="0">
              <a:buNone/>
            </a:pPr>
            <a:r>
              <a:rPr lang="en-US" sz="1200" b="1" dirty="0">
                <a:solidFill>
                  <a:srgbClr val="EAEAEA"/>
                </a:solidFill>
                <a:latin typeface="Calibri" pitchFamily="34" charset="0"/>
                <a:ea typeface="Calibri" pitchFamily="34" charset="-122"/>
                <a:cs typeface="Calibri" pitchFamily="34" charset="-120"/>
              </a:rPr>
              <a:t>Health</a:t>
            </a:r>
            <a:endParaRPr lang="en-US" sz="1200" dirty="0"/>
          </a:p>
        </p:txBody>
      </p:sp>
      <p:sp>
        <p:nvSpPr>
          <p:cNvPr id="14" name="Text 11"/>
          <p:cNvSpPr/>
          <p:nvPr/>
        </p:nvSpPr>
        <p:spPr>
          <a:xfrm>
            <a:off x="3657600" y="1280160"/>
            <a:ext cx="201168" cy="201168"/>
          </a:xfrm>
          <a:prstGeom prst="rect">
            <a:avLst/>
          </a:prstGeom>
          <a:noFill/>
          <a:ln/>
        </p:spPr>
        <p:txBody>
          <a:bodyPr wrap="square" lIns="0" tIns="0" rIns="0" bIns="0" rtlCol="0" anchor="ctr"/>
          <a:lstStyle/>
          <a:p>
            <a:pPr marL="0" indent="0" algn="r">
              <a:buNone/>
            </a:pPr>
            <a:endParaRPr lang="en-US" sz="800" dirty="0"/>
          </a:p>
        </p:txBody>
      </p:sp>
      <p:sp>
        <p:nvSpPr>
          <p:cNvPr id="15" name="Text 12"/>
          <p:cNvSpPr/>
          <p:nvPr/>
        </p:nvSpPr>
        <p:spPr>
          <a:xfrm>
            <a:off x="822960" y="1295834"/>
            <a:ext cx="2971800" cy="340941"/>
          </a:xfrm>
          <a:prstGeom prst="rect">
            <a:avLst/>
          </a:prstGeom>
          <a:noFill/>
          <a:ln/>
        </p:spPr>
        <p:txBody>
          <a:bodyPr wrap="square" lIns="0" tIns="0" rIns="0" bIns="0" rtlCol="0" anchor="ctr"/>
          <a:lstStyle/>
          <a:p>
            <a:pPr marL="0" indent="0">
              <a:buNone/>
            </a:pPr>
            <a:r>
              <a:rPr lang="en-US" sz="900" dirty="0">
                <a:solidFill>
                  <a:schemeClr val="bg1"/>
                </a:solidFill>
                <a:latin typeface="Calibri" pitchFamily="34" charset="0"/>
                <a:ea typeface="Calibri" pitchFamily="34" charset="-122"/>
                <a:cs typeface="Calibri" pitchFamily="34" charset="-120"/>
              </a:rPr>
              <a:t>Health component manages the damage, gains and total health values</a:t>
            </a:r>
            <a:endParaRPr lang="en-US" sz="900" dirty="0">
              <a:solidFill>
                <a:schemeClr val="bg1"/>
              </a:solidFill>
            </a:endParaRPr>
          </a:p>
        </p:txBody>
      </p:sp>
      <p:sp>
        <p:nvSpPr>
          <p:cNvPr id="16" name="Shape 13"/>
          <p:cNvSpPr/>
          <p:nvPr/>
        </p:nvSpPr>
        <p:spPr>
          <a:xfrm>
            <a:off x="228600" y="1920240"/>
            <a:ext cx="3657600" cy="804672"/>
          </a:xfrm>
          <a:prstGeom prst="rect">
            <a:avLst/>
          </a:prstGeom>
          <a:solidFill>
            <a:srgbClr val="1A2744"/>
          </a:solidFill>
          <a:ln w="12700">
            <a:solidFill>
              <a:srgbClr val="ECF0F1"/>
            </a:solidFill>
            <a:prstDash val="solid"/>
          </a:ln>
          <a:effectLst>
            <a:outerShdw blurRad="50800" dist="25400" dir="8100000" algn="bl" rotWithShape="0">
              <a:srgbClr val="000000">
                <a:alpha val="20000"/>
              </a:srgbClr>
            </a:outerShdw>
          </a:effectLst>
        </p:spPr>
        <p:txBody>
          <a:bodyPr/>
          <a:lstStyle/>
          <a:p>
            <a:endParaRPr lang="en-GB"/>
          </a:p>
        </p:txBody>
      </p:sp>
      <p:sp>
        <p:nvSpPr>
          <p:cNvPr id="17" name="Shape 14"/>
          <p:cNvSpPr/>
          <p:nvPr/>
        </p:nvSpPr>
        <p:spPr>
          <a:xfrm>
            <a:off x="228600" y="1920240"/>
            <a:ext cx="502920" cy="804672"/>
          </a:xfrm>
          <a:prstGeom prst="rect">
            <a:avLst/>
          </a:prstGeom>
          <a:solidFill>
            <a:srgbClr val="ECF0F1"/>
          </a:solidFill>
          <a:ln w="12700">
            <a:solidFill>
              <a:srgbClr val="ECF0F1"/>
            </a:solidFill>
            <a:prstDash val="solid"/>
          </a:ln>
        </p:spPr>
        <p:txBody>
          <a:bodyPr/>
          <a:lstStyle/>
          <a:p>
            <a:endParaRPr lang="en-GB"/>
          </a:p>
        </p:txBody>
      </p:sp>
      <p:sp>
        <p:nvSpPr>
          <p:cNvPr id="18" name="Text 15"/>
          <p:cNvSpPr/>
          <p:nvPr/>
        </p:nvSpPr>
        <p:spPr>
          <a:xfrm>
            <a:off x="228600" y="2084832"/>
            <a:ext cx="502920" cy="365760"/>
          </a:xfrm>
          <a:prstGeom prst="rect">
            <a:avLst/>
          </a:prstGeom>
          <a:noFill/>
          <a:ln/>
        </p:spPr>
        <p:txBody>
          <a:bodyPr wrap="square" lIns="0" tIns="0" rIns="0" bIns="0" rtlCol="0" anchor="ctr"/>
          <a:lstStyle/>
          <a:p>
            <a:pPr marL="0" indent="0" algn="ctr">
              <a:buNone/>
            </a:pPr>
            <a:r>
              <a:rPr lang="en-US" sz="1400" b="1" dirty="0">
                <a:solidFill>
                  <a:srgbClr val="111827"/>
                </a:solidFill>
                <a:latin typeface="Calibri" pitchFamily="34" charset="0"/>
                <a:ea typeface="Calibri" pitchFamily="34" charset="-122"/>
                <a:cs typeface="Calibri" pitchFamily="34" charset="-120"/>
              </a:rPr>
              <a:t>ST</a:t>
            </a:r>
            <a:endParaRPr lang="en-US" sz="1400" dirty="0"/>
          </a:p>
        </p:txBody>
      </p:sp>
      <p:sp>
        <p:nvSpPr>
          <p:cNvPr id="19" name="Text 16"/>
          <p:cNvSpPr/>
          <p:nvPr/>
        </p:nvSpPr>
        <p:spPr>
          <a:xfrm>
            <a:off x="822960" y="1956816"/>
            <a:ext cx="1828800" cy="256032"/>
          </a:xfrm>
          <a:prstGeom prst="rect">
            <a:avLst/>
          </a:prstGeom>
          <a:noFill/>
          <a:ln/>
        </p:spPr>
        <p:txBody>
          <a:bodyPr wrap="square" lIns="0" tIns="0" rIns="0" bIns="0" rtlCol="0" anchor="ctr"/>
          <a:lstStyle/>
          <a:p>
            <a:pPr marL="0" indent="0">
              <a:buNone/>
            </a:pPr>
            <a:r>
              <a:rPr lang="en-US" sz="1200" b="1" dirty="0">
                <a:solidFill>
                  <a:srgbClr val="EAEAEA"/>
                </a:solidFill>
                <a:latin typeface="Calibri" pitchFamily="34" charset="0"/>
                <a:ea typeface="Calibri" pitchFamily="34" charset="-122"/>
                <a:cs typeface="Calibri" pitchFamily="34" charset="-120"/>
              </a:rPr>
              <a:t>Stamina</a:t>
            </a:r>
            <a:endParaRPr lang="en-US" sz="1200" dirty="0"/>
          </a:p>
        </p:txBody>
      </p:sp>
      <p:sp>
        <p:nvSpPr>
          <p:cNvPr id="22" name="Text 19"/>
          <p:cNvSpPr/>
          <p:nvPr/>
        </p:nvSpPr>
        <p:spPr>
          <a:xfrm>
            <a:off x="3657600" y="2240280"/>
            <a:ext cx="201168" cy="201168"/>
          </a:xfrm>
          <a:prstGeom prst="rect">
            <a:avLst/>
          </a:prstGeom>
          <a:noFill/>
          <a:ln/>
        </p:spPr>
        <p:txBody>
          <a:bodyPr wrap="square" lIns="0" tIns="0" rIns="0" bIns="0" rtlCol="0" anchor="ctr"/>
          <a:lstStyle/>
          <a:p>
            <a:pPr marL="0" indent="0" algn="r">
              <a:buNone/>
            </a:pPr>
            <a:endParaRPr lang="en-US" sz="800" dirty="0"/>
          </a:p>
        </p:txBody>
      </p:sp>
      <p:sp>
        <p:nvSpPr>
          <p:cNvPr id="23" name="Text 20"/>
          <p:cNvSpPr/>
          <p:nvPr/>
        </p:nvSpPr>
        <p:spPr>
          <a:xfrm>
            <a:off x="799447" y="2185414"/>
            <a:ext cx="2971800" cy="475489"/>
          </a:xfrm>
          <a:prstGeom prst="rect">
            <a:avLst/>
          </a:prstGeom>
          <a:noFill/>
          <a:ln/>
        </p:spPr>
        <p:txBody>
          <a:bodyPr wrap="square" lIns="0" tIns="0" rIns="0" bIns="0" rtlCol="0" anchor="ctr"/>
          <a:lstStyle/>
          <a:p>
            <a:pPr marL="0" indent="0">
              <a:buNone/>
            </a:pPr>
            <a:r>
              <a:rPr lang="en-US" sz="900" dirty="0">
                <a:solidFill>
                  <a:schemeClr val="bg1"/>
                </a:solidFill>
                <a:latin typeface="Calibri" pitchFamily="34" charset="0"/>
                <a:ea typeface="Calibri" pitchFamily="34" charset="-122"/>
                <a:cs typeface="Calibri" pitchFamily="34" charset="-120"/>
              </a:rPr>
              <a:t>Note: Rest use a generic “</a:t>
            </a:r>
            <a:r>
              <a:rPr lang="en-US" sz="900" dirty="0" err="1">
                <a:solidFill>
                  <a:schemeClr val="bg1"/>
                </a:solidFill>
                <a:latin typeface="Calibri" pitchFamily="34" charset="0"/>
                <a:ea typeface="Calibri" pitchFamily="34" charset="-122"/>
                <a:cs typeface="Calibri" pitchFamily="34" charset="-120"/>
              </a:rPr>
              <a:t>StatComponent</a:t>
            </a:r>
            <a:r>
              <a:rPr lang="en-US" sz="900" dirty="0">
                <a:solidFill>
                  <a:schemeClr val="bg1"/>
                </a:solidFill>
                <a:latin typeface="Calibri" pitchFamily="34" charset="0"/>
                <a:ea typeface="Calibri" pitchFamily="34" charset="-122"/>
                <a:cs typeface="Calibri" pitchFamily="34" charset="-120"/>
              </a:rPr>
              <a:t>”</a:t>
            </a:r>
          </a:p>
          <a:p>
            <a:pPr marL="0" indent="0">
              <a:buNone/>
            </a:pPr>
            <a:r>
              <a:rPr lang="en-US" sz="900" dirty="0">
                <a:solidFill>
                  <a:schemeClr val="bg1"/>
                </a:solidFill>
                <a:latin typeface="Calibri" pitchFamily="34" charset="0"/>
                <a:ea typeface="Calibri" pitchFamily="34" charset="-122"/>
                <a:cs typeface="Calibri" pitchFamily="34" charset="-120"/>
              </a:rPr>
              <a:t>Drains when the player sprints and recharge when walking</a:t>
            </a:r>
            <a:endParaRPr lang="en-US" sz="900" dirty="0">
              <a:solidFill>
                <a:schemeClr val="bg1"/>
              </a:solidFill>
            </a:endParaRPr>
          </a:p>
        </p:txBody>
      </p:sp>
      <p:sp>
        <p:nvSpPr>
          <p:cNvPr id="24" name="Shape 21"/>
          <p:cNvSpPr/>
          <p:nvPr/>
        </p:nvSpPr>
        <p:spPr>
          <a:xfrm>
            <a:off x="228600" y="2880360"/>
            <a:ext cx="3657600" cy="804672"/>
          </a:xfrm>
          <a:prstGeom prst="rect">
            <a:avLst/>
          </a:prstGeom>
          <a:solidFill>
            <a:srgbClr val="1A2744"/>
          </a:solidFill>
          <a:ln w="12700">
            <a:solidFill>
              <a:srgbClr val="E67E22"/>
            </a:solidFill>
            <a:prstDash val="solid"/>
          </a:ln>
          <a:effectLst>
            <a:outerShdw blurRad="50800" dist="25400" dir="8100000" algn="bl" rotWithShape="0">
              <a:srgbClr val="000000">
                <a:alpha val="20000"/>
              </a:srgbClr>
            </a:outerShdw>
          </a:effectLst>
        </p:spPr>
        <p:txBody>
          <a:bodyPr/>
          <a:lstStyle/>
          <a:p>
            <a:endParaRPr lang="en-GB"/>
          </a:p>
        </p:txBody>
      </p:sp>
      <p:sp>
        <p:nvSpPr>
          <p:cNvPr id="25" name="Shape 22"/>
          <p:cNvSpPr/>
          <p:nvPr/>
        </p:nvSpPr>
        <p:spPr>
          <a:xfrm>
            <a:off x="228600" y="2880360"/>
            <a:ext cx="502920" cy="804672"/>
          </a:xfrm>
          <a:prstGeom prst="rect">
            <a:avLst/>
          </a:prstGeom>
          <a:solidFill>
            <a:srgbClr val="E67E22"/>
          </a:solidFill>
          <a:ln w="12700">
            <a:solidFill>
              <a:srgbClr val="E67E22"/>
            </a:solidFill>
            <a:prstDash val="solid"/>
          </a:ln>
        </p:spPr>
        <p:txBody>
          <a:bodyPr/>
          <a:lstStyle/>
          <a:p>
            <a:endParaRPr lang="en-GB"/>
          </a:p>
        </p:txBody>
      </p:sp>
      <p:sp>
        <p:nvSpPr>
          <p:cNvPr id="26" name="Text 23"/>
          <p:cNvSpPr/>
          <p:nvPr/>
        </p:nvSpPr>
        <p:spPr>
          <a:xfrm>
            <a:off x="228600" y="3044952"/>
            <a:ext cx="502920" cy="365760"/>
          </a:xfrm>
          <a:prstGeom prst="rect">
            <a:avLst/>
          </a:prstGeom>
          <a:noFill/>
          <a:ln/>
        </p:spPr>
        <p:txBody>
          <a:bodyPr wrap="square" lIns="0" tIns="0" rIns="0" bIns="0" rtlCol="0" anchor="ctr"/>
          <a:lstStyle/>
          <a:p>
            <a:pPr marL="0" indent="0" algn="ctr">
              <a:buNone/>
            </a:pPr>
            <a:r>
              <a:rPr lang="en-US" sz="1400" b="1" dirty="0">
                <a:solidFill>
                  <a:srgbClr val="111827"/>
                </a:solidFill>
                <a:latin typeface="Calibri" pitchFamily="34" charset="0"/>
                <a:ea typeface="Calibri" pitchFamily="34" charset="-122"/>
                <a:cs typeface="Calibri" pitchFamily="34" charset="-120"/>
              </a:rPr>
              <a:t>HG</a:t>
            </a:r>
            <a:endParaRPr lang="en-US" sz="1400" dirty="0"/>
          </a:p>
        </p:txBody>
      </p:sp>
      <p:sp>
        <p:nvSpPr>
          <p:cNvPr id="27" name="Text 24"/>
          <p:cNvSpPr/>
          <p:nvPr/>
        </p:nvSpPr>
        <p:spPr>
          <a:xfrm>
            <a:off x="822960" y="2916936"/>
            <a:ext cx="1828800" cy="256032"/>
          </a:xfrm>
          <a:prstGeom prst="rect">
            <a:avLst/>
          </a:prstGeom>
          <a:noFill/>
          <a:ln/>
        </p:spPr>
        <p:txBody>
          <a:bodyPr wrap="square" lIns="0" tIns="0" rIns="0" bIns="0" rtlCol="0" anchor="ctr"/>
          <a:lstStyle/>
          <a:p>
            <a:pPr marL="0" indent="0">
              <a:buNone/>
            </a:pPr>
            <a:r>
              <a:rPr lang="en-US" sz="1200" b="1" dirty="0">
                <a:solidFill>
                  <a:srgbClr val="EAEAEA"/>
                </a:solidFill>
                <a:latin typeface="Calibri" pitchFamily="34" charset="0"/>
                <a:ea typeface="Calibri" pitchFamily="34" charset="-122"/>
                <a:cs typeface="Calibri" pitchFamily="34" charset="-120"/>
              </a:rPr>
              <a:t>Hunger</a:t>
            </a:r>
            <a:endParaRPr lang="en-US" sz="1200" dirty="0"/>
          </a:p>
        </p:txBody>
      </p:sp>
      <p:sp>
        <p:nvSpPr>
          <p:cNvPr id="30" name="Text 27"/>
          <p:cNvSpPr/>
          <p:nvPr/>
        </p:nvSpPr>
        <p:spPr>
          <a:xfrm>
            <a:off x="3657600" y="3200400"/>
            <a:ext cx="201168" cy="201168"/>
          </a:xfrm>
          <a:prstGeom prst="rect">
            <a:avLst/>
          </a:prstGeom>
          <a:noFill/>
          <a:ln/>
        </p:spPr>
        <p:txBody>
          <a:bodyPr wrap="square" lIns="0" tIns="0" rIns="0" bIns="0" rtlCol="0" anchor="ctr"/>
          <a:lstStyle/>
          <a:p>
            <a:pPr marL="0" indent="0" algn="r">
              <a:buNone/>
            </a:pPr>
            <a:endParaRPr lang="en-US" sz="800" dirty="0"/>
          </a:p>
        </p:txBody>
      </p:sp>
      <p:sp>
        <p:nvSpPr>
          <p:cNvPr id="31" name="Text 28"/>
          <p:cNvSpPr/>
          <p:nvPr/>
        </p:nvSpPr>
        <p:spPr>
          <a:xfrm>
            <a:off x="822960" y="3209543"/>
            <a:ext cx="2971800" cy="219456"/>
          </a:xfrm>
          <a:prstGeom prst="rect">
            <a:avLst/>
          </a:prstGeom>
          <a:noFill/>
          <a:ln/>
        </p:spPr>
        <p:txBody>
          <a:bodyPr wrap="square" lIns="0" tIns="0" rIns="0" bIns="0" rtlCol="0" anchor="ctr"/>
          <a:lstStyle/>
          <a:p>
            <a:pPr marL="0" indent="0">
              <a:buNone/>
            </a:pPr>
            <a:r>
              <a:rPr lang="en-US" sz="900" dirty="0">
                <a:solidFill>
                  <a:schemeClr val="bg1"/>
                </a:solidFill>
                <a:latin typeface="Calibri" pitchFamily="34" charset="0"/>
                <a:ea typeface="Calibri" pitchFamily="34" charset="-122"/>
                <a:cs typeface="Calibri" pitchFamily="34" charset="-120"/>
              </a:rPr>
              <a:t>Drains over time at a medium rate, when inventory items are added will be able to regain hunger.</a:t>
            </a:r>
            <a:endParaRPr lang="en-US" sz="900" dirty="0">
              <a:solidFill>
                <a:schemeClr val="bg1"/>
              </a:solidFill>
            </a:endParaRPr>
          </a:p>
        </p:txBody>
      </p:sp>
      <p:sp>
        <p:nvSpPr>
          <p:cNvPr id="32" name="Shape 29"/>
          <p:cNvSpPr/>
          <p:nvPr/>
        </p:nvSpPr>
        <p:spPr>
          <a:xfrm>
            <a:off x="228600" y="3840480"/>
            <a:ext cx="3657600" cy="804672"/>
          </a:xfrm>
          <a:prstGeom prst="rect">
            <a:avLst/>
          </a:prstGeom>
          <a:solidFill>
            <a:srgbClr val="1A2744"/>
          </a:solidFill>
          <a:ln w="12700">
            <a:solidFill>
              <a:srgbClr val="3498DB"/>
            </a:solidFill>
            <a:prstDash val="solid"/>
          </a:ln>
          <a:effectLst>
            <a:outerShdw blurRad="50800" dist="25400" dir="8100000" algn="bl" rotWithShape="0">
              <a:srgbClr val="000000">
                <a:alpha val="20000"/>
              </a:srgbClr>
            </a:outerShdw>
          </a:effectLst>
        </p:spPr>
        <p:txBody>
          <a:bodyPr/>
          <a:lstStyle/>
          <a:p>
            <a:endParaRPr lang="en-GB"/>
          </a:p>
        </p:txBody>
      </p:sp>
      <p:sp>
        <p:nvSpPr>
          <p:cNvPr id="33" name="Shape 30"/>
          <p:cNvSpPr/>
          <p:nvPr/>
        </p:nvSpPr>
        <p:spPr>
          <a:xfrm>
            <a:off x="228600" y="3840480"/>
            <a:ext cx="502920" cy="804672"/>
          </a:xfrm>
          <a:prstGeom prst="rect">
            <a:avLst/>
          </a:prstGeom>
          <a:solidFill>
            <a:srgbClr val="3498DB"/>
          </a:solidFill>
          <a:ln w="12700">
            <a:solidFill>
              <a:srgbClr val="3498DB"/>
            </a:solidFill>
            <a:prstDash val="solid"/>
          </a:ln>
        </p:spPr>
        <p:txBody>
          <a:bodyPr/>
          <a:lstStyle/>
          <a:p>
            <a:endParaRPr lang="en-GB"/>
          </a:p>
        </p:txBody>
      </p:sp>
      <p:sp>
        <p:nvSpPr>
          <p:cNvPr id="34" name="Text 31"/>
          <p:cNvSpPr/>
          <p:nvPr/>
        </p:nvSpPr>
        <p:spPr>
          <a:xfrm>
            <a:off x="228600" y="4005072"/>
            <a:ext cx="502920" cy="365760"/>
          </a:xfrm>
          <a:prstGeom prst="rect">
            <a:avLst/>
          </a:prstGeom>
          <a:noFill/>
          <a:ln/>
        </p:spPr>
        <p:txBody>
          <a:bodyPr wrap="square" lIns="0" tIns="0" rIns="0" bIns="0" rtlCol="0" anchor="ctr"/>
          <a:lstStyle/>
          <a:p>
            <a:pPr marL="0" indent="0" algn="ctr">
              <a:buNone/>
            </a:pPr>
            <a:r>
              <a:rPr lang="en-US" sz="1400" b="1" dirty="0">
                <a:solidFill>
                  <a:srgbClr val="111827"/>
                </a:solidFill>
                <a:latin typeface="Calibri" pitchFamily="34" charset="0"/>
                <a:ea typeface="Calibri" pitchFamily="34" charset="-122"/>
                <a:cs typeface="Calibri" pitchFamily="34" charset="-120"/>
              </a:rPr>
              <a:t>WA</a:t>
            </a:r>
            <a:endParaRPr lang="en-US" sz="1400" dirty="0"/>
          </a:p>
        </p:txBody>
      </p:sp>
      <p:sp>
        <p:nvSpPr>
          <p:cNvPr id="35" name="Text 32"/>
          <p:cNvSpPr/>
          <p:nvPr/>
        </p:nvSpPr>
        <p:spPr>
          <a:xfrm>
            <a:off x="822960" y="3877056"/>
            <a:ext cx="1828800" cy="256032"/>
          </a:xfrm>
          <a:prstGeom prst="rect">
            <a:avLst/>
          </a:prstGeom>
          <a:noFill/>
          <a:ln/>
        </p:spPr>
        <p:txBody>
          <a:bodyPr wrap="square" lIns="0" tIns="0" rIns="0" bIns="0" rtlCol="0" anchor="ctr"/>
          <a:lstStyle/>
          <a:p>
            <a:pPr marL="0" indent="0">
              <a:buNone/>
            </a:pPr>
            <a:r>
              <a:rPr lang="en-US" sz="1200" b="1" dirty="0">
                <a:solidFill>
                  <a:srgbClr val="EAEAEA"/>
                </a:solidFill>
                <a:latin typeface="Calibri" pitchFamily="34" charset="0"/>
                <a:ea typeface="Calibri" pitchFamily="34" charset="-122"/>
                <a:cs typeface="Calibri" pitchFamily="34" charset="-120"/>
              </a:rPr>
              <a:t>Water</a:t>
            </a:r>
            <a:endParaRPr lang="en-US" sz="1200" dirty="0"/>
          </a:p>
        </p:txBody>
      </p:sp>
      <p:sp>
        <p:nvSpPr>
          <p:cNvPr id="38" name="Text 35"/>
          <p:cNvSpPr/>
          <p:nvPr/>
        </p:nvSpPr>
        <p:spPr>
          <a:xfrm>
            <a:off x="3657600" y="4160520"/>
            <a:ext cx="201168" cy="201168"/>
          </a:xfrm>
          <a:prstGeom prst="rect">
            <a:avLst/>
          </a:prstGeom>
          <a:noFill/>
          <a:ln/>
        </p:spPr>
        <p:txBody>
          <a:bodyPr wrap="square" lIns="0" tIns="0" rIns="0" bIns="0" rtlCol="0" anchor="ctr"/>
          <a:lstStyle/>
          <a:p>
            <a:pPr marL="0" indent="0" algn="r">
              <a:buNone/>
            </a:pPr>
            <a:endParaRPr lang="en-US" sz="800" dirty="0"/>
          </a:p>
        </p:txBody>
      </p:sp>
      <p:sp>
        <p:nvSpPr>
          <p:cNvPr id="39" name="Text 36"/>
          <p:cNvSpPr/>
          <p:nvPr/>
        </p:nvSpPr>
        <p:spPr>
          <a:xfrm>
            <a:off x="822960" y="4133088"/>
            <a:ext cx="2971800" cy="219456"/>
          </a:xfrm>
          <a:prstGeom prst="rect">
            <a:avLst/>
          </a:prstGeom>
          <a:noFill/>
          <a:ln/>
        </p:spPr>
        <p:txBody>
          <a:bodyPr wrap="square" lIns="0" tIns="0" rIns="0" bIns="0" rtlCol="0" anchor="ctr"/>
          <a:lstStyle/>
          <a:p>
            <a:pPr marL="0" indent="0">
              <a:buNone/>
            </a:pPr>
            <a:r>
              <a:rPr lang="en-US" sz="900" dirty="0">
                <a:solidFill>
                  <a:schemeClr val="bg1"/>
                </a:solidFill>
                <a:latin typeface="Calibri" pitchFamily="34" charset="0"/>
                <a:ea typeface="Calibri" pitchFamily="34" charset="-122"/>
                <a:cs typeface="Calibri" pitchFamily="34" charset="-120"/>
              </a:rPr>
              <a:t>Drains also over time but at a faster rate, will be an inventory item to collect and manage.</a:t>
            </a:r>
            <a:endParaRPr lang="en-US" sz="900" dirty="0">
              <a:solidFill>
                <a:schemeClr val="bg1"/>
              </a:solidFill>
            </a:endParaRPr>
          </a:p>
        </p:txBody>
      </p:sp>
      <p:sp>
        <p:nvSpPr>
          <p:cNvPr id="41" name="Text 38"/>
          <p:cNvSpPr/>
          <p:nvPr/>
        </p:nvSpPr>
        <p:spPr>
          <a:xfrm>
            <a:off x="228600" y="4754880"/>
            <a:ext cx="3657600" cy="292608"/>
          </a:xfrm>
          <a:prstGeom prst="rect">
            <a:avLst/>
          </a:prstGeom>
          <a:noFill/>
          <a:ln/>
        </p:spPr>
        <p:txBody>
          <a:bodyPr wrap="square" lIns="0" tIns="0" rIns="0" bIns="0" rtlCol="0" anchor="ctr"/>
          <a:lstStyle/>
          <a:p>
            <a:pPr marL="0" indent="0" algn="ctr">
              <a:buNone/>
            </a:pPr>
            <a:endParaRPr lang="en-US" sz="950" dirty="0"/>
          </a:p>
        </p:txBody>
      </p:sp>
      <p:pic>
        <p:nvPicPr>
          <p:cNvPr id="43" name="Picture 42">
            <a:extLst>
              <a:ext uri="{FF2B5EF4-FFF2-40B4-BE49-F238E27FC236}">
                <a16:creationId xmlns:a16="http://schemas.microsoft.com/office/drawing/2014/main" id="{429FACCB-688F-15C9-9E96-C0ECA3042DE5}"/>
              </a:ext>
            </a:extLst>
          </p:cNvPr>
          <p:cNvPicPr>
            <a:picLocks noChangeAspect="1"/>
          </p:cNvPicPr>
          <p:nvPr/>
        </p:nvPicPr>
        <p:blipFill>
          <a:blip r:embed="rId3"/>
          <a:stretch>
            <a:fillRect/>
          </a:stretch>
        </p:blipFill>
        <p:spPr>
          <a:xfrm>
            <a:off x="4252790" y="1728216"/>
            <a:ext cx="4662610" cy="190223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0D1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0A0F1E"/>
          </a:solidFill>
          <a:ln w="12700">
            <a:solidFill>
              <a:srgbClr val="0A0F1E"/>
            </a:solidFill>
            <a:prstDash val="solid"/>
          </a:ln>
        </p:spPr>
        <p:txBody>
          <a:bodyPr/>
          <a:lstStyle/>
          <a:p>
            <a:endParaRPr lang="en-GB"/>
          </a:p>
        </p:txBody>
      </p:sp>
      <p:sp>
        <p:nvSpPr>
          <p:cNvPr id="3" name="Shape 1"/>
          <p:cNvSpPr/>
          <p:nvPr/>
        </p:nvSpPr>
        <p:spPr>
          <a:xfrm>
            <a:off x="0" y="0"/>
            <a:ext cx="9144000" cy="64008"/>
          </a:xfrm>
          <a:prstGeom prst="rect">
            <a:avLst/>
          </a:prstGeom>
          <a:solidFill>
            <a:srgbClr val="4ECDC4"/>
          </a:solidFill>
          <a:ln w="12700">
            <a:solidFill>
              <a:srgbClr val="4ECDC4"/>
            </a:solidFill>
            <a:prstDash val="solid"/>
          </a:ln>
        </p:spPr>
        <p:txBody>
          <a:bodyPr/>
          <a:lstStyle/>
          <a:p>
            <a:endParaRPr lang="en-GB"/>
          </a:p>
        </p:txBody>
      </p:sp>
      <p:sp>
        <p:nvSpPr>
          <p:cNvPr id="4" name="Text 2"/>
          <p:cNvSpPr/>
          <p:nvPr/>
        </p:nvSpPr>
        <p:spPr>
          <a:xfrm>
            <a:off x="274320" y="91440"/>
            <a:ext cx="8229600" cy="548640"/>
          </a:xfrm>
          <a:prstGeom prst="rect">
            <a:avLst/>
          </a:prstGeom>
          <a:noFill/>
          <a:ln/>
        </p:spPr>
        <p:txBody>
          <a:bodyPr wrap="square" lIns="0" tIns="0" rIns="0" bIns="0" rtlCol="0" anchor="ctr"/>
          <a:lstStyle/>
          <a:p>
            <a:pPr marL="0" indent="0">
              <a:buNone/>
            </a:pPr>
            <a:r>
              <a:rPr lang="en-US" sz="2000" b="1" dirty="0">
                <a:solidFill>
                  <a:srgbClr val="EAEAEA"/>
                </a:solidFill>
                <a:latin typeface="Calibri" pitchFamily="34" charset="0"/>
                <a:ea typeface="Calibri" pitchFamily="34" charset="-122"/>
                <a:cs typeface="Calibri" pitchFamily="34" charset="-120"/>
              </a:rPr>
              <a:t>NEXT: INVENTORY SYSTEM &amp; COLLECTABLES</a:t>
            </a:r>
            <a:endParaRPr lang="en-US" sz="2000" dirty="0"/>
          </a:p>
        </p:txBody>
      </p:sp>
      <p:sp>
        <p:nvSpPr>
          <p:cNvPr id="6" name="Text 4"/>
          <p:cNvSpPr/>
          <p:nvPr/>
        </p:nvSpPr>
        <p:spPr>
          <a:xfrm>
            <a:off x="7132320" y="822960"/>
            <a:ext cx="1828800" cy="384048"/>
          </a:xfrm>
          <a:prstGeom prst="rect">
            <a:avLst/>
          </a:prstGeom>
          <a:noFill/>
          <a:ln/>
        </p:spPr>
        <p:txBody>
          <a:bodyPr wrap="square" lIns="0" tIns="0" rIns="0" bIns="0" rtlCol="0" anchor="ctr"/>
          <a:lstStyle/>
          <a:p>
            <a:pPr marL="0" indent="0" algn="ctr">
              <a:buNone/>
            </a:pPr>
            <a:endParaRPr lang="en-US" sz="1300" dirty="0"/>
          </a:p>
        </p:txBody>
      </p:sp>
      <p:sp>
        <p:nvSpPr>
          <p:cNvPr id="7" name="Shape 5"/>
          <p:cNvSpPr/>
          <p:nvPr/>
        </p:nvSpPr>
        <p:spPr>
          <a:xfrm>
            <a:off x="137160" y="1554480"/>
            <a:ext cx="4114800" cy="1188720"/>
          </a:xfrm>
          <a:prstGeom prst="rect">
            <a:avLst/>
          </a:prstGeom>
          <a:solidFill>
            <a:srgbClr val="1A2744"/>
          </a:solidFill>
          <a:ln w="12700">
            <a:solidFill>
              <a:srgbClr val="4ECDC4"/>
            </a:solidFill>
            <a:prstDash val="solid"/>
          </a:ln>
        </p:spPr>
        <p:txBody>
          <a:bodyPr/>
          <a:lstStyle/>
          <a:p>
            <a:endParaRPr lang="en-GB"/>
          </a:p>
        </p:txBody>
      </p:sp>
      <p:sp>
        <p:nvSpPr>
          <p:cNvPr id="8" name="Text 6"/>
          <p:cNvSpPr/>
          <p:nvPr/>
        </p:nvSpPr>
        <p:spPr>
          <a:xfrm>
            <a:off x="274320" y="1600200"/>
            <a:ext cx="3840480" cy="347472"/>
          </a:xfrm>
          <a:prstGeom prst="rect">
            <a:avLst/>
          </a:prstGeom>
          <a:noFill/>
          <a:ln/>
        </p:spPr>
        <p:txBody>
          <a:bodyPr wrap="square" lIns="0" tIns="0" rIns="0" bIns="0" rtlCol="0" anchor="ctr"/>
          <a:lstStyle/>
          <a:p>
            <a:pPr marL="0" indent="0">
              <a:buNone/>
            </a:pPr>
            <a:r>
              <a:rPr lang="en-US" sz="1400" b="1" dirty="0">
                <a:solidFill>
                  <a:srgbClr val="4ECDC4"/>
                </a:solidFill>
                <a:latin typeface="Calibri" pitchFamily="34" charset="0"/>
                <a:ea typeface="Calibri" pitchFamily="34" charset="-122"/>
                <a:cs typeface="Calibri" pitchFamily="34" charset="-120"/>
              </a:rPr>
              <a:t>Framework Setup</a:t>
            </a:r>
            <a:endParaRPr lang="en-US" sz="1400" dirty="0"/>
          </a:p>
        </p:txBody>
      </p:sp>
      <p:sp>
        <p:nvSpPr>
          <p:cNvPr id="9" name="Text 7"/>
          <p:cNvSpPr/>
          <p:nvPr/>
        </p:nvSpPr>
        <p:spPr>
          <a:xfrm>
            <a:off x="274320" y="1965960"/>
            <a:ext cx="3840480" cy="731520"/>
          </a:xfrm>
          <a:prstGeom prst="rect">
            <a:avLst/>
          </a:prstGeom>
          <a:noFill/>
          <a:ln/>
        </p:spPr>
        <p:txBody>
          <a:bodyPr wrap="square" lIns="0" tIns="0" rIns="0" bIns="0" rtlCol="0" anchor="ctr"/>
          <a:lstStyle/>
          <a:p>
            <a:pPr marL="342900" indent="-342900">
              <a:buSzPct val="100000"/>
              <a:buChar char="•"/>
            </a:pPr>
            <a:r>
              <a:rPr lang="en-US" sz="1100" dirty="0">
                <a:solidFill>
                  <a:schemeClr val="bg1"/>
                </a:solidFill>
                <a:latin typeface="Calibri" pitchFamily="34" charset="0"/>
                <a:ea typeface="Calibri" pitchFamily="34" charset="-122"/>
                <a:cs typeface="Calibri" pitchFamily="34" charset="-120"/>
              </a:rPr>
              <a:t>10-slot inventory grid (2×5) with hover detection</a:t>
            </a:r>
            <a:endParaRPr lang="en-US" sz="1100" dirty="0">
              <a:solidFill>
                <a:schemeClr val="bg1"/>
              </a:solidFill>
            </a:endParaRPr>
          </a:p>
          <a:p>
            <a:pPr marL="342900" indent="-342900">
              <a:buSzPct val="100000"/>
              <a:buChar char="•"/>
            </a:pPr>
            <a:r>
              <a:rPr lang="en-US" sz="1100" dirty="0">
                <a:solidFill>
                  <a:schemeClr val="bg1"/>
                </a:solidFill>
                <a:latin typeface="Calibri" pitchFamily="34" charset="0"/>
                <a:ea typeface="Calibri" pitchFamily="34" charset="-122"/>
                <a:cs typeface="Calibri" pitchFamily="34" charset="-120"/>
              </a:rPr>
              <a:t>SpriteComponent-backed item rendering with quantity display</a:t>
            </a:r>
            <a:endParaRPr lang="en-US" sz="1100" dirty="0">
              <a:solidFill>
                <a:schemeClr val="bg1"/>
              </a:solidFill>
            </a:endParaRPr>
          </a:p>
          <a:p>
            <a:pPr marL="342900" indent="-342900">
              <a:buSzPct val="100000"/>
              <a:buChar char="•"/>
            </a:pPr>
            <a:r>
              <a:rPr lang="en-US" sz="1100" dirty="0" err="1">
                <a:solidFill>
                  <a:schemeClr val="bg1"/>
                </a:solidFill>
                <a:latin typeface="Calibri" pitchFamily="34" charset="0"/>
                <a:ea typeface="Calibri" pitchFamily="34" charset="-122"/>
                <a:cs typeface="Calibri" pitchFamily="34" charset="-120"/>
              </a:rPr>
              <a:t>addItem</a:t>
            </a:r>
            <a:r>
              <a:rPr lang="en-US" sz="1100" dirty="0">
                <a:solidFill>
                  <a:schemeClr val="bg1"/>
                </a:solidFill>
                <a:latin typeface="Calibri" pitchFamily="34" charset="0"/>
                <a:ea typeface="Calibri" pitchFamily="34" charset="-122"/>
                <a:cs typeface="Calibri" pitchFamily="34" charset="-120"/>
              </a:rPr>
              <a:t>/ </a:t>
            </a:r>
            <a:r>
              <a:rPr lang="en-US" sz="1100" dirty="0" err="1">
                <a:solidFill>
                  <a:schemeClr val="bg1"/>
                </a:solidFill>
                <a:latin typeface="Calibri" pitchFamily="34" charset="0"/>
                <a:ea typeface="Calibri" pitchFamily="34" charset="-122"/>
                <a:cs typeface="Calibri" pitchFamily="34" charset="-120"/>
              </a:rPr>
              <a:t>removeItem</a:t>
            </a:r>
            <a:r>
              <a:rPr lang="en-US" sz="1100" dirty="0">
                <a:solidFill>
                  <a:schemeClr val="bg1"/>
                </a:solidFill>
                <a:latin typeface="Calibri" pitchFamily="34" charset="0"/>
                <a:ea typeface="Calibri" pitchFamily="34" charset="-122"/>
                <a:cs typeface="Calibri" pitchFamily="34" charset="-120"/>
              </a:rPr>
              <a:t> / </a:t>
            </a:r>
            <a:r>
              <a:rPr lang="en-US" sz="1100" dirty="0" err="1">
                <a:solidFill>
                  <a:schemeClr val="bg1"/>
                </a:solidFill>
                <a:latin typeface="Calibri" pitchFamily="34" charset="0"/>
                <a:ea typeface="Calibri" pitchFamily="34" charset="-122"/>
                <a:cs typeface="Calibri" pitchFamily="34" charset="-120"/>
              </a:rPr>
              <a:t>clearSlot</a:t>
            </a:r>
            <a:r>
              <a:rPr lang="en-US" sz="1100" dirty="0">
                <a:solidFill>
                  <a:schemeClr val="bg1"/>
                </a:solidFill>
                <a:latin typeface="Calibri" pitchFamily="34" charset="0"/>
                <a:ea typeface="Calibri" pitchFamily="34" charset="-122"/>
                <a:cs typeface="Calibri" pitchFamily="34" charset="-120"/>
              </a:rPr>
              <a:t> templates</a:t>
            </a:r>
            <a:endParaRPr lang="en-US" sz="1100" dirty="0">
              <a:solidFill>
                <a:schemeClr val="bg1"/>
              </a:solidFill>
            </a:endParaRPr>
          </a:p>
        </p:txBody>
      </p:sp>
      <p:sp>
        <p:nvSpPr>
          <p:cNvPr id="10" name="Shape 8"/>
          <p:cNvSpPr/>
          <p:nvPr/>
        </p:nvSpPr>
        <p:spPr>
          <a:xfrm>
            <a:off x="137160" y="2834640"/>
            <a:ext cx="4114800" cy="1188720"/>
          </a:xfrm>
          <a:prstGeom prst="rect">
            <a:avLst/>
          </a:prstGeom>
          <a:solidFill>
            <a:srgbClr val="1A2744"/>
          </a:solidFill>
          <a:ln w="12700">
            <a:solidFill>
              <a:srgbClr val="FF0000"/>
            </a:solidFill>
            <a:prstDash val="solid"/>
          </a:ln>
        </p:spPr>
        <p:txBody>
          <a:bodyPr/>
          <a:lstStyle/>
          <a:p>
            <a:endParaRPr lang="en-GB"/>
          </a:p>
        </p:txBody>
      </p:sp>
      <p:sp>
        <p:nvSpPr>
          <p:cNvPr id="11" name="Text 9"/>
          <p:cNvSpPr/>
          <p:nvPr/>
        </p:nvSpPr>
        <p:spPr>
          <a:xfrm>
            <a:off x="274320" y="2880360"/>
            <a:ext cx="3840480" cy="347472"/>
          </a:xfrm>
          <a:prstGeom prst="rect">
            <a:avLst/>
          </a:prstGeom>
          <a:noFill/>
          <a:ln/>
        </p:spPr>
        <p:txBody>
          <a:bodyPr wrap="square" lIns="0" tIns="0" rIns="0" bIns="0" rtlCol="0" anchor="ctr"/>
          <a:lstStyle/>
          <a:p>
            <a:pPr marL="0" indent="0">
              <a:buNone/>
            </a:pPr>
            <a:r>
              <a:rPr lang="en-US" sz="1400" b="1" dirty="0">
                <a:solidFill>
                  <a:srgbClr val="FF0000"/>
                </a:solidFill>
                <a:latin typeface="Calibri" pitchFamily="34" charset="0"/>
                <a:ea typeface="Calibri" pitchFamily="34" charset="-122"/>
                <a:cs typeface="Calibri" pitchFamily="34" charset="-120"/>
              </a:rPr>
              <a:t>Needs to be worked on</a:t>
            </a:r>
            <a:endParaRPr lang="en-US" sz="1400" dirty="0">
              <a:solidFill>
                <a:srgbClr val="FF0000"/>
              </a:solidFill>
            </a:endParaRPr>
          </a:p>
        </p:txBody>
      </p:sp>
      <p:sp>
        <p:nvSpPr>
          <p:cNvPr id="12" name="Text 10"/>
          <p:cNvSpPr/>
          <p:nvPr/>
        </p:nvSpPr>
        <p:spPr>
          <a:xfrm>
            <a:off x="274320" y="3200400"/>
            <a:ext cx="3840480" cy="731520"/>
          </a:xfrm>
          <a:prstGeom prst="rect">
            <a:avLst/>
          </a:prstGeom>
          <a:noFill/>
          <a:ln/>
        </p:spPr>
        <p:txBody>
          <a:bodyPr wrap="square" lIns="0" tIns="0" rIns="0" bIns="0" rtlCol="0" anchor="ctr"/>
          <a:lstStyle/>
          <a:p>
            <a:pPr marL="342900" indent="-342900">
              <a:buSzPct val="100000"/>
              <a:buChar char="•"/>
            </a:pPr>
            <a:r>
              <a:rPr lang="en-US" sz="1100" dirty="0">
                <a:solidFill>
                  <a:schemeClr val="bg1"/>
                </a:solidFill>
                <a:latin typeface="Calibri" pitchFamily="34" charset="0"/>
                <a:ea typeface="Calibri" pitchFamily="34" charset="-122"/>
                <a:cs typeface="Calibri" pitchFamily="34" charset="-120"/>
              </a:rPr>
              <a:t>Item types: food, water, weapons, materials</a:t>
            </a:r>
            <a:endParaRPr lang="en-US" sz="1100" dirty="0">
              <a:solidFill>
                <a:schemeClr val="bg1"/>
              </a:solidFill>
            </a:endParaRPr>
          </a:p>
          <a:p>
            <a:pPr marL="342900" indent="-342900">
              <a:buSzPct val="100000"/>
              <a:buChar char="•"/>
            </a:pPr>
            <a:r>
              <a:rPr lang="en-US" sz="1100" dirty="0">
                <a:solidFill>
                  <a:schemeClr val="bg1"/>
                </a:solidFill>
                <a:latin typeface="Calibri" pitchFamily="34" charset="0"/>
                <a:ea typeface="Calibri" pitchFamily="34" charset="-122"/>
                <a:cs typeface="Calibri" pitchFamily="34" charset="-120"/>
              </a:rPr>
              <a:t>World pickups: collision/trigger zones on map objects</a:t>
            </a:r>
            <a:endParaRPr lang="en-US" sz="1100" dirty="0">
              <a:solidFill>
                <a:schemeClr val="bg1"/>
              </a:solidFill>
            </a:endParaRPr>
          </a:p>
          <a:p>
            <a:pPr marL="342900" indent="-342900">
              <a:buSzPct val="100000"/>
              <a:buChar char="•"/>
            </a:pPr>
            <a:r>
              <a:rPr lang="en-US" sz="1100" dirty="0">
                <a:solidFill>
                  <a:schemeClr val="bg1"/>
                </a:solidFill>
                <a:latin typeface="Calibri" pitchFamily="34" charset="0"/>
                <a:ea typeface="Calibri" pitchFamily="34" charset="-122"/>
                <a:cs typeface="Calibri" pitchFamily="34" charset="-120"/>
              </a:rPr>
              <a:t>Use actions: Equip from inventory to use an item</a:t>
            </a:r>
            <a:endParaRPr lang="en-US" sz="1100" dirty="0">
              <a:solidFill>
                <a:schemeClr val="bg1"/>
              </a:solidFill>
            </a:endParaRPr>
          </a:p>
        </p:txBody>
      </p:sp>
      <p:sp>
        <p:nvSpPr>
          <p:cNvPr id="13" name="Shape 11"/>
          <p:cNvSpPr/>
          <p:nvPr/>
        </p:nvSpPr>
        <p:spPr>
          <a:xfrm>
            <a:off x="4617720" y="822960"/>
            <a:ext cx="4343400" cy="4206240"/>
          </a:xfrm>
          <a:prstGeom prst="rect">
            <a:avLst/>
          </a:prstGeom>
          <a:solidFill>
            <a:srgbClr val="1A2744"/>
          </a:solidFill>
          <a:ln w="12700">
            <a:solidFill>
              <a:srgbClr val="2A3A5E"/>
            </a:solidFill>
            <a:prstDash val="solid"/>
          </a:ln>
        </p:spPr>
        <p:txBody>
          <a:bodyPr/>
          <a:lstStyle/>
          <a:p>
            <a:endParaRPr lang="en-GB"/>
          </a:p>
        </p:txBody>
      </p:sp>
      <p:sp>
        <p:nvSpPr>
          <p:cNvPr id="14" name="Text 12"/>
          <p:cNvSpPr/>
          <p:nvPr/>
        </p:nvSpPr>
        <p:spPr>
          <a:xfrm>
            <a:off x="4709160" y="868680"/>
            <a:ext cx="4069080" cy="347472"/>
          </a:xfrm>
          <a:prstGeom prst="rect">
            <a:avLst/>
          </a:prstGeom>
          <a:noFill/>
          <a:ln/>
        </p:spPr>
        <p:txBody>
          <a:bodyPr wrap="square" lIns="0" tIns="0" rIns="0" bIns="0" rtlCol="0" anchor="ctr"/>
          <a:lstStyle/>
          <a:p>
            <a:pPr marL="0" indent="0" algn="ctr">
              <a:buNone/>
            </a:pPr>
            <a:r>
              <a:rPr lang="en-US" sz="1300" b="1" dirty="0">
                <a:solidFill>
                  <a:srgbClr val="EAEAEA"/>
                </a:solidFill>
                <a:latin typeface="Calibri" pitchFamily="34" charset="0"/>
                <a:ea typeface="Calibri" pitchFamily="34" charset="-122"/>
                <a:cs typeface="Calibri" pitchFamily="34" charset="-120"/>
              </a:rPr>
              <a:t>IMPLEMENTATION PLAN</a:t>
            </a:r>
            <a:endParaRPr lang="en-US" sz="1300" dirty="0"/>
          </a:p>
        </p:txBody>
      </p:sp>
      <p:sp>
        <p:nvSpPr>
          <p:cNvPr id="15" name="Shape 13"/>
          <p:cNvSpPr/>
          <p:nvPr/>
        </p:nvSpPr>
        <p:spPr>
          <a:xfrm>
            <a:off x="4709160" y="1325880"/>
            <a:ext cx="4069080" cy="777240"/>
          </a:xfrm>
          <a:prstGeom prst="rect">
            <a:avLst/>
          </a:prstGeom>
          <a:solidFill>
            <a:srgbClr val="0D1B2E"/>
          </a:solidFill>
          <a:ln w="9525">
            <a:solidFill>
              <a:srgbClr val="2A3A5E"/>
            </a:solidFill>
            <a:prstDash val="solid"/>
          </a:ln>
        </p:spPr>
        <p:txBody>
          <a:bodyPr/>
          <a:lstStyle/>
          <a:p>
            <a:endParaRPr lang="en-GB"/>
          </a:p>
        </p:txBody>
      </p:sp>
      <p:sp>
        <p:nvSpPr>
          <p:cNvPr id="17" name="Text 15"/>
          <p:cNvSpPr/>
          <p:nvPr/>
        </p:nvSpPr>
        <p:spPr>
          <a:xfrm>
            <a:off x="4754880" y="1463040"/>
            <a:ext cx="320040" cy="320040"/>
          </a:xfrm>
          <a:prstGeom prst="rect">
            <a:avLst/>
          </a:prstGeom>
          <a:noFill/>
          <a:ln/>
        </p:spPr>
        <p:txBody>
          <a:bodyPr wrap="square" lIns="0" tIns="0" rIns="0" bIns="0" rtlCol="0" anchor="ctr"/>
          <a:lstStyle/>
          <a:p>
            <a:pPr marL="0" indent="0" algn="ctr">
              <a:buNone/>
            </a:pPr>
            <a:r>
              <a:rPr lang="en-US" sz="1100" b="1" dirty="0">
                <a:solidFill>
                  <a:srgbClr val="111827"/>
                </a:solidFill>
                <a:latin typeface="Calibri" pitchFamily="34" charset="0"/>
                <a:ea typeface="Calibri" pitchFamily="34" charset="-122"/>
                <a:cs typeface="Calibri" pitchFamily="34" charset="-120"/>
              </a:rPr>
              <a:t>1</a:t>
            </a:r>
            <a:endParaRPr lang="en-US" sz="1100" dirty="0"/>
          </a:p>
        </p:txBody>
      </p:sp>
      <p:sp>
        <p:nvSpPr>
          <p:cNvPr id="18" name="Text 16"/>
          <p:cNvSpPr/>
          <p:nvPr/>
        </p:nvSpPr>
        <p:spPr>
          <a:xfrm>
            <a:off x="5120640" y="1362456"/>
            <a:ext cx="3566160" cy="274320"/>
          </a:xfrm>
          <a:prstGeom prst="rect">
            <a:avLst/>
          </a:prstGeom>
          <a:noFill/>
          <a:ln/>
        </p:spPr>
        <p:txBody>
          <a:bodyPr wrap="square" lIns="0" tIns="0" rIns="0" bIns="0" rtlCol="0" anchor="ctr"/>
          <a:lstStyle/>
          <a:p>
            <a:pPr marL="0" indent="0">
              <a:buNone/>
            </a:pPr>
            <a:r>
              <a:rPr lang="en-US" sz="1200" b="1" dirty="0">
                <a:solidFill>
                  <a:srgbClr val="EAEAEA"/>
                </a:solidFill>
                <a:latin typeface="Calibri" pitchFamily="34" charset="0"/>
                <a:ea typeface="Calibri" pitchFamily="34" charset="-122"/>
                <a:cs typeface="Calibri" pitchFamily="34" charset="-120"/>
              </a:rPr>
              <a:t>Item Data Classes</a:t>
            </a:r>
            <a:endParaRPr lang="en-US" sz="1200" dirty="0"/>
          </a:p>
        </p:txBody>
      </p:sp>
      <p:sp>
        <p:nvSpPr>
          <p:cNvPr id="19" name="Text 17"/>
          <p:cNvSpPr/>
          <p:nvPr/>
        </p:nvSpPr>
        <p:spPr>
          <a:xfrm>
            <a:off x="5120640" y="1645920"/>
            <a:ext cx="3566160" cy="411480"/>
          </a:xfrm>
          <a:prstGeom prst="rect">
            <a:avLst/>
          </a:prstGeom>
          <a:noFill/>
          <a:ln/>
        </p:spPr>
        <p:txBody>
          <a:bodyPr wrap="square" lIns="0" tIns="0" rIns="0" bIns="0" rtlCol="0" anchor="ctr"/>
          <a:lstStyle/>
          <a:p>
            <a:pPr marL="0" indent="0">
              <a:buNone/>
            </a:pPr>
            <a:r>
              <a:rPr lang="en-US" sz="1000" dirty="0">
                <a:solidFill>
                  <a:schemeClr val="bg1"/>
                </a:solidFill>
                <a:latin typeface="Calibri" pitchFamily="34" charset="0"/>
                <a:ea typeface="Calibri" pitchFamily="34" charset="-122"/>
                <a:cs typeface="Calibri" pitchFamily="34" charset="-120"/>
              </a:rPr>
              <a:t>ItemBase with type enum (Food, Water, Weapon, Material), stats payload, stack limit</a:t>
            </a:r>
            <a:endParaRPr lang="en-US" sz="1000" dirty="0">
              <a:solidFill>
                <a:schemeClr val="bg1"/>
              </a:solidFill>
            </a:endParaRPr>
          </a:p>
        </p:txBody>
      </p:sp>
      <p:sp>
        <p:nvSpPr>
          <p:cNvPr id="20" name="Shape 18"/>
          <p:cNvSpPr/>
          <p:nvPr/>
        </p:nvSpPr>
        <p:spPr>
          <a:xfrm>
            <a:off x="4709160" y="2212848"/>
            <a:ext cx="4069080" cy="777240"/>
          </a:xfrm>
          <a:prstGeom prst="rect">
            <a:avLst/>
          </a:prstGeom>
          <a:solidFill>
            <a:srgbClr val="0D1B2E"/>
          </a:solidFill>
          <a:ln w="9525">
            <a:solidFill>
              <a:srgbClr val="2A3A5E"/>
            </a:solidFill>
            <a:prstDash val="solid"/>
          </a:ln>
        </p:spPr>
        <p:txBody>
          <a:bodyPr/>
          <a:lstStyle/>
          <a:p>
            <a:endParaRPr lang="en-GB"/>
          </a:p>
        </p:txBody>
      </p:sp>
      <p:sp>
        <p:nvSpPr>
          <p:cNvPr id="22" name="Text 20"/>
          <p:cNvSpPr/>
          <p:nvPr/>
        </p:nvSpPr>
        <p:spPr>
          <a:xfrm>
            <a:off x="4754880" y="2350008"/>
            <a:ext cx="320040" cy="320040"/>
          </a:xfrm>
          <a:prstGeom prst="rect">
            <a:avLst/>
          </a:prstGeom>
          <a:noFill/>
          <a:ln/>
        </p:spPr>
        <p:txBody>
          <a:bodyPr wrap="square" lIns="0" tIns="0" rIns="0" bIns="0" rtlCol="0" anchor="ctr"/>
          <a:lstStyle/>
          <a:p>
            <a:pPr marL="0" indent="0" algn="ctr">
              <a:buNone/>
            </a:pPr>
            <a:endParaRPr lang="en-US" sz="1100" dirty="0"/>
          </a:p>
        </p:txBody>
      </p:sp>
      <p:sp>
        <p:nvSpPr>
          <p:cNvPr id="23" name="Text 21"/>
          <p:cNvSpPr/>
          <p:nvPr/>
        </p:nvSpPr>
        <p:spPr>
          <a:xfrm>
            <a:off x="5120640" y="2249424"/>
            <a:ext cx="3566160" cy="274320"/>
          </a:xfrm>
          <a:prstGeom prst="rect">
            <a:avLst/>
          </a:prstGeom>
          <a:noFill/>
          <a:ln/>
        </p:spPr>
        <p:txBody>
          <a:bodyPr wrap="square" lIns="0" tIns="0" rIns="0" bIns="0" rtlCol="0" anchor="ctr"/>
          <a:lstStyle/>
          <a:p>
            <a:pPr marL="0" indent="0">
              <a:buNone/>
            </a:pPr>
            <a:r>
              <a:rPr lang="en-US" sz="1200" b="1" dirty="0">
                <a:solidFill>
                  <a:srgbClr val="EAEAEA"/>
                </a:solidFill>
                <a:latin typeface="Calibri" pitchFamily="34" charset="0"/>
                <a:ea typeface="Calibri" pitchFamily="34" charset="-122"/>
                <a:cs typeface="Calibri" pitchFamily="34" charset="-120"/>
              </a:rPr>
              <a:t>World Pickup Component</a:t>
            </a:r>
            <a:endParaRPr lang="en-US" sz="1200" dirty="0"/>
          </a:p>
        </p:txBody>
      </p:sp>
      <p:sp>
        <p:nvSpPr>
          <p:cNvPr id="24" name="Text 22"/>
          <p:cNvSpPr/>
          <p:nvPr/>
        </p:nvSpPr>
        <p:spPr>
          <a:xfrm>
            <a:off x="5120640" y="2532888"/>
            <a:ext cx="3566160" cy="411480"/>
          </a:xfrm>
          <a:prstGeom prst="rect">
            <a:avLst/>
          </a:prstGeom>
          <a:noFill/>
          <a:ln/>
        </p:spPr>
        <p:txBody>
          <a:bodyPr wrap="square" lIns="0" tIns="0" rIns="0" bIns="0" rtlCol="0" anchor="ctr"/>
          <a:lstStyle/>
          <a:p>
            <a:pPr marL="0" indent="0">
              <a:buNone/>
            </a:pPr>
            <a:r>
              <a:rPr lang="en-US" sz="1000" dirty="0">
                <a:solidFill>
                  <a:schemeClr val="bg1"/>
                </a:solidFill>
                <a:latin typeface="Calibri" pitchFamily="34" charset="0"/>
                <a:ea typeface="Calibri" pitchFamily="34" charset="-122"/>
                <a:cs typeface="Calibri" pitchFamily="34" charset="-120"/>
              </a:rPr>
              <a:t>Trigger zone on map, player overlap adds item to inventory, removes world object</a:t>
            </a:r>
            <a:endParaRPr lang="en-US" sz="1000" dirty="0">
              <a:solidFill>
                <a:schemeClr val="bg1"/>
              </a:solidFill>
            </a:endParaRPr>
          </a:p>
        </p:txBody>
      </p:sp>
      <p:sp>
        <p:nvSpPr>
          <p:cNvPr id="25" name="Shape 23"/>
          <p:cNvSpPr/>
          <p:nvPr/>
        </p:nvSpPr>
        <p:spPr>
          <a:xfrm>
            <a:off x="4709160" y="3099816"/>
            <a:ext cx="4069080" cy="777240"/>
          </a:xfrm>
          <a:prstGeom prst="rect">
            <a:avLst/>
          </a:prstGeom>
          <a:solidFill>
            <a:srgbClr val="0D1B2E"/>
          </a:solidFill>
          <a:ln w="9525">
            <a:solidFill>
              <a:srgbClr val="2A3A5E"/>
            </a:solidFill>
            <a:prstDash val="solid"/>
          </a:ln>
        </p:spPr>
        <p:txBody>
          <a:bodyPr/>
          <a:lstStyle/>
          <a:p>
            <a:endParaRPr lang="en-GB"/>
          </a:p>
        </p:txBody>
      </p:sp>
      <p:sp>
        <p:nvSpPr>
          <p:cNvPr id="27" name="Text 25"/>
          <p:cNvSpPr/>
          <p:nvPr/>
        </p:nvSpPr>
        <p:spPr>
          <a:xfrm>
            <a:off x="4754880" y="3236976"/>
            <a:ext cx="320040" cy="320040"/>
          </a:xfrm>
          <a:prstGeom prst="rect">
            <a:avLst/>
          </a:prstGeom>
          <a:noFill/>
          <a:ln/>
        </p:spPr>
        <p:txBody>
          <a:bodyPr wrap="square" lIns="0" tIns="0" rIns="0" bIns="0" rtlCol="0" anchor="ctr"/>
          <a:lstStyle/>
          <a:p>
            <a:pPr marL="0" indent="0" algn="ctr">
              <a:buNone/>
            </a:pPr>
            <a:endParaRPr lang="en-US" sz="1100" dirty="0"/>
          </a:p>
        </p:txBody>
      </p:sp>
      <p:sp>
        <p:nvSpPr>
          <p:cNvPr id="28" name="Text 26"/>
          <p:cNvSpPr/>
          <p:nvPr/>
        </p:nvSpPr>
        <p:spPr>
          <a:xfrm>
            <a:off x="5120640" y="3136392"/>
            <a:ext cx="3566160" cy="274320"/>
          </a:xfrm>
          <a:prstGeom prst="rect">
            <a:avLst/>
          </a:prstGeom>
          <a:noFill/>
          <a:ln/>
        </p:spPr>
        <p:txBody>
          <a:bodyPr wrap="square" lIns="0" tIns="0" rIns="0" bIns="0" rtlCol="0" anchor="ctr"/>
          <a:lstStyle/>
          <a:p>
            <a:pPr marL="0" indent="0">
              <a:buNone/>
            </a:pPr>
            <a:r>
              <a:rPr lang="en-US" sz="1200" b="1" dirty="0">
                <a:solidFill>
                  <a:srgbClr val="EAEAEA"/>
                </a:solidFill>
                <a:latin typeface="Calibri" pitchFamily="34" charset="0"/>
                <a:ea typeface="Calibri" pitchFamily="34" charset="-122"/>
                <a:cs typeface="Calibri" pitchFamily="34" charset="-120"/>
              </a:rPr>
              <a:t>Inventory Use Actions</a:t>
            </a:r>
            <a:endParaRPr lang="en-US" sz="1200" dirty="0"/>
          </a:p>
        </p:txBody>
      </p:sp>
      <p:sp>
        <p:nvSpPr>
          <p:cNvPr id="29" name="Text 27"/>
          <p:cNvSpPr/>
          <p:nvPr/>
        </p:nvSpPr>
        <p:spPr>
          <a:xfrm>
            <a:off x="5120640" y="3419856"/>
            <a:ext cx="3566160" cy="411480"/>
          </a:xfrm>
          <a:prstGeom prst="rect">
            <a:avLst/>
          </a:prstGeom>
          <a:noFill/>
          <a:ln/>
        </p:spPr>
        <p:txBody>
          <a:bodyPr wrap="square" lIns="0" tIns="0" rIns="0" bIns="0" rtlCol="0" anchor="ctr"/>
          <a:lstStyle/>
          <a:p>
            <a:pPr marL="0" indent="0">
              <a:buNone/>
            </a:pPr>
            <a:r>
              <a:rPr lang="en-US" sz="1000" dirty="0">
                <a:solidFill>
                  <a:schemeClr val="bg1"/>
                </a:solidFill>
                <a:latin typeface="Calibri" pitchFamily="34" charset="0"/>
                <a:ea typeface="Calibri" pitchFamily="34" charset="-122"/>
                <a:cs typeface="Calibri" pitchFamily="34" charset="-120"/>
              </a:rPr>
              <a:t>Right-click slot, context actions such as “equip” or “use”</a:t>
            </a:r>
            <a:endParaRPr lang="en-US" sz="1000" dirty="0">
              <a:solidFill>
                <a:schemeClr val="bg1"/>
              </a:solidFill>
            </a:endParaRPr>
          </a:p>
        </p:txBody>
      </p:sp>
      <p:sp>
        <p:nvSpPr>
          <p:cNvPr id="30" name="Shape 28"/>
          <p:cNvSpPr/>
          <p:nvPr/>
        </p:nvSpPr>
        <p:spPr>
          <a:xfrm>
            <a:off x="4709160" y="3986784"/>
            <a:ext cx="4069080" cy="777240"/>
          </a:xfrm>
          <a:prstGeom prst="rect">
            <a:avLst/>
          </a:prstGeom>
          <a:solidFill>
            <a:srgbClr val="0D1B2E"/>
          </a:solidFill>
          <a:ln w="9525">
            <a:solidFill>
              <a:srgbClr val="2A3A5E"/>
            </a:solidFill>
            <a:prstDash val="solid"/>
          </a:ln>
        </p:spPr>
        <p:txBody>
          <a:bodyPr/>
          <a:lstStyle/>
          <a:p>
            <a:endParaRPr lang="en-GB"/>
          </a:p>
        </p:txBody>
      </p:sp>
      <p:sp>
        <p:nvSpPr>
          <p:cNvPr id="32" name="Text 30"/>
          <p:cNvSpPr/>
          <p:nvPr/>
        </p:nvSpPr>
        <p:spPr>
          <a:xfrm>
            <a:off x="4754880" y="4123944"/>
            <a:ext cx="320040" cy="320040"/>
          </a:xfrm>
          <a:prstGeom prst="rect">
            <a:avLst/>
          </a:prstGeom>
          <a:noFill/>
          <a:ln/>
        </p:spPr>
        <p:txBody>
          <a:bodyPr wrap="square" lIns="0" tIns="0" rIns="0" bIns="0" rtlCol="0" anchor="ctr"/>
          <a:lstStyle/>
          <a:p>
            <a:pPr marL="0" indent="0" algn="ctr">
              <a:buNone/>
            </a:pPr>
            <a:r>
              <a:rPr lang="en-US" sz="1100" b="1" dirty="0">
                <a:solidFill>
                  <a:srgbClr val="111827"/>
                </a:solidFill>
                <a:latin typeface="Calibri" pitchFamily="34" charset="0"/>
                <a:ea typeface="Calibri" pitchFamily="34" charset="-122"/>
                <a:cs typeface="Calibri" pitchFamily="34" charset="-120"/>
              </a:rPr>
              <a:t>4</a:t>
            </a:r>
            <a:endParaRPr lang="en-US" sz="1100" dirty="0"/>
          </a:p>
        </p:txBody>
      </p:sp>
      <p:sp>
        <p:nvSpPr>
          <p:cNvPr id="33" name="Text 31"/>
          <p:cNvSpPr/>
          <p:nvPr/>
        </p:nvSpPr>
        <p:spPr>
          <a:xfrm>
            <a:off x="5120640" y="4023360"/>
            <a:ext cx="3566160" cy="274320"/>
          </a:xfrm>
          <a:prstGeom prst="rect">
            <a:avLst/>
          </a:prstGeom>
          <a:noFill/>
          <a:ln/>
        </p:spPr>
        <p:txBody>
          <a:bodyPr wrap="square" lIns="0" tIns="0" rIns="0" bIns="0" rtlCol="0" anchor="ctr"/>
          <a:lstStyle/>
          <a:p>
            <a:pPr marL="0" indent="0">
              <a:buNone/>
            </a:pPr>
            <a:r>
              <a:rPr lang="en-US" sz="1200" b="1" dirty="0">
                <a:solidFill>
                  <a:srgbClr val="EAEAEA"/>
                </a:solidFill>
                <a:latin typeface="Calibri" pitchFamily="34" charset="0"/>
                <a:ea typeface="Calibri" pitchFamily="34" charset="-122"/>
                <a:cs typeface="Calibri" pitchFamily="34" charset="-120"/>
              </a:rPr>
              <a:t>HUD Integration</a:t>
            </a:r>
            <a:endParaRPr lang="en-US" sz="1200" dirty="0"/>
          </a:p>
        </p:txBody>
      </p:sp>
      <p:sp>
        <p:nvSpPr>
          <p:cNvPr id="34" name="Text 32"/>
          <p:cNvSpPr/>
          <p:nvPr/>
        </p:nvSpPr>
        <p:spPr>
          <a:xfrm>
            <a:off x="5120640" y="4306824"/>
            <a:ext cx="3566160" cy="411480"/>
          </a:xfrm>
          <a:prstGeom prst="rect">
            <a:avLst/>
          </a:prstGeom>
          <a:noFill/>
          <a:ln/>
        </p:spPr>
        <p:txBody>
          <a:bodyPr wrap="square" lIns="0" tIns="0" rIns="0" bIns="0" rtlCol="0" anchor="ctr"/>
          <a:lstStyle/>
          <a:p>
            <a:pPr marL="0" indent="0">
              <a:buNone/>
            </a:pPr>
            <a:r>
              <a:rPr lang="en-US" sz="1000" dirty="0">
                <a:solidFill>
                  <a:schemeClr val="bg1"/>
                </a:solidFill>
                <a:latin typeface="Calibri" pitchFamily="34" charset="0"/>
                <a:ea typeface="Calibri" pitchFamily="34" charset="-122"/>
                <a:cs typeface="Calibri" pitchFamily="34" charset="-120"/>
              </a:rPr>
              <a:t>Active item shown in HUD. Consumable items trigger stat changes and removed from slot</a:t>
            </a:r>
            <a:endParaRPr lang="en-US" sz="1000" dirty="0">
              <a:solidFill>
                <a:schemeClr val="bg1"/>
              </a:solidFill>
            </a:endParaRPr>
          </a:p>
        </p:txBody>
      </p:sp>
      <p:sp>
        <p:nvSpPr>
          <p:cNvPr id="36" name="Arrow: Right 35">
            <a:extLst>
              <a:ext uri="{FF2B5EF4-FFF2-40B4-BE49-F238E27FC236}">
                <a16:creationId xmlns:a16="http://schemas.microsoft.com/office/drawing/2014/main" id="{7A6C8C72-5007-7E64-13A6-739F3CAA0A3C}"/>
              </a:ext>
            </a:extLst>
          </p:cNvPr>
          <p:cNvSpPr/>
          <p:nvPr/>
        </p:nvSpPr>
        <p:spPr>
          <a:xfrm rot="5400000">
            <a:off x="3192399" y="2931795"/>
            <a:ext cx="3426714" cy="237744"/>
          </a:xfrm>
          <a:prstGeom prst="rightArrow">
            <a:avLst/>
          </a:prstGeom>
          <a:solidFill>
            <a:schemeClr val="bg1"/>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827"/>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0A0F1E"/>
          </a:solidFill>
          <a:ln w="12700">
            <a:solidFill>
              <a:srgbClr val="0A0F1E"/>
            </a:solidFill>
            <a:prstDash val="solid"/>
          </a:ln>
        </p:spPr>
        <p:txBody>
          <a:bodyPr/>
          <a:lstStyle/>
          <a:p>
            <a:endParaRPr lang="en-GB"/>
          </a:p>
        </p:txBody>
      </p:sp>
      <p:sp>
        <p:nvSpPr>
          <p:cNvPr id="3" name="Shape 1"/>
          <p:cNvSpPr/>
          <p:nvPr/>
        </p:nvSpPr>
        <p:spPr>
          <a:xfrm>
            <a:off x="4571998" y="0"/>
            <a:ext cx="4572002" cy="100584"/>
          </a:xfrm>
          <a:prstGeom prst="rect">
            <a:avLst/>
          </a:prstGeom>
          <a:solidFill>
            <a:srgbClr val="E94560"/>
          </a:solidFill>
          <a:ln w="12700">
            <a:solidFill>
              <a:srgbClr val="E94560"/>
            </a:solidFill>
            <a:prstDash val="solid"/>
          </a:ln>
        </p:spPr>
        <p:txBody>
          <a:bodyPr/>
          <a:lstStyle/>
          <a:p>
            <a:endParaRPr lang="en-GB"/>
          </a:p>
        </p:txBody>
      </p:sp>
      <p:sp>
        <p:nvSpPr>
          <p:cNvPr id="4" name="Text 2"/>
          <p:cNvSpPr/>
          <p:nvPr/>
        </p:nvSpPr>
        <p:spPr>
          <a:xfrm>
            <a:off x="274320" y="91440"/>
            <a:ext cx="8229600" cy="548640"/>
          </a:xfrm>
          <a:prstGeom prst="rect">
            <a:avLst/>
          </a:prstGeom>
          <a:noFill/>
          <a:ln/>
        </p:spPr>
        <p:txBody>
          <a:bodyPr wrap="square" lIns="0" tIns="0" rIns="0" bIns="0" rtlCol="0" anchor="ctr"/>
          <a:lstStyle/>
          <a:p>
            <a:pPr marL="0" indent="0">
              <a:buNone/>
            </a:pPr>
            <a:r>
              <a:rPr lang="en-US" sz="2000" b="1" dirty="0">
                <a:solidFill>
                  <a:srgbClr val="EAEAEA"/>
                </a:solidFill>
                <a:latin typeface="Calibri" pitchFamily="34" charset="0"/>
                <a:ea typeface="Calibri" pitchFamily="34" charset="-122"/>
                <a:cs typeface="Calibri" pitchFamily="34" charset="-120"/>
              </a:rPr>
              <a:t>NEXT: AI ENEMIES &amp; WEAPONS SYSTEM</a:t>
            </a:r>
            <a:endParaRPr lang="en-US" sz="2000" dirty="0"/>
          </a:p>
        </p:txBody>
      </p:sp>
      <p:sp>
        <p:nvSpPr>
          <p:cNvPr id="6" name="Text 4"/>
          <p:cNvSpPr/>
          <p:nvPr/>
        </p:nvSpPr>
        <p:spPr>
          <a:xfrm>
            <a:off x="5029200" y="822960"/>
            <a:ext cx="1828800" cy="384048"/>
          </a:xfrm>
          <a:prstGeom prst="rect">
            <a:avLst/>
          </a:prstGeom>
          <a:noFill/>
          <a:ln/>
        </p:spPr>
        <p:txBody>
          <a:bodyPr wrap="square" lIns="0" tIns="0" rIns="0" bIns="0" rtlCol="0" anchor="ctr"/>
          <a:lstStyle/>
          <a:p>
            <a:pPr marL="0" indent="0" algn="ctr">
              <a:buNone/>
            </a:pPr>
            <a:r>
              <a:rPr lang="en-US" sz="1300" b="1" dirty="0">
                <a:solidFill>
                  <a:srgbClr val="9B59B6"/>
                </a:solidFill>
                <a:latin typeface="Calibri" pitchFamily="34" charset="0"/>
                <a:ea typeface="Calibri" pitchFamily="34" charset="-122"/>
                <a:cs typeface="Calibri" pitchFamily="34" charset="-120"/>
              </a:rPr>
              <a:t>PRIORITY 2</a:t>
            </a:r>
            <a:endParaRPr lang="en-US" sz="1300" dirty="0"/>
          </a:p>
        </p:txBody>
      </p:sp>
      <p:sp>
        <p:nvSpPr>
          <p:cNvPr id="9" name="Shape 7"/>
          <p:cNvSpPr/>
          <p:nvPr/>
        </p:nvSpPr>
        <p:spPr>
          <a:xfrm>
            <a:off x="228600" y="868680"/>
            <a:ext cx="4206240" cy="4114800"/>
          </a:xfrm>
          <a:prstGeom prst="rect">
            <a:avLst/>
          </a:prstGeom>
          <a:solidFill>
            <a:srgbClr val="1A2744"/>
          </a:solidFill>
          <a:ln w="12700">
            <a:solidFill>
              <a:srgbClr val="4ECDC4"/>
            </a:solidFill>
            <a:prstDash val="solid"/>
          </a:ln>
          <a:effectLst>
            <a:outerShdw blurRad="76200" dist="25400" dir="8100000" algn="bl" rotWithShape="0">
              <a:srgbClr val="000000">
                <a:alpha val="20000"/>
              </a:srgbClr>
            </a:outerShdw>
          </a:effectLst>
        </p:spPr>
        <p:txBody>
          <a:bodyPr/>
          <a:lstStyle/>
          <a:p>
            <a:endParaRPr lang="en-GB"/>
          </a:p>
        </p:txBody>
      </p:sp>
      <p:sp>
        <p:nvSpPr>
          <p:cNvPr id="10" name="Shape 8"/>
          <p:cNvSpPr/>
          <p:nvPr/>
        </p:nvSpPr>
        <p:spPr>
          <a:xfrm>
            <a:off x="228600" y="868680"/>
            <a:ext cx="4206240" cy="82296"/>
          </a:xfrm>
          <a:prstGeom prst="rect">
            <a:avLst/>
          </a:prstGeom>
          <a:solidFill>
            <a:srgbClr val="4ECDC4"/>
          </a:solidFill>
          <a:ln w="12700">
            <a:solidFill>
              <a:srgbClr val="4ECDC4"/>
            </a:solidFill>
            <a:prstDash val="solid"/>
          </a:ln>
        </p:spPr>
        <p:txBody>
          <a:bodyPr/>
          <a:lstStyle/>
          <a:p>
            <a:endParaRPr lang="en-GB"/>
          </a:p>
        </p:txBody>
      </p:sp>
      <p:sp>
        <p:nvSpPr>
          <p:cNvPr id="11" name="Text 9"/>
          <p:cNvSpPr/>
          <p:nvPr/>
        </p:nvSpPr>
        <p:spPr>
          <a:xfrm>
            <a:off x="320040" y="1005840"/>
            <a:ext cx="4023360" cy="347472"/>
          </a:xfrm>
          <a:prstGeom prst="rect">
            <a:avLst/>
          </a:prstGeom>
          <a:noFill/>
          <a:ln/>
        </p:spPr>
        <p:txBody>
          <a:bodyPr wrap="square" lIns="0" tIns="0" rIns="0" bIns="0" rtlCol="0" anchor="ctr"/>
          <a:lstStyle/>
          <a:p>
            <a:pPr marL="0" indent="0">
              <a:buNone/>
            </a:pPr>
            <a:r>
              <a:rPr lang="en-US" sz="1400" b="1" dirty="0">
                <a:solidFill>
                  <a:srgbClr val="EAEAEA"/>
                </a:solidFill>
                <a:latin typeface="Calibri" pitchFamily="34" charset="0"/>
                <a:ea typeface="Calibri" pitchFamily="34" charset="-122"/>
                <a:cs typeface="Calibri" pitchFamily="34" charset="-120"/>
              </a:rPr>
              <a:t>AI ENEMY BEHAVIOURS</a:t>
            </a:r>
            <a:endParaRPr lang="en-US" sz="1400" dirty="0"/>
          </a:p>
        </p:txBody>
      </p:sp>
      <p:sp>
        <p:nvSpPr>
          <p:cNvPr id="12" name="Shape 10"/>
          <p:cNvSpPr/>
          <p:nvPr/>
        </p:nvSpPr>
        <p:spPr>
          <a:xfrm>
            <a:off x="320040" y="1463040"/>
            <a:ext cx="3977640" cy="548640"/>
          </a:xfrm>
          <a:prstGeom prst="rect">
            <a:avLst/>
          </a:prstGeom>
          <a:solidFill>
            <a:srgbClr val="0D1B2E"/>
          </a:solidFill>
          <a:ln w="9525">
            <a:solidFill>
              <a:srgbClr val="2A3A5E"/>
            </a:solidFill>
            <a:prstDash val="solid"/>
          </a:ln>
        </p:spPr>
        <p:txBody>
          <a:bodyPr/>
          <a:lstStyle/>
          <a:p>
            <a:endParaRPr lang="en-GB"/>
          </a:p>
        </p:txBody>
      </p:sp>
      <p:sp>
        <p:nvSpPr>
          <p:cNvPr id="13" name="Text 11"/>
          <p:cNvSpPr/>
          <p:nvPr/>
        </p:nvSpPr>
        <p:spPr>
          <a:xfrm>
            <a:off x="411480" y="1499616"/>
            <a:ext cx="3749040" cy="228600"/>
          </a:xfrm>
          <a:prstGeom prst="rect">
            <a:avLst/>
          </a:prstGeom>
          <a:noFill/>
          <a:ln/>
        </p:spPr>
        <p:txBody>
          <a:bodyPr wrap="square" lIns="0" tIns="0" rIns="0" bIns="0" rtlCol="0" anchor="ctr"/>
          <a:lstStyle/>
          <a:p>
            <a:pPr marL="0" indent="0">
              <a:buNone/>
            </a:pPr>
            <a:r>
              <a:rPr lang="en-US" sz="1100" b="1" dirty="0">
                <a:solidFill>
                  <a:srgbClr val="4ECDC4"/>
                </a:solidFill>
                <a:latin typeface="Calibri" pitchFamily="34" charset="0"/>
                <a:ea typeface="Calibri" pitchFamily="34" charset="-122"/>
                <a:cs typeface="Calibri" pitchFamily="34" charset="-120"/>
              </a:rPr>
              <a:t>Idle State</a:t>
            </a:r>
            <a:endParaRPr lang="en-US" sz="1100" dirty="0">
              <a:solidFill>
                <a:srgbClr val="4ECDC4"/>
              </a:solidFill>
            </a:endParaRPr>
          </a:p>
        </p:txBody>
      </p:sp>
      <p:sp>
        <p:nvSpPr>
          <p:cNvPr id="14" name="Text 12"/>
          <p:cNvSpPr/>
          <p:nvPr/>
        </p:nvSpPr>
        <p:spPr>
          <a:xfrm>
            <a:off x="411480" y="1737360"/>
            <a:ext cx="3749040" cy="228600"/>
          </a:xfrm>
          <a:prstGeom prst="rect">
            <a:avLst/>
          </a:prstGeom>
          <a:noFill/>
          <a:ln/>
        </p:spPr>
        <p:txBody>
          <a:bodyPr wrap="square" lIns="0" tIns="0" rIns="0" bIns="0" rtlCol="0" anchor="ctr"/>
          <a:lstStyle/>
          <a:p>
            <a:pPr marL="0" indent="0">
              <a:buNone/>
            </a:pPr>
            <a:r>
              <a:rPr lang="en-US" sz="1000" dirty="0">
                <a:solidFill>
                  <a:schemeClr val="bg1"/>
                </a:solidFill>
                <a:latin typeface="Calibri" pitchFamily="34" charset="0"/>
                <a:ea typeface="Calibri" pitchFamily="34" charset="-122"/>
                <a:cs typeface="Calibri" pitchFamily="34" charset="-120"/>
              </a:rPr>
              <a:t>Enemy stands at post</a:t>
            </a:r>
            <a:endParaRPr lang="en-US" sz="1000" dirty="0">
              <a:solidFill>
                <a:schemeClr val="bg1"/>
              </a:solidFill>
            </a:endParaRPr>
          </a:p>
        </p:txBody>
      </p:sp>
      <p:sp>
        <p:nvSpPr>
          <p:cNvPr id="15" name="Shape 13"/>
          <p:cNvSpPr/>
          <p:nvPr/>
        </p:nvSpPr>
        <p:spPr>
          <a:xfrm>
            <a:off x="320040" y="2121408"/>
            <a:ext cx="3977640" cy="548640"/>
          </a:xfrm>
          <a:prstGeom prst="rect">
            <a:avLst/>
          </a:prstGeom>
          <a:solidFill>
            <a:srgbClr val="0D1B2E"/>
          </a:solidFill>
          <a:ln w="9525">
            <a:solidFill>
              <a:srgbClr val="2A3A5E"/>
            </a:solidFill>
            <a:prstDash val="solid"/>
          </a:ln>
        </p:spPr>
        <p:txBody>
          <a:bodyPr/>
          <a:lstStyle/>
          <a:p>
            <a:endParaRPr lang="en-GB"/>
          </a:p>
        </p:txBody>
      </p:sp>
      <p:sp>
        <p:nvSpPr>
          <p:cNvPr id="16" name="Text 14"/>
          <p:cNvSpPr/>
          <p:nvPr/>
        </p:nvSpPr>
        <p:spPr>
          <a:xfrm>
            <a:off x="411480" y="2157984"/>
            <a:ext cx="3749040" cy="228600"/>
          </a:xfrm>
          <a:prstGeom prst="rect">
            <a:avLst/>
          </a:prstGeom>
          <a:noFill/>
          <a:ln/>
        </p:spPr>
        <p:txBody>
          <a:bodyPr wrap="square" lIns="0" tIns="0" rIns="0" bIns="0" rtlCol="0" anchor="ctr"/>
          <a:lstStyle/>
          <a:p>
            <a:pPr marL="0" indent="0">
              <a:buNone/>
            </a:pPr>
            <a:r>
              <a:rPr lang="en-US" sz="1100" b="1" dirty="0">
                <a:solidFill>
                  <a:srgbClr val="4ECDC4"/>
                </a:solidFill>
                <a:latin typeface="Calibri" pitchFamily="34" charset="0"/>
                <a:ea typeface="Calibri" pitchFamily="34" charset="-122"/>
                <a:cs typeface="Calibri" pitchFamily="34" charset="-120"/>
              </a:rPr>
              <a:t>Patrol State</a:t>
            </a:r>
            <a:endParaRPr lang="en-US" sz="1100" dirty="0">
              <a:solidFill>
                <a:srgbClr val="4ECDC4"/>
              </a:solidFill>
            </a:endParaRPr>
          </a:p>
        </p:txBody>
      </p:sp>
      <p:sp>
        <p:nvSpPr>
          <p:cNvPr id="17" name="Text 15"/>
          <p:cNvSpPr/>
          <p:nvPr/>
        </p:nvSpPr>
        <p:spPr>
          <a:xfrm>
            <a:off x="411480" y="2395728"/>
            <a:ext cx="3886200" cy="228600"/>
          </a:xfrm>
          <a:prstGeom prst="rect">
            <a:avLst/>
          </a:prstGeom>
          <a:noFill/>
          <a:ln/>
        </p:spPr>
        <p:txBody>
          <a:bodyPr wrap="square" lIns="0" tIns="0" rIns="0" bIns="0" rtlCol="0" anchor="ctr"/>
          <a:lstStyle/>
          <a:p>
            <a:pPr marL="0" indent="0">
              <a:buNone/>
            </a:pPr>
            <a:r>
              <a:rPr lang="en-US" sz="1000" dirty="0">
                <a:solidFill>
                  <a:schemeClr val="bg1"/>
                </a:solidFill>
                <a:latin typeface="Calibri" pitchFamily="34" charset="0"/>
                <a:ea typeface="Calibri" pitchFamily="34" charset="-122"/>
                <a:cs typeface="Calibri" pitchFamily="34" charset="-120"/>
              </a:rPr>
              <a:t>Moves between waypoints or along a fixed path (A* or </a:t>
            </a:r>
            <a:r>
              <a:rPr lang="en-US" sz="1000" dirty="0" err="1">
                <a:solidFill>
                  <a:schemeClr val="bg1"/>
                </a:solidFill>
                <a:latin typeface="Calibri" pitchFamily="34" charset="0"/>
                <a:ea typeface="Calibri" pitchFamily="34" charset="-122"/>
                <a:cs typeface="Calibri" pitchFamily="34" charset="-120"/>
              </a:rPr>
              <a:t>flowfield</a:t>
            </a:r>
            <a:r>
              <a:rPr lang="en-US" sz="1000" dirty="0">
                <a:solidFill>
                  <a:schemeClr val="bg1"/>
                </a:solidFill>
                <a:latin typeface="Calibri" pitchFamily="34" charset="0"/>
                <a:ea typeface="Calibri" pitchFamily="34" charset="-122"/>
                <a:cs typeface="Calibri" pitchFamily="34" charset="-120"/>
              </a:rPr>
              <a:t> patterns)</a:t>
            </a:r>
            <a:endParaRPr lang="en-US" sz="1000" dirty="0">
              <a:solidFill>
                <a:schemeClr val="bg1"/>
              </a:solidFill>
            </a:endParaRPr>
          </a:p>
        </p:txBody>
      </p:sp>
      <p:sp>
        <p:nvSpPr>
          <p:cNvPr id="18" name="Shape 16"/>
          <p:cNvSpPr/>
          <p:nvPr/>
        </p:nvSpPr>
        <p:spPr>
          <a:xfrm>
            <a:off x="320040" y="2779776"/>
            <a:ext cx="3977640" cy="548640"/>
          </a:xfrm>
          <a:prstGeom prst="rect">
            <a:avLst/>
          </a:prstGeom>
          <a:solidFill>
            <a:srgbClr val="0D1B2E"/>
          </a:solidFill>
          <a:ln w="9525">
            <a:solidFill>
              <a:srgbClr val="2A3A5E"/>
            </a:solidFill>
            <a:prstDash val="solid"/>
          </a:ln>
        </p:spPr>
        <p:txBody>
          <a:bodyPr/>
          <a:lstStyle/>
          <a:p>
            <a:endParaRPr lang="en-GB"/>
          </a:p>
        </p:txBody>
      </p:sp>
      <p:sp>
        <p:nvSpPr>
          <p:cNvPr id="19" name="Text 17"/>
          <p:cNvSpPr/>
          <p:nvPr/>
        </p:nvSpPr>
        <p:spPr>
          <a:xfrm>
            <a:off x="411480" y="2816352"/>
            <a:ext cx="3749040" cy="228600"/>
          </a:xfrm>
          <a:prstGeom prst="rect">
            <a:avLst/>
          </a:prstGeom>
          <a:noFill/>
          <a:ln/>
        </p:spPr>
        <p:txBody>
          <a:bodyPr wrap="square" lIns="0" tIns="0" rIns="0" bIns="0" rtlCol="0" anchor="ctr"/>
          <a:lstStyle/>
          <a:p>
            <a:pPr marL="0" indent="0">
              <a:buNone/>
            </a:pPr>
            <a:r>
              <a:rPr lang="en-US" sz="1100" b="1" dirty="0">
                <a:solidFill>
                  <a:srgbClr val="4ECDC4"/>
                </a:solidFill>
                <a:latin typeface="Calibri" pitchFamily="34" charset="0"/>
                <a:ea typeface="Calibri" pitchFamily="34" charset="-122"/>
                <a:cs typeface="Calibri" pitchFamily="34" charset="-120"/>
              </a:rPr>
              <a:t>Alert State</a:t>
            </a:r>
            <a:endParaRPr lang="en-US" sz="1100" dirty="0">
              <a:solidFill>
                <a:srgbClr val="4ECDC4"/>
              </a:solidFill>
            </a:endParaRPr>
          </a:p>
        </p:txBody>
      </p:sp>
      <p:sp>
        <p:nvSpPr>
          <p:cNvPr id="20" name="Text 18"/>
          <p:cNvSpPr/>
          <p:nvPr/>
        </p:nvSpPr>
        <p:spPr>
          <a:xfrm>
            <a:off x="411480" y="3054096"/>
            <a:ext cx="3749040" cy="228600"/>
          </a:xfrm>
          <a:prstGeom prst="rect">
            <a:avLst/>
          </a:prstGeom>
          <a:noFill/>
          <a:ln/>
        </p:spPr>
        <p:txBody>
          <a:bodyPr wrap="square" lIns="0" tIns="0" rIns="0" bIns="0" rtlCol="0" anchor="ctr"/>
          <a:lstStyle/>
          <a:p>
            <a:pPr marL="0" indent="0">
              <a:buNone/>
            </a:pPr>
            <a:r>
              <a:rPr lang="en-US" sz="1000" dirty="0">
                <a:solidFill>
                  <a:schemeClr val="bg1"/>
                </a:solidFill>
                <a:latin typeface="Calibri" pitchFamily="34" charset="0"/>
                <a:ea typeface="Calibri" pitchFamily="34" charset="-122"/>
                <a:cs typeface="Calibri" pitchFamily="34" charset="-120"/>
              </a:rPr>
              <a:t>Player detected within range, using </a:t>
            </a:r>
            <a:r>
              <a:rPr lang="en-US" sz="1000" dirty="0" err="1">
                <a:solidFill>
                  <a:schemeClr val="bg1"/>
                </a:solidFill>
                <a:latin typeface="Calibri" pitchFamily="34" charset="0"/>
                <a:ea typeface="Calibri" pitchFamily="34" charset="-122"/>
                <a:cs typeface="Calibri" pitchFamily="34" charset="-120"/>
              </a:rPr>
              <a:t>raycast</a:t>
            </a:r>
            <a:endParaRPr lang="en-US" sz="1000" dirty="0">
              <a:solidFill>
                <a:schemeClr val="bg1"/>
              </a:solidFill>
            </a:endParaRPr>
          </a:p>
        </p:txBody>
      </p:sp>
      <p:sp>
        <p:nvSpPr>
          <p:cNvPr id="21" name="Shape 19"/>
          <p:cNvSpPr/>
          <p:nvPr/>
        </p:nvSpPr>
        <p:spPr>
          <a:xfrm>
            <a:off x="320040" y="3438144"/>
            <a:ext cx="3977640" cy="548640"/>
          </a:xfrm>
          <a:prstGeom prst="rect">
            <a:avLst/>
          </a:prstGeom>
          <a:solidFill>
            <a:srgbClr val="0D1B2E"/>
          </a:solidFill>
          <a:ln w="9525">
            <a:solidFill>
              <a:srgbClr val="2A3A5E"/>
            </a:solidFill>
            <a:prstDash val="solid"/>
          </a:ln>
        </p:spPr>
        <p:txBody>
          <a:bodyPr/>
          <a:lstStyle/>
          <a:p>
            <a:endParaRPr lang="en-GB"/>
          </a:p>
        </p:txBody>
      </p:sp>
      <p:sp>
        <p:nvSpPr>
          <p:cNvPr id="22" name="Text 20"/>
          <p:cNvSpPr/>
          <p:nvPr/>
        </p:nvSpPr>
        <p:spPr>
          <a:xfrm>
            <a:off x="411480" y="3474720"/>
            <a:ext cx="3749040" cy="228600"/>
          </a:xfrm>
          <a:prstGeom prst="rect">
            <a:avLst/>
          </a:prstGeom>
          <a:noFill/>
          <a:ln/>
        </p:spPr>
        <p:txBody>
          <a:bodyPr wrap="square" lIns="0" tIns="0" rIns="0" bIns="0" rtlCol="0" anchor="ctr"/>
          <a:lstStyle/>
          <a:p>
            <a:pPr marL="0" indent="0">
              <a:buNone/>
            </a:pPr>
            <a:r>
              <a:rPr lang="en-US" sz="1100" b="1" dirty="0">
                <a:solidFill>
                  <a:srgbClr val="4ECDC4"/>
                </a:solidFill>
                <a:latin typeface="Calibri" pitchFamily="34" charset="0"/>
                <a:ea typeface="Calibri" pitchFamily="34" charset="-122"/>
                <a:cs typeface="Calibri" pitchFamily="34" charset="-120"/>
              </a:rPr>
              <a:t>Chase State</a:t>
            </a:r>
            <a:endParaRPr lang="en-US" sz="1100" dirty="0">
              <a:solidFill>
                <a:srgbClr val="4ECDC4"/>
              </a:solidFill>
            </a:endParaRPr>
          </a:p>
        </p:txBody>
      </p:sp>
      <p:sp>
        <p:nvSpPr>
          <p:cNvPr id="23" name="Text 21"/>
          <p:cNvSpPr/>
          <p:nvPr/>
        </p:nvSpPr>
        <p:spPr>
          <a:xfrm>
            <a:off x="411480" y="3703320"/>
            <a:ext cx="3977640" cy="237744"/>
          </a:xfrm>
          <a:prstGeom prst="rect">
            <a:avLst/>
          </a:prstGeom>
          <a:noFill/>
          <a:ln/>
        </p:spPr>
        <p:txBody>
          <a:bodyPr wrap="square" lIns="0" tIns="0" rIns="0" bIns="0" rtlCol="0" anchor="ctr"/>
          <a:lstStyle/>
          <a:p>
            <a:pPr marL="0" indent="0">
              <a:buNone/>
            </a:pPr>
            <a:r>
              <a:rPr lang="en-US" sz="1000" dirty="0">
                <a:solidFill>
                  <a:schemeClr val="bg1"/>
                </a:solidFill>
                <a:latin typeface="Calibri" pitchFamily="34" charset="0"/>
                <a:ea typeface="Calibri" pitchFamily="34" charset="-122"/>
                <a:cs typeface="Calibri" pitchFamily="34" charset="-120"/>
              </a:rPr>
              <a:t>Moves toward player position, might try add collision avoidance with </a:t>
            </a:r>
            <a:r>
              <a:rPr lang="en-US" sz="1000" dirty="0" err="1">
                <a:solidFill>
                  <a:schemeClr val="bg1"/>
                </a:solidFill>
                <a:latin typeface="Calibri" pitchFamily="34" charset="0"/>
                <a:ea typeface="Calibri" pitchFamily="34" charset="-122"/>
                <a:cs typeface="Calibri" pitchFamily="34" charset="-120"/>
              </a:rPr>
              <a:t>raycasts</a:t>
            </a:r>
            <a:r>
              <a:rPr lang="en-US" sz="1000" dirty="0">
                <a:solidFill>
                  <a:schemeClr val="bg1"/>
                </a:solidFill>
                <a:latin typeface="Calibri" pitchFamily="34" charset="0"/>
                <a:ea typeface="Calibri" pitchFamily="34" charset="-122"/>
                <a:cs typeface="Calibri" pitchFamily="34" charset="-120"/>
              </a:rPr>
              <a:t> using LOS class</a:t>
            </a:r>
            <a:endParaRPr lang="en-US" sz="1000" dirty="0">
              <a:solidFill>
                <a:schemeClr val="bg1"/>
              </a:solidFill>
            </a:endParaRPr>
          </a:p>
        </p:txBody>
      </p:sp>
      <p:sp>
        <p:nvSpPr>
          <p:cNvPr id="24" name="Shape 22"/>
          <p:cNvSpPr/>
          <p:nvPr/>
        </p:nvSpPr>
        <p:spPr>
          <a:xfrm>
            <a:off x="320040" y="4096512"/>
            <a:ext cx="3977640" cy="548640"/>
          </a:xfrm>
          <a:prstGeom prst="rect">
            <a:avLst/>
          </a:prstGeom>
          <a:solidFill>
            <a:srgbClr val="0D1B2E"/>
          </a:solidFill>
          <a:ln w="9525">
            <a:solidFill>
              <a:srgbClr val="2A3A5E"/>
            </a:solidFill>
            <a:prstDash val="solid"/>
          </a:ln>
        </p:spPr>
        <p:txBody>
          <a:bodyPr/>
          <a:lstStyle/>
          <a:p>
            <a:endParaRPr lang="en-GB"/>
          </a:p>
        </p:txBody>
      </p:sp>
      <p:sp>
        <p:nvSpPr>
          <p:cNvPr id="25" name="Text 23"/>
          <p:cNvSpPr/>
          <p:nvPr/>
        </p:nvSpPr>
        <p:spPr>
          <a:xfrm>
            <a:off x="411480" y="4133088"/>
            <a:ext cx="3749040" cy="228600"/>
          </a:xfrm>
          <a:prstGeom prst="rect">
            <a:avLst/>
          </a:prstGeom>
          <a:noFill/>
          <a:ln/>
        </p:spPr>
        <p:txBody>
          <a:bodyPr wrap="square" lIns="0" tIns="0" rIns="0" bIns="0" rtlCol="0" anchor="ctr"/>
          <a:lstStyle/>
          <a:p>
            <a:pPr marL="0" indent="0">
              <a:buNone/>
            </a:pPr>
            <a:r>
              <a:rPr lang="en-US" sz="1100" b="1" dirty="0">
                <a:solidFill>
                  <a:srgbClr val="4ECDC4"/>
                </a:solidFill>
                <a:latin typeface="Calibri" pitchFamily="34" charset="0"/>
                <a:ea typeface="Calibri" pitchFamily="34" charset="-122"/>
                <a:cs typeface="Calibri" pitchFamily="34" charset="-120"/>
              </a:rPr>
              <a:t>Attack State</a:t>
            </a:r>
            <a:endParaRPr lang="en-US" sz="1100" dirty="0">
              <a:solidFill>
                <a:srgbClr val="4ECDC4"/>
              </a:solidFill>
            </a:endParaRPr>
          </a:p>
        </p:txBody>
      </p:sp>
      <p:sp>
        <p:nvSpPr>
          <p:cNvPr id="26" name="Text 24"/>
          <p:cNvSpPr/>
          <p:nvPr/>
        </p:nvSpPr>
        <p:spPr>
          <a:xfrm>
            <a:off x="411480" y="4370832"/>
            <a:ext cx="3749040" cy="228600"/>
          </a:xfrm>
          <a:prstGeom prst="rect">
            <a:avLst/>
          </a:prstGeom>
          <a:noFill/>
          <a:ln/>
        </p:spPr>
        <p:txBody>
          <a:bodyPr wrap="square" lIns="0" tIns="0" rIns="0" bIns="0" rtlCol="0" anchor="ctr"/>
          <a:lstStyle/>
          <a:p>
            <a:pPr marL="0" indent="0">
              <a:buNone/>
            </a:pPr>
            <a:r>
              <a:rPr lang="en-US" sz="1000" dirty="0">
                <a:solidFill>
                  <a:schemeClr val="bg1"/>
                </a:solidFill>
                <a:latin typeface="Calibri" pitchFamily="34" charset="0"/>
                <a:ea typeface="Calibri" pitchFamily="34" charset="-122"/>
                <a:cs typeface="Calibri" pitchFamily="34" charset="-120"/>
              </a:rPr>
              <a:t>In melee/ranged range, triggers attack damage</a:t>
            </a:r>
            <a:endParaRPr lang="en-US" sz="1000" dirty="0">
              <a:solidFill>
                <a:schemeClr val="bg1"/>
              </a:solidFill>
            </a:endParaRPr>
          </a:p>
        </p:txBody>
      </p:sp>
      <p:sp>
        <p:nvSpPr>
          <p:cNvPr id="27" name="Text 25"/>
          <p:cNvSpPr/>
          <p:nvPr/>
        </p:nvSpPr>
        <p:spPr>
          <a:xfrm>
            <a:off x="320040" y="4773168"/>
            <a:ext cx="3977640" cy="182880"/>
          </a:xfrm>
          <a:prstGeom prst="rect">
            <a:avLst/>
          </a:prstGeom>
          <a:noFill/>
          <a:ln/>
        </p:spPr>
        <p:txBody>
          <a:bodyPr wrap="square" lIns="0" tIns="0" rIns="0" bIns="0" rtlCol="0" anchor="ctr"/>
          <a:lstStyle/>
          <a:p>
            <a:pPr marL="0" indent="0">
              <a:buNone/>
            </a:pPr>
            <a:endParaRPr lang="en-US" sz="900" dirty="0"/>
          </a:p>
        </p:txBody>
      </p:sp>
      <p:sp>
        <p:nvSpPr>
          <p:cNvPr id="28" name="Shape 26"/>
          <p:cNvSpPr/>
          <p:nvPr/>
        </p:nvSpPr>
        <p:spPr>
          <a:xfrm>
            <a:off x="4709160" y="868680"/>
            <a:ext cx="4206240" cy="4114800"/>
          </a:xfrm>
          <a:prstGeom prst="rect">
            <a:avLst/>
          </a:prstGeom>
          <a:solidFill>
            <a:srgbClr val="1A2744"/>
          </a:solidFill>
          <a:ln w="12700">
            <a:solidFill>
              <a:srgbClr val="E94560"/>
            </a:solidFill>
            <a:prstDash val="solid"/>
          </a:ln>
          <a:effectLst>
            <a:outerShdw blurRad="76200" dist="25400" dir="8100000" algn="bl" rotWithShape="0">
              <a:srgbClr val="000000">
                <a:alpha val="20000"/>
              </a:srgbClr>
            </a:outerShdw>
          </a:effectLst>
        </p:spPr>
        <p:txBody>
          <a:bodyPr/>
          <a:lstStyle/>
          <a:p>
            <a:endParaRPr lang="en-GB"/>
          </a:p>
        </p:txBody>
      </p:sp>
      <p:sp>
        <p:nvSpPr>
          <p:cNvPr id="29" name="Shape 27"/>
          <p:cNvSpPr/>
          <p:nvPr/>
        </p:nvSpPr>
        <p:spPr>
          <a:xfrm>
            <a:off x="4709160" y="868680"/>
            <a:ext cx="4206240" cy="82296"/>
          </a:xfrm>
          <a:prstGeom prst="rect">
            <a:avLst/>
          </a:prstGeom>
          <a:solidFill>
            <a:srgbClr val="E94560"/>
          </a:solidFill>
          <a:ln w="12700">
            <a:solidFill>
              <a:srgbClr val="E94560"/>
            </a:solidFill>
            <a:prstDash val="solid"/>
          </a:ln>
        </p:spPr>
        <p:txBody>
          <a:bodyPr/>
          <a:lstStyle/>
          <a:p>
            <a:endParaRPr lang="en-GB"/>
          </a:p>
        </p:txBody>
      </p:sp>
      <p:sp>
        <p:nvSpPr>
          <p:cNvPr id="30" name="Text 28"/>
          <p:cNvSpPr/>
          <p:nvPr/>
        </p:nvSpPr>
        <p:spPr>
          <a:xfrm>
            <a:off x="4800600" y="1005840"/>
            <a:ext cx="4023360" cy="347472"/>
          </a:xfrm>
          <a:prstGeom prst="rect">
            <a:avLst/>
          </a:prstGeom>
          <a:noFill/>
          <a:ln/>
        </p:spPr>
        <p:txBody>
          <a:bodyPr wrap="square" lIns="0" tIns="0" rIns="0" bIns="0" rtlCol="0" anchor="ctr"/>
          <a:lstStyle/>
          <a:p>
            <a:pPr marL="0" indent="0">
              <a:buNone/>
            </a:pPr>
            <a:r>
              <a:rPr lang="en-US" sz="1400" b="1" dirty="0">
                <a:solidFill>
                  <a:srgbClr val="EAEAEA"/>
                </a:solidFill>
                <a:latin typeface="Calibri" pitchFamily="34" charset="0"/>
                <a:ea typeface="Calibri" pitchFamily="34" charset="-122"/>
                <a:cs typeface="Calibri" pitchFamily="34" charset="-120"/>
              </a:rPr>
              <a:t>WEAPONS SYSTEM</a:t>
            </a:r>
            <a:endParaRPr lang="en-US" sz="1400" dirty="0"/>
          </a:p>
        </p:txBody>
      </p:sp>
      <p:sp>
        <p:nvSpPr>
          <p:cNvPr id="31" name="Shape 29"/>
          <p:cNvSpPr/>
          <p:nvPr/>
        </p:nvSpPr>
        <p:spPr>
          <a:xfrm>
            <a:off x="4800600" y="1463040"/>
            <a:ext cx="3977640" cy="548640"/>
          </a:xfrm>
          <a:prstGeom prst="rect">
            <a:avLst/>
          </a:prstGeom>
          <a:solidFill>
            <a:srgbClr val="0D1B2E"/>
          </a:solidFill>
          <a:ln w="9525">
            <a:solidFill>
              <a:srgbClr val="2A3A5E"/>
            </a:solidFill>
            <a:prstDash val="solid"/>
          </a:ln>
        </p:spPr>
        <p:txBody>
          <a:bodyPr/>
          <a:lstStyle/>
          <a:p>
            <a:endParaRPr lang="en-GB"/>
          </a:p>
        </p:txBody>
      </p:sp>
      <p:sp>
        <p:nvSpPr>
          <p:cNvPr id="32" name="Text 30"/>
          <p:cNvSpPr/>
          <p:nvPr/>
        </p:nvSpPr>
        <p:spPr>
          <a:xfrm>
            <a:off x="4892040" y="1499616"/>
            <a:ext cx="3749040" cy="228600"/>
          </a:xfrm>
          <a:prstGeom prst="rect">
            <a:avLst/>
          </a:prstGeom>
          <a:noFill/>
          <a:ln/>
        </p:spPr>
        <p:txBody>
          <a:bodyPr wrap="square" lIns="0" tIns="0" rIns="0" bIns="0" rtlCol="0" anchor="ctr"/>
          <a:lstStyle/>
          <a:p>
            <a:pPr marL="0" indent="0">
              <a:buNone/>
            </a:pPr>
            <a:r>
              <a:rPr lang="en-US" sz="1100" b="1" dirty="0">
                <a:solidFill>
                  <a:srgbClr val="E94560"/>
                </a:solidFill>
                <a:latin typeface="Calibri" pitchFamily="34" charset="0"/>
                <a:ea typeface="Calibri" pitchFamily="34" charset="-122"/>
                <a:cs typeface="Calibri" pitchFamily="34" charset="-120"/>
              </a:rPr>
              <a:t>Weapon Types</a:t>
            </a:r>
            <a:endParaRPr lang="en-US" sz="1100" dirty="0"/>
          </a:p>
        </p:txBody>
      </p:sp>
      <p:sp>
        <p:nvSpPr>
          <p:cNvPr id="33" name="Text 31"/>
          <p:cNvSpPr/>
          <p:nvPr/>
        </p:nvSpPr>
        <p:spPr>
          <a:xfrm>
            <a:off x="4892040" y="1737360"/>
            <a:ext cx="3749040" cy="228600"/>
          </a:xfrm>
          <a:prstGeom prst="rect">
            <a:avLst/>
          </a:prstGeom>
          <a:noFill/>
          <a:ln/>
        </p:spPr>
        <p:txBody>
          <a:bodyPr wrap="square" lIns="0" tIns="0" rIns="0" bIns="0" rtlCol="0" anchor="ctr"/>
          <a:lstStyle/>
          <a:p>
            <a:pPr marL="0" indent="0">
              <a:buNone/>
            </a:pPr>
            <a:r>
              <a:rPr lang="en-US" sz="1000" dirty="0">
                <a:solidFill>
                  <a:schemeClr val="bg1"/>
                </a:solidFill>
                <a:latin typeface="Calibri" pitchFamily="34" charset="0"/>
                <a:ea typeface="Calibri" pitchFamily="34" charset="-122"/>
                <a:cs typeface="Calibri" pitchFamily="34" charset="-120"/>
              </a:rPr>
              <a:t>Melee (knife, axe) and ranged (gun or throwing weapons)</a:t>
            </a:r>
            <a:endParaRPr lang="en-US" sz="1000" dirty="0">
              <a:solidFill>
                <a:schemeClr val="bg1"/>
              </a:solidFill>
            </a:endParaRPr>
          </a:p>
        </p:txBody>
      </p:sp>
      <p:sp>
        <p:nvSpPr>
          <p:cNvPr id="34" name="Shape 32"/>
          <p:cNvSpPr/>
          <p:nvPr/>
        </p:nvSpPr>
        <p:spPr>
          <a:xfrm>
            <a:off x="4800600" y="2121408"/>
            <a:ext cx="3977640" cy="548640"/>
          </a:xfrm>
          <a:prstGeom prst="rect">
            <a:avLst/>
          </a:prstGeom>
          <a:solidFill>
            <a:srgbClr val="0D1B2E"/>
          </a:solidFill>
          <a:ln w="9525">
            <a:solidFill>
              <a:srgbClr val="2A3A5E"/>
            </a:solidFill>
            <a:prstDash val="solid"/>
          </a:ln>
        </p:spPr>
        <p:txBody>
          <a:bodyPr/>
          <a:lstStyle/>
          <a:p>
            <a:endParaRPr lang="en-GB"/>
          </a:p>
        </p:txBody>
      </p:sp>
      <p:sp>
        <p:nvSpPr>
          <p:cNvPr id="35" name="Text 33"/>
          <p:cNvSpPr/>
          <p:nvPr/>
        </p:nvSpPr>
        <p:spPr>
          <a:xfrm>
            <a:off x="4892040" y="2157984"/>
            <a:ext cx="3749040" cy="228600"/>
          </a:xfrm>
          <a:prstGeom prst="rect">
            <a:avLst/>
          </a:prstGeom>
          <a:noFill/>
          <a:ln/>
        </p:spPr>
        <p:txBody>
          <a:bodyPr wrap="square" lIns="0" tIns="0" rIns="0" bIns="0" rtlCol="0" anchor="ctr"/>
          <a:lstStyle/>
          <a:p>
            <a:pPr marL="0" indent="0">
              <a:buNone/>
            </a:pPr>
            <a:r>
              <a:rPr lang="en-US" sz="1100" b="1" dirty="0">
                <a:solidFill>
                  <a:srgbClr val="E94560"/>
                </a:solidFill>
                <a:latin typeface="Calibri" pitchFamily="34" charset="0"/>
                <a:ea typeface="Calibri" pitchFamily="34" charset="-122"/>
                <a:cs typeface="Calibri" pitchFamily="34" charset="-120"/>
              </a:rPr>
              <a:t>Attack Input</a:t>
            </a:r>
            <a:endParaRPr lang="en-US" sz="1100" dirty="0"/>
          </a:p>
        </p:txBody>
      </p:sp>
      <p:sp>
        <p:nvSpPr>
          <p:cNvPr id="36" name="Text 34"/>
          <p:cNvSpPr/>
          <p:nvPr/>
        </p:nvSpPr>
        <p:spPr>
          <a:xfrm>
            <a:off x="4892040" y="2395728"/>
            <a:ext cx="3749040" cy="228600"/>
          </a:xfrm>
          <a:prstGeom prst="rect">
            <a:avLst/>
          </a:prstGeom>
          <a:noFill/>
          <a:ln/>
        </p:spPr>
        <p:txBody>
          <a:bodyPr wrap="square" lIns="0" tIns="0" rIns="0" bIns="0" rtlCol="0" anchor="ctr"/>
          <a:lstStyle/>
          <a:p>
            <a:pPr marL="0" indent="0">
              <a:buNone/>
            </a:pPr>
            <a:r>
              <a:rPr lang="en-US" sz="1000" dirty="0">
                <a:solidFill>
                  <a:schemeClr val="bg1"/>
                </a:solidFill>
                <a:latin typeface="Calibri" pitchFamily="34" charset="0"/>
                <a:ea typeface="Calibri" pitchFamily="34" charset="-122"/>
                <a:cs typeface="Calibri" pitchFamily="34" charset="-120"/>
              </a:rPr>
              <a:t>Hold left click to ready the attack, right click to initiate </a:t>
            </a:r>
            <a:endParaRPr lang="en-US" sz="1000" dirty="0">
              <a:solidFill>
                <a:schemeClr val="bg1"/>
              </a:solidFill>
            </a:endParaRPr>
          </a:p>
        </p:txBody>
      </p:sp>
      <p:sp>
        <p:nvSpPr>
          <p:cNvPr id="37" name="Shape 35"/>
          <p:cNvSpPr/>
          <p:nvPr/>
        </p:nvSpPr>
        <p:spPr>
          <a:xfrm>
            <a:off x="4800600" y="2779776"/>
            <a:ext cx="3977640" cy="548640"/>
          </a:xfrm>
          <a:prstGeom prst="rect">
            <a:avLst/>
          </a:prstGeom>
          <a:solidFill>
            <a:srgbClr val="0D1B2E"/>
          </a:solidFill>
          <a:ln w="9525">
            <a:solidFill>
              <a:srgbClr val="2A3A5E"/>
            </a:solidFill>
            <a:prstDash val="solid"/>
          </a:ln>
        </p:spPr>
        <p:txBody>
          <a:bodyPr/>
          <a:lstStyle/>
          <a:p>
            <a:endParaRPr lang="en-GB"/>
          </a:p>
        </p:txBody>
      </p:sp>
      <p:sp>
        <p:nvSpPr>
          <p:cNvPr id="38" name="Text 36"/>
          <p:cNvSpPr/>
          <p:nvPr/>
        </p:nvSpPr>
        <p:spPr>
          <a:xfrm>
            <a:off x="4892040" y="2816352"/>
            <a:ext cx="3749040" cy="228600"/>
          </a:xfrm>
          <a:prstGeom prst="rect">
            <a:avLst/>
          </a:prstGeom>
          <a:noFill/>
          <a:ln/>
        </p:spPr>
        <p:txBody>
          <a:bodyPr wrap="square" lIns="0" tIns="0" rIns="0" bIns="0" rtlCol="0" anchor="ctr"/>
          <a:lstStyle/>
          <a:p>
            <a:pPr marL="0" indent="0">
              <a:buNone/>
            </a:pPr>
            <a:r>
              <a:rPr lang="en-US" sz="1100" b="1" dirty="0">
                <a:solidFill>
                  <a:srgbClr val="E94560"/>
                </a:solidFill>
                <a:latin typeface="Calibri" pitchFamily="34" charset="0"/>
                <a:ea typeface="Calibri" pitchFamily="34" charset="-122"/>
                <a:cs typeface="Calibri" pitchFamily="34" charset="-120"/>
              </a:rPr>
              <a:t>Damage System</a:t>
            </a:r>
            <a:endParaRPr lang="en-US" sz="1100" dirty="0"/>
          </a:p>
        </p:txBody>
      </p:sp>
      <p:sp>
        <p:nvSpPr>
          <p:cNvPr id="39" name="Text 37"/>
          <p:cNvSpPr/>
          <p:nvPr/>
        </p:nvSpPr>
        <p:spPr>
          <a:xfrm>
            <a:off x="4892040" y="3054096"/>
            <a:ext cx="3749040" cy="228600"/>
          </a:xfrm>
          <a:prstGeom prst="rect">
            <a:avLst/>
          </a:prstGeom>
          <a:noFill/>
          <a:ln/>
        </p:spPr>
        <p:txBody>
          <a:bodyPr wrap="square" lIns="0" tIns="0" rIns="0" bIns="0" rtlCol="0" anchor="ctr"/>
          <a:lstStyle/>
          <a:p>
            <a:pPr marL="0" indent="0">
              <a:buNone/>
            </a:pPr>
            <a:r>
              <a:rPr lang="en-US" sz="1000" dirty="0">
                <a:solidFill>
                  <a:schemeClr val="bg1"/>
                </a:solidFill>
                <a:latin typeface="Calibri" pitchFamily="34" charset="0"/>
                <a:ea typeface="Calibri" pitchFamily="34" charset="-122"/>
                <a:cs typeface="Calibri" pitchFamily="34" charset="-120"/>
              </a:rPr>
              <a:t>Weapon damage applied via HealthComponent.takeDamage() on both enemies and player</a:t>
            </a:r>
            <a:endParaRPr lang="en-US" sz="1000" dirty="0">
              <a:solidFill>
                <a:schemeClr val="bg1"/>
              </a:solidFill>
            </a:endParaRPr>
          </a:p>
        </p:txBody>
      </p:sp>
      <p:sp>
        <p:nvSpPr>
          <p:cNvPr id="40" name="Shape 38"/>
          <p:cNvSpPr/>
          <p:nvPr/>
        </p:nvSpPr>
        <p:spPr>
          <a:xfrm>
            <a:off x="4800600" y="3438144"/>
            <a:ext cx="3977640" cy="548640"/>
          </a:xfrm>
          <a:prstGeom prst="rect">
            <a:avLst/>
          </a:prstGeom>
          <a:solidFill>
            <a:srgbClr val="0D1B2E"/>
          </a:solidFill>
          <a:ln w="9525">
            <a:solidFill>
              <a:srgbClr val="2A3A5E"/>
            </a:solidFill>
            <a:prstDash val="solid"/>
          </a:ln>
        </p:spPr>
        <p:txBody>
          <a:bodyPr/>
          <a:lstStyle/>
          <a:p>
            <a:endParaRPr lang="en-GB"/>
          </a:p>
        </p:txBody>
      </p:sp>
      <p:sp>
        <p:nvSpPr>
          <p:cNvPr id="41" name="Text 39"/>
          <p:cNvSpPr/>
          <p:nvPr/>
        </p:nvSpPr>
        <p:spPr>
          <a:xfrm>
            <a:off x="4892040" y="3474720"/>
            <a:ext cx="3749040" cy="228600"/>
          </a:xfrm>
          <a:prstGeom prst="rect">
            <a:avLst/>
          </a:prstGeom>
          <a:noFill/>
          <a:ln/>
        </p:spPr>
        <p:txBody>
          <a:bodyPr wrap="square" lIns="0" tIns="0" rIns="0" bIns="0" rtlCol="0" anchor="ctr"/>
          <a:lstStyle/>
          <a:p>
            <a:pPr marL="0" indent="0">
              <a:buNone/>
            </a:pPr>
            <a:r>
              <a:rPr lang="en-US" sz="1100" b="1" dirty="0">
                <a:solidFill>
                  <a:srgbClr val="E94560"/>
                </a:solidFill>
                <a:latin typeface="Calibri" pitchFamily="34" charset="0"/>
                <a:ea typeface="Calibri" pitchFamily="34" charset="-122"/>
                <a:cs typeface="Calibri" pitchFamily="34" charset="-120"/>
              </a:rPr>
              <a:t>Inventory Integration</a:t>
            </a:r>
            <a:endParaRPr lang="en-US" sz="1100" dirty="0"/>
          </a:p>
        </p:txBody>
      </p:sp>
      <p:sp>
        <p:nvSpPr>
          <p:cNvPr id="42" name="Text 40"/>
          <p:cNvSpPr/>
          <p:nvPr/>
        </p:nvSpPr>
        <p:spPr>
          <a:xfrm>
            <a:off x="4892040" y="3712464"/>
            <a:ext cx="3749040" cy="228600"/>
          </a:xfrm>
          <a:prstGeom prst="rect">
            <a:avLst/>
          </a:prstGeom>
          <a:noFill/>
          <a:ln/>
        </p:spPr>
        <p:txBody>
          <a:bodyPr wrap="square" lIns="0" tIns="0" rIns="0" bIns="0" rtlCol="0" anchor="ctr"/>
          <a:lstStyle/>
          <a:p>
            <a:pPr marL="0" indent="0">
              <a:buNone/>
            </a:pPr>
            <a:r>
              <a:rPr lang="en-US" sz="1000" dirty="0">
                <a:solidFill>
                  <a:schemeClr val="bg1"/>
                </a:solidFill>
                <a:latin typeface="Calibri" pitchFamily="34" charset="0"/>
                <a:ea typeface="Calibri" pitchFamily="34" charset="-122"/>
                <a:cs typeface="Calibri" pitchFamily="34" charset="-120"/>
              </a:rPr>
              <a:t>Weapons equippable from inventory slots, active weapon shown in HUD slot</a:t>
            </a:r>
            <a:endParaRPr lang="en-US" sz="1000" dirty="0">
              <a:solidFill>
                <a:schemeClr val="bg1"/>
              </a:solidFill>
            </a:endParaRPr>
          </a:p>
        </p:txBody>
      </p:sp>
      <p:sp>
        <p:nvSpPr>
          <p:cNvPr id="43" name="Shape 41"/>
          <p:cNvSpPr/>
          <p:nvPr/>
        </p:nvSpPr>
        <p:spPr>
          <a:xfrm>
            <a:off x="4800600" y="4096512"/>
            <a:ext cx="3977640" cy="548640"/>
          </a:xfrm>
          <a:prstGeom prst="rect">
            <a:avLst/>
          </a:prstGeom>
          <a:solidFill>
            <a:srgbClr val="0D1B2E"/>
          </a:solidFill>
          <a:ln w="9525">
            <a:solidFill>
              <a:srgbClr val="2A3A5E"/>
            </a:solidFill>
            <a:prstDash val="solid"/>
          </a:ln>
        </p:spPr>
        <p:txBody>
          <a:bodyPr/>
          <a:lstStyle/>
          <a:p>
            <a:endParaRPr lang="en-GB"/>
          </a:p>
        </p:txBody>
      </p:sp>
      <p:sp>
        <p:nvSpPr>
          <p:cNvPr id="44" name="Text 42"/>
          <p:cNvSpPr/>
          <p:nvPr/>
        </p:nvSpPr>
        <p:spPr>
          <a:xfrm>
            <a:off x="4892040" y="4133088"/>
            <a:ext cx="3749040" cy="228600"/>
          </a:xfrm>
          <a:prstGeom prst="rect">
            <a:avLst/>
          </a:prstGeom>
          <a:noFill/>
          <a:ln/>
        </p:spPr>
        <p:txBody>
          <a:bodyPr wrap="square" lIns="0" tIns="0" rIns="0" bIns="0" rtlCol="0" anchor="ctr"/>
          <a:lstStyle/>
          <a:p>
            <a:pPr marL="0" indent="0">
              <a:buNone/>
            </a:pPr>
            <a:r>
              <a:rPr lang="en-US" sz="1100" b="1" dirty="0">
                <a:solidFill>
                  <a:srgbClr val="E94560"/>
                </a:solidFill>
                <a:latin typeface="Calibri" pitchFamily="34" charset="0"/>
                <a:ea typeface="Calibri" pitchFamily="34" charset="-122"/>
                <a:cs typeface="Calibri" pitchFamily="34" charset="-120"/>
              </a:rPr>
              <a:t>Collision Detection</a:t>
            </a:r>
            <a:endParaRPr lang="en-US" sz="1100" dirty="0"/>
          </a:p>
        </p:txBody>
      </p:sp>
      <p:sp>
        <p:nvSpPr>
          <p:cNvPr id="45" name="Text 43"/>
          <p:cNvSpPr/>
          <p:nvPr/>
        </p:nvSpPr>
        <p:spPr>
          <a:xfrm>
            <a:off x="4892040" y="4370832"/>
            <a:ext cx="3749040" cy="228600"/>
          </a:xfrm>
          <a:prstGeom prst="rect">
            <a:avLst/>
          </a:prstGeom>
          <a:noFill/>
          <a:ln/>
        </p:spPr>
        <p:txBody>
          <a:bodyPr wrap="square" lIns="0" tIns="0" rIns="0" bIns="0" rtlCol="0" anchor="ctr"/>
          <a:lstStyle/>
          <a:p>
            <a:pPr marL="0" indent="0">
              <a:buNone/>
            </a:pPr>
            <a:r>
              <a:rPr lang="en-US" sz="1000" dirty="0">
                <a:solidFill>
                  <a:schemeClr val="bg1"/>
                </a:solidFill>
                <a:latin typeface="Calibri" pitchFamily="34" charset="0"/>
                <a:ea typeface="Calibri" pitchFamily="34" charset="-122"/>
                <a:cs typeface="Calibri" pitchFamily="34" charset="-120"/>
              </a:rPr>
              <a:t>Collision manager to be updated to account for weapons and hitboxes of entities.</a:t>
            </a:r>
            <a:endParaRPr lang="en-US" sz="1000" dirty="0">
              <a:solidFill>
                <a:schemeClr val="bg1"/>
              </a:solidFill>
            </a:endParaRPr>
          </a:p>
        </p:txBody>
      </p:sp>
      <p:sp>
        <p:nvSpPr>
          <p:cNvPr id="46" name="Text 44"/>
          <p:cNvSpPr/>
          <p:nvPr/>
        </p:nvSpPr>
        <p:spPr>
          <a:xfrm>
            <a:off x="4800600" y="4773168"/>
            <a:ext cx="3977640" cy="182880"/>
          </a:xfrm>
          <a:prstGeom prst="rect">
            <a:avLst/>
          </a:prstGeom>
          <a:noFill/>
          <a:ln/>
        </p:spPr>
        <p:txBody>
          <a:bodyPr wrap="square" lIns="0" tIns="0" rIns="0" bIns="0" rtlCol="0" anchor="ctr"/>
          <a:lstStyle/>
          <a:p>
            <a:pPr marL="0" indent="0">
              <a:buNone/>
            </a:pPr>
            <a:endParaRPr lang="en-US" sz="900" dirty="0"/>
          </a:p>
        </p:txBody>
      </p:sp>
      <p:sp>
        <p:nvSpPr>
          <p:cNvPr id="48" name="Shape 8">
            <a:extLst>
              <a:ext uri="{FF2B5EF4-FFF2-40B4-BE49-F238E27FC236}">
                <a16:creationId xmlns:a16="http://schemas.microsoft.com/office/drawing/2014/main" id="{0FEF2F14-A0DB-E820-4700-11D37976BC31}"/>
              </a:ext>
            </a:extLst>
          </p:cNvPr>
          <p:cNvSpPr/>
          <p:nvPr/>
        </p:nvSpPr>
        <p:spPr>
          <a:xfrm>
            <a:off x="-1" y="0"/>
            <a:ext cx="4571999" cy="100584"/>
          </a:xfrm>
          <a:prstGeom prst="rect">
            <a:avLst/>
          </a:prstGeom>
          <a:solidFill>
            <a:srgbClr val="4ECDC4"/>
          </a:solidFill>
          <a:ln w="12700">
            <a:solidFill>
              <a:srgbClr val="4ECDC4"/>
            </a:solidFill>
            <a:prstDash val="solid"/>
          </a:ln>
        </p:spPr>
        <p:txBody>
          <a:bodyPr/>
          <a:lstStyle/>
          <a:p>
            <a:endParaRPr lang="en-GB"/>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0D1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0A0F1E"/>
          </a:solidFill>
          <a:ln w="12700">
            <a:solidFill>
              <a:srgbClr val="0A0F1E"/>
            </a:solidFill>
            <a:prstDash val="solid"/>
          </a:ln>
        </p:spPr>
        <p:txBody>
          <a:bodyPr/>
          <a:lstStyle/>
          <a:p>
            <a:endParaRPr lang="en-GB"/>
          </a:p>
        </p:txBody>
      </p:sp>
      <p:sp>
        <p:nvSpPr>
          <p:cNvPr id="3" name="Shape 1"/>
          <p:cNvSpPr/>
          <p:nvPr/>
        </p:nvSpPr>
        <p:spPr>
          <a:xfrm>
            <a:off x="0" y="0"/>
            <a:ext cx="9144000" cy="64008"/>
          </a:xfrm>
          <a:prstGeom prst="rect">
            <a:avLst/>
          </a:prstGeom>
          <a:solidFill>
            <a:srgbClr val="4ECDC4"/>
          </a:solidFill>
          <a:ln w="12700">
            <a:solidFill>
              <a:srgbClr val="4ECDC4"/>
            </a:solidFill>
            <a:prstDash val="solid"/>
          </a:ln>
        </p:spPr>
        <p:txBody>
          <a:bodyPr/>
          <a:lstStyle/>
          <a:p>
            <a:endParaRPr lang="en-GB"/>
          </a:p>
        </p:txBody>
      </p:sp>
      <p:sp>
        <p:nvSpPr>
          <p:cNvPr id="4" name="Text 2"/>
          <p:cNvSpPr/>
          <p:nvPr/>
        </p:nvSpPr>
        <p:spPr>
          <a:xfrm>
            <a:off x="274320" y="91440"/>
            <a:ext cx="8229600" cy="548640"/>
          </a:xfrm>
          <a:prstGeom prst="rect">
            <a:avLst/>
          </a:prstGeom>
          <a:noFill/>
          <a:ln/>
        </p:spPr>
        <p:txBody>
          <a:bodyPr wrap="square" lIns="0" tIns="0" rIns="0" bIns="0" rtlCol="0" anchor="ctr"/>
          <a:lstStyle/>
          <a:p>
            <a:pPr marL="0" indent="0">
              <a:buNone/>
            </a:pPr>
            <a:r>
              <a:rPr lang="en-US" sz="2000" b="1" dirty="0">
                <a:solidFill>
                  <a:srgbClr val="EAEAEA"/>
                </a:solidFill>
                <a:latin typeface="Calibri" pitchFamily="34" charset="0"/>
                <a:ea typeface="Calibri" pitchFamily="34" charset="-122"/>
                <a:cs typeface="Calibri" pitchFamily="34" charset="-120"/>
              </a:rPr>
              <a:t>WORLD FINALIZATION &amp; NEW POI AREAS</a:t>
            </a:r>
            <a:endParaRPr lang="en-US" sz="2000" dirty="0"/>
          </a:p>
        </p:txBody>
      </p:sp>
      <p:sp>
        <p:nvSpPr>
          <p:cNvPr id="6" name="Text 4"/>
          <p:cNvSpPr/>
          <p:nvPr/>
        </p:nvSpPr>
        <p:spPr>
          <a:xfrm>
            <a:off x="7132320" y="822960"/>
            <a:ext cx="1828800" cy="384048"/>
          </a:xfrm>
          <a:prstGeom prst="rect">
            <a:avLst/>
          </a:prstGeom>
          <a:noFill/>
          <a:ln/>
        </p:spPr>
        <p:txBody>
          <a:bodyPr wrap="square" lIns="0" tIns="0" rIns="0" bIns="0" rtlCol="0" anchor="ctr"/>
          <a:lstStyle/>
          <a:p>
            <a:pPr marL="0" indent="0" algn="ctr">
              <a:buNone/>
            </a:pPr>
            <a:endParaRPr lang="en-US" sz="1300" dirty="0"/>
          </a:p>
        </p:txBody>
      </p:sp>
      <p:sp>
        <p:nvSpPr>
          <p:cNvPr id="15" name="Shape 13"/>
          <p:cNvSpPr/>
          <p:nvPr/>
        </p:nvSpPr>
        <p:spPr>
          <a:xfrm>
            <a:off x="228600" y="1641348"/>
            <a:ext cx="3442063" cy="1600200"/>
          </a:xfrm>
          <a:prstGeom prst="rect">
            <a:avLst/>
          </a:prstGeom>
          <a:solidFill>
            <a:srgbClr val="1A2744"/>
          </a:solidFill>
          <a:ln w="12700">
            <a:solidFill>
              <a:srgbClr val="4ECDC4"/>
            </a:solidFill>
            <a:prstDash val="solid"/>
          </a:ln>
          <a:effectLst>
            <a:outerShdw blurRad="76200" dist="25400" dir="8100000" algn="bl" rotWithShape="0">
              <a:srgbClr val="000000">
                <a:alpha val="25000"/>
              </a:srgbClr>
            </a:outerShdw>
          </a:effectLst>
        </p:spPr>
        <p:txBody>
          <a:bodyPr/>
          <a:lstStyle/>
          <a:p>
            <a:endParaRPr lang="en-GB"/>
          </a:p>
        </p:txBody>
      </p:sp>
      <p:sp>
        <p:nvSpPr>
          <p:cNvPr id="16" name="Shape 14"/>
          <p:cNvSpPr/>
          <p:nvPr/>
        </p:nvSpPr>
        <p:spPr>
          <a:xfrm>
            <a:off x="228600" y="1641348"/>
            <a:ext cx="3442063" cy="82296"/>
          </a:xfrm>
          <a:prstGeom prst="rect">
            <a:avLst/>
          </a:prstGeom>
          <a:solidFill>
            <a:srgbClr val="4ECDC4"/>
          </a:solidFill>
          <a:ln w="12700">
            <a:solidFill>
              <a:srgbClr val="4ECDC4"/>
            </a:solidFill>
            <a:prstDash val="solid"/>
          </a:ln>
        </p:spPr>
        <p:txBody>
          <a:bodyPr/>
          <a:lstStyle/>
          <a:p>
            <a:endParaRPr lang="en-GB">
              <a:solidFill>
                <a:srgbClr val="4ECDC4"/>
              </a:solidFill>
            </a:endParaRPr>
          </a:p>
        </p:txBody>
      </p:sp>
      <p:sp>
        <p:nvSpPr>
          <p:cNvPr id="17" name="Text 15"/>
          <p:cNvSpPr/>
          <p:nvPr/>
        </p:nvSpPr>
        <p:spPr>
          <a:xfrm>
            <a:off x="365760" y="1778508"/>
            <a:ext cx="3212592" cy="438912"/>
          </a:xfrm>
          <a:prstGeom prst="rect">
            <a:avLst/>
          </a:prstGeom>
          <a:noFill/>
          <a:ln/>
        </p:spPr>
        <p:txBody>
          <a:bodyPr wrap="square" lIns="0" tIns="0" rIns="0" bIns="0" rtlCol="0" anchor="ctr"/>
          <a:lstStyle/>
          <a:p>
            <a:pPr marL="0" indent="0">
              <a:buNone/>
            </a:pPr>
            <a:r>
              <a:rPr lang="en-US" sz="1400" b="1" dirty="0">
                <a:solidFill>
                  <a:srgbClr val="EAEAEA"/>
                </a:solidFill>
                <a:latin typeface="Calibri" pitchFamily="34" charset="0"/>
                <a:ea typeface="Calibri" pitchFamily="34" charset="-122"/>
                <a:cs typeface="Calibri" pitchFamily="34" charset="-120"/>
              </a:rPr>
              <a:t>New POI: Village &amp; Landmarks</a:t>
            </a:r>
            <a:endParaRPr lang="en-US" sz="1400" dirty="0"/>
          </a:p>
        </p:txBody>
      </p:sp>
      <p:sp>
        <p:nvSpPr>
          <p:cNvPr id="18" name="Text 16"/>
          <p:cNvSpPr/>
          <p:nvPr/>
        </p:nvSpPr>
        <p:spPr>
          <a:xfrm>
            <a:off x="365760" y="2235708"/>
            <a:ext cx="3212592" cy="868680"/>
          </a:xfrm>
          <a:prstGeom prst="rect">
            <a:avLst/>
          </a:prstGeom>
          <a:noFill/>
          <a:ln/>
        </p:spPr>
        <p:txBody>
          <a:bodyPr wrap="square" lIns="0" tIns="0" rIns="0" bIns="0" rtlCol="0" anchor="ctr"/>
          <a:lstStyle/>
          <a:p>
            <a:pPr marL="0" indent="0">
              <a:buNone/>
            </a:pPr>
            <a:r>
              <a:rPr lang="en-US" sz="1100" dirty="0">
                <a:solidFill>
                  <a:schemeClr val="bg1"/>
                </a:solidFill>
                <a:latin typeface="Calibri" pitchFamily="34" charset="0"/>
                <a:ea typeface="Calibri" pitchFamily="34" charset="-122"/>
                <a:cs typeface="Calibri" pitchFamily="34" charset="-120"/>
              </a:rPr>
              <a:t>More POI areas for the player to explore and see</a:t>
            </a:r>
            <a:endParaRPr lang="en-US" sz="1100" dirty="0">
              <a:solidFill>
                <a:schemeClr val="bg1"/>
              </a:solidFill>
            </a:endParaRPr>
          </a:p>
        </p:txBody>
      </p:sp>
      <p:sp>
        <p:nvSpPr>
          <p:cNvPr id="19" name="Shape 17"/>
          <p:cNvSpPr/>
          <p:nvPr/>
        </p:nvSpPr>
        <p:spPr>
          <a:xfrm>
            <a:off x="5153296" y="1661922"/>
            <a:ext cx="3624943" cy="1600200"/>
          </a:xfrm>
          <a:prstGeom prst="rect">
            <a:avLst/>
          </a:prstGeom>
          <a:solidFill>
            <a:srgbClr val="1A2744"/>
          </a:solidFill>
          <a:ln w="12700">
            <a:solidFill>
              <a:srgbClr val="E94560"/>
            </a:solidFill>
            <a:prstDash val="solid"/>
          </a:ln>
          <a:effectLst>
            <a:outerShdw blurRad="76200" dist="25400" dir="8100000" algn="bl" rotWithShape="0">
              <a:srgbClr val="000000">
                <a:alpha val="25000"/>
              </a:srgbClr>
            </a:outerShdw>
          </a:effectLst>
        </p:spPr>
        <p:txBody>
          <a:bodyPr/>
          <a:lstStyle/>
          <a:p>
            <a:endParaRPr lang="en-GB"/>
          </a:p>
        </p:txBody>
      </p:sp>
      <p:sp>
        <p:nvSpPr>
          <p:cNvPr id="20" name="Shape 18"/>
          <p:cNvSpPr/>
          <p:nvPr/>
        </p:nvSpPr>
        <p:spPr>
          <a:xfrm>
            <a:off x="5153296" y="1661922"/>
            <a:ext cx="3624943" cy="82296"/>
          </a:xfrm>
          <a:prstGeom prst="rect">
            <a:avLst/>
          </a:prstGeom>
          <a:solidFill>
            <a:srgbClr val="E94560"/>
          </a:solidFill>
          <a:ln w="12700">
            <a:solidFill>
              <a:srgbClr val="E94560"/>
            </a:solidFill>
            <a:prstDash val="solid"/>
          </a:ln>
        </p:spPr>
        <p:txBody>
          <a:bodyPr/>
          <a:lstStyle/>
          <a:p>
            <a:endParaRPr lang="en-GB"/>
          </a:p>
        </p:txBody>
      </p:sp>
      <p:sp>
        <p:nvSpPr>
          <p:cNvPr id="21" name="Text 19"/>
          <p:cNvSpPr/>
          <p:nvPr/>
        </p:nvSpPr>
        <p:spPr>
          <a:xfrm>
            <a:off x="5257800" y="1799082"/>
            <a:ext cx="3383280" cy="438912"/>
          </a:xfrm>
          <a:prstGeom prst="rect">
            <a:avLst/>
          </a:prstGeom>
          <a:noFill/>
          <a:ln/>
        </p:spPr>
        <p:txBody>
          <a:bodyPr wrap="square" lIns="0" tIns="0" rIns="0" bIns="0" rtlCol="0" anchor="ctr"/>
          <a:lstStyle/>
          <a:p>
            <a:pPr marL="0" indent="0">
              <a:buNone/>
            </a:pPr>
            <a:r>
              <a:rPr lang="en-US" sz="1400" b="1" dirty="0">
                <a:solidFill>
                  <a:srgbClr val="EAEAEA"/>
                </a:solidFill>
                <a:latin typeface="Calibri" pitchFamily="34" charset="0"/>
                <a:ea typeface="Calibri" pitchFamily="34" charset="-122"/>
                <a:cs typeface="Calibri" pitchFamily="34" charset="-120"/>
              </a:rPr>
              <a:t>Terrain Variety</a:t>
            </a:r>
            <a:endParaRPr lang="en-US" sz="1400" dirty="0"/>
          </a:p>
        </p:txBody>
      </p:sp>
      <p:sp>
        <p:nvSpPr>
          <p:cNvPr id="22" name="Text 20"/>
          <p:cNvSpPr/>
          <p:nvPr/>
        </p:nvSpPr>
        <p:spPr>
          <a:xfrm>
            <a:off x="5257800" y="2256282"/>
            <a:ext cx="3383280" cy="868680"/>
          </a:xfrm>
          <a:prstGeom prst="rect">
            <a:avLst/>
          </a:prstGeom>
          <a:noFill/>
          <a:ln/>
        </p:spPr>
        <p:txBody>
          <a:bodyPr wrap="square" lIns="0" tIns="0" rIns="0" bIns="0" rtlCol="0" anchor="ctr"/>
          <a:lstStyle/>
          <a:p>
            <a:pPr marL="0" indent="0">
              <a:buNone/>
            </a:pPr>
            <a:r>
              <a:rPr lang="en-US" sz="1100" dirty="0">
                <a:solidFill>
                  <a:schemeClr val="bg1"/>
                </a:solidFill>
                <a:latin typeface="Calibri" pitchFamily="34" charset="0"/>
                <a:ea typeface="Calibri" pitchFamily="34" charset="-122"/>
                <a:cs typeface="Calibri" pitchFamily="34" charset="-120"/>
              </a:rPr>
              <a:t>Different types of terrain to generate on the ground and world object placement layers</a:t>
            </a:r>
            <a:endParaRPr lang="en-US" sz="1100" dirty="0">
              <a:solidFill>
                <a:schemeClr val="bg1"/>
              </a:solidFill>
            </a:endParaRPr>
          </a:p>
        </p:txBody>
      </p:sp>
      <p:sp>
        <p:nvSpPr>
          <p:cNvPr id="24" name="Text 22"/>
          <p:cNvSpPr/>
          <p:nvPr/>
        </p:nvSpPr>
        <p:spPr>
          <a:xfrm>
            <a:off x="228600" y="4800600"/>
            <a:ext cx="8686800" cy="256032"/>
          </a:xfrm>
          <a:prstGeom prst="rect">
            <a:avLst/>
          </a:prstGeom>
          <a:noFill/>
          <a:ln/>
        </p:spPr>
        <p:txBody>
          <a:bodyPr wrap="square" lIns="0" tIns="0" rIns="0" bIns="0" rtlCol="0" anchor="ctr"/>
          <a:lstStyle/>
          <a:p>
            <a:pPr marL="0" indent="0" algn="ctr">
              <a:buNone/>
            </a:pPr>
            <a:endParaRPr lang="en-US" sz="1100" dirty="0"/>
          </a:p>
        </p:txBody>
      </p:sp>
      <p:sp>
        <p:nvSpPr>
          <p:cNvPr id="25" name="L-Shape 24">
            <a:extLst>
              <a:ext uri="{FF2B5EF4-FFF2-40B4-BE49-F238E27FC236}">
                <a16:creationId xmlns:a16="http://schemas.microsoft.com/office/drawing/2014/main" id="{6CC5E7A5-EAFF-D413-E32E-F20239BBA65A}"/>
              </a:ext>
            </a:extLst>
          </p:cNvPr>
          <p:cNvSpPr/>
          <p:nvPr/>
        </p:nvSpPr>
        <p:spPr>
          <a:xfrm rot="13500000">
            <a:off x="3665493" y="1846057"/>
            <a:ext cx="1156064" cy="1156062"/>
          </a:xfrm>
          <a:prstGeom prst="corner">
            <a:avLst>
              <a:gd name="adj1" fmla="val 26829"/>
              <a:gd name="adj2" fmla="val 25631"/>
            </a:avLst>
          </a:prstGeom>
          <a:solidFill>
            <a:schemeClr val="bg1">
              <a:lumMod val="95000"/>
            </a:schemeClr>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BBBB91E2-ADCB-DC64-0D64-5323D18F9E01}"/>
              </a:ext>
            </a:extLst>
          </p:cNvPr>
          <p:cNvSpPr txBox="1"/>
          <p:nvPr/>
        </p:nvSpPr>
        <p:spPr>
          <a:xfrm>
            <a:off x="3670663" y="3368431"/>
            <a:ext cx="1482632" cy="369332"/>
          </a:xfrm>
          <a:prstGeom prst="rect">
            <a:avLst/>
          </a:prstGeom>
          <a:noFill/>
        </p:spPr>
        <p:txBody>
          <a:bodyPr wrap="square" rtlCol="0">
            <a:spAutoFit/>
          </a:bodyPr>
          <a:lstStyle/>
          <a:p>
            <a:r>
              <a:rPr lang="en-GB" dirty="0">
                <a:solidFill>
                  <a:schemeClr val="bg1"/>
                </a:solidFill>
              </a:rPr>
              <a:t>Priority note^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0D1A"/>
        </a:solidFill>
        <a:effectLst/>
      </p:bgPr>
    </p:bg>
    <p:spTree>
      <p:nvGrpSpPr>
        <p:cNvPr id="1" name=""/>
        <p:cNvGrpSpPr/>
        <p:nvPr/>
      </p:nvGrpSpPr>
      <p:grpSpPr>
        <a:xfrm>
          <a:off x="0" y="0"/>
          <a:ext cx="0" cy="0"/>
          <a:chOff x="0" y="0"/>
          <a:chExt cx="0" cy="0"/>
        </a:xfrm>
      </p:grpSpPr>
      <p:sp>
        <p:nvSpPr>
          <p:cNvPr id="4" name="Text 2"/>
          <p:cNvSpPr/>
          <p:nvPr/>
        </p:nvSpPr>
        <p:spPr>
          <a:xfrm>
            <a:off x="2286000" y="427808"/>
            <a:ext cx="4572000" cy="1371600"/>
          </a:xfrm>
          <a:prstGeom prst="rect">
            <a:avLst/>
          </a:prstGeom>
          <a:noFill/>
          <a:ln/>
        </p:spPr>
        <p:txBody>
          <a:bodyPr wrap="square" lIns="0" tIns="0" rIns="0" bIns="0" rtlCol="0" anchor="ctr"/>
          <a:lstStyle/>
          <a:p>
            <a:pPr algn="ctr"/>
            <a:r>
              <a:rPr lang="en-US" sz="7200" b="1" kern="0" spc="600" dirty="0">
                <a:solidFill>
                  <a:srgbClr val="EAEAEA"/>
                </a:solidFill>
                <a:latin typeface="Impact" pitchFamily="34" charset="0"/>
                <a:ea typeface="Impact" pitchFamily="34" charset="-122"/>
                <a:cs typeface="Impact" pitchFamily="34" charset="-120"/>
              </a:rPr>
              <a:t>THORNS</a:t>
            </a:r>
            <a:endParaRPr lang="en-US" sz="7200" dirty="0"/>
          </a:p>
        </p:txBody>
      </p:sp>
      <p:sp>
        <p:nvSpPr>
          <p:cNvPr id="17" name="Text 2">
            <a:extLst>
              <a:ext uri="{FF2B5EF4-FFF2-40B4-BE49-F238E27FC236}">
                <a16:creationId xmlns:a16="http://schemas.microsoft.com/office/drawing/2014/main" id="{34EAA3C2-1BA6-4A86-5072-95EB204CE82A}"/>
              </a:ext>
            </a:extLst>
          </p:cNvPr>
          <p:cNvSpPr/>
          <p:nvPr/>
        </p:nvSpPr>
        <p:spPr>
          <a:xfrm>
            <a:off x="1603465" y="1885950"/>
            <a:ext cx="5937069" cy="1371600"/>
          </a:xfrm>
          <a:prstGeom prst="rect">
            <a:avLst/>
          </a:prstGeom>
          <a:noFill/>
          <a:ln/>
        </p:spPr>
        <p:txBody>
          <a:bodyPr wrap="square" lIns="0" tIns="0" rIns="0" bIns="0" rtlCol="0" anchor="ctr"/>
          <a:lstStyle/>
          <a:p>
            <a:pPr algn="ctr"/>
            <a:r>
              <a:rPr lang="en-US" sz="3600" b="1" kern="0" spc="600" dirty="0">
                <a:solidFill>
                  <a:srgbClr val="EAEAEA"/>
                </a:solidFill>
                <a:latin typeface="Impact" pitchFamily="34" charset="0"/>
                <a:ea typeface="Impact" pitchFamily="34" charset="-122"/>
                <a:cs typeface="Impact" pitchFamily="34" charset="-120"/>
              </a:rPr>
              <a:t>Suggestion and feedback.</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196</TotalTime>
  <Words>1110</Words>
  <Application>Microsoft Office PowerPoint</Application>
  <PresentationFormat>On-screen Show (16:9)</PresentationFormat>
  <Paragraphs>150</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Impact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THORNS - Project Update</dc:title>
  <dc:subject>PptxGenJS Presentation</dc:subject>
  <dc:creator>PptxGenJS</dc:creator>
  <cp:lastModifiedBy>(Student  C00286807) Edward Norton</cp:lastModifiedBy>
  <cp:revision>5</cp:revision>
  <dcterms:created xsi:type="dcterms:W3CDTF">2026-03-25T15:01:39Z</dcterms:created>
  <dcterms:modified xsi:type="dcterms:W3CDTF">2026-03-25T21:53:13Z</dcterms:modified>
</cp:coreProperties>
</file>