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C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37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CC05-819C-0300-FF8E-492DC88B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271FE-60E5-A0CB-9A88-330787728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E62FC-E247-CF32-E669-AE38091BB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47EAF-EE53-5195-C7A0-690EA5E82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8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5834" cy="5143500"/>
          </a:xfrm>
          <a:prstGeom prst="rect">
            <a:avLst/>
          </a:prstGeom>
          <a:solidFill>
            <a:srgbClr val="12172A"/>
          </a:solidFill>
          <a:ln w="12700">
            <a:solidFill>
              <a:srgbClr val="12172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225834" y="0"/>
            <a:ext cx="4918166" cy="10972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800" dirty="0">
                <a:solidFill>
                  <a:srgbClr val="EAEA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THORNS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Update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0" name="Image 0" descr="/home/claude/gameplay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25834" y="109728"/>
            <a:ext cx="4921910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57283-AC83-75C5-D0DE-2A4AF9D3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286724-75B9-602E-8914-6F264EB7FE5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D1BDD0-A227-1B0D-85DA-F174ACAF9B5B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85C578-C23C-6203-B68C-2444C6A4477E}"/>
              </a:ext>
            </a:extLst>
          </p:cNvPr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POINTS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330680D-FC8E-7CB9-3D57-1B487570955D}"/>
              </a:ext>
            </a:extLst>
          </p:cNvPr>
          <p:cNvSpPr/>
          <p:nvPr/>
        </p:nvSpPr>
        <p:spPr>
          <a:xfrm>
            <a:off x="228600" y="91440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175391-9263-8D27-F2F2-B1024768AE2F}"/>
              </a:ext>
            </a:extLst>
          </p:cNvPr>
          <p:cNvSpPr/>
          <p:nvPr/>
        </p:nvSpPr>
        <p:spPr>
          <a:xfrm>
            <a:off x="222069" y="91440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B62F40-0306-9753-B57B-4603AF8C86AF}"/>
              </a:ext>
            </a:extLst>
          </p:cNvPr>
          <p:cNvSpPr/>
          <p:nvPr/>
        </p:nvSpPr>
        <p:spPr>
          <a:xfrm>
            <a:off x="365760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 &amp; State Machine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6AD1446-67B6-10C9-8A2B-449535F25091}"/>
              </a:ext>
            </a:extLst>
          </p:cNvPr>
          <p:cNvSpPr/>
          <p:nvPr/>
        </p:nvSpPr>
        <p:spPr>
          <a:xfrm>
            <a:off x="365760" y="1417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60 FPS timestep, push/pop state transitions (Menu, Playing, Paused, Settings)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FBADC45-25AB-7725-6D0B-275037B37981}"/>
              </a:ext>
            </a:extLst>
          </p:cNvPr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AD4643-3257-8C93-328A-119D987F5DCC}"/>
              </a:ext>
            </a:extLst>
          </p:cNvPr>
          <p:cNvSpPr/>
          <p:nvPr/>
        </p:nvSpPr>
        <p:spPr>
          <a:xfrm>
            <a:off x="3200400" y="91440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F1BF51-DD6D-51A4-CDA5-1AD32CFF2815}"/>
              </a:ext>
            </a:extLst>
          </p:cNvPr>
          <p:cNvSpPr/>
          <p:nvPr/>
        </p:nvSpPr>
        <p:spPr>
          <a:xfrm>
            <a:off x="3337560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Abstraction Layer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C9C69F-7353-7335-B3C1-9165A762BEF0}"/>
              </a:ext>
            </a:extLst>
          </p:cNvPr>
          <p:cNvSpPr/>
          <p:nvPr/>
        </p:nvSpPr>
        <p:spPr>
          <a:xfrm>
            <a:off x="3337560" y="1417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+ gamepad support, rebindable keys, device detection at runtime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0A7096D-9919-7BC2-9D3B-9EBEE82EBE5A}"/>
              </a:ext>
            </a:extLst>
          </p:cNvPr>
          <p:cNvSpPr/>
          <p:nvPr/>
        </p:nvSpPr>
        <p:spPr>
          <a:xfrm>
            <a:off x="6172200" y="91440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DF742F2-89A9-0D84-FC0D-8B4D01D4AFE4}"/>
              </a:ext>
            </a:extLst>
          </p:cNvPr>
          <p:cNvSpPr/>
          <p:nvPr/>
        </p:nvSpPr>
        <p:spPr>
          <a:xfrm>
            <a:off x="6172200" y="91440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6293650-8652-28FE-A3BD-DA1D4122B7A1}"/>
              </a:ext>
            </a:extLst>
          </p:cNvPr>
          <p:cNvSpPr/>
          <p:nvPr/>
        </p:nvSpPr>
        <p:spPr>
          <a:xfrm>
            <a:off x="6309360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Map Generation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0FC415E-D813-9E05-7F76-E7105C35F9C2}"/>
              </a:ext>
            </a:extLst>
          </p:cNvPr>
          <p:cNvSpPr/>
          <p:nvPr/>
        </p:nvSpPr>
        <p:spPr>
          <a:xfrm>
            <a:off x="6309360" y="1417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regionalization via Poisson disk sampling, spatial grid O(k) lookups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18E97A8-145C-A9D9-705A-30D4A5104FD8}"/>
              </a:ext>
            </a:extLst>
          </p:cNvPr>
          <p:cNvSpPr/>
          <p:nvPr/>
        </p:nvSpPr>
        <p:spPr>
          <a:xfrm>
            <a:off x="228600" y="283464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263A104-E77C-A009-425B-04CAFA10E259}"/>
              </a:ext>
            </a:extLst>
          </p:cNvPr>
          <p:cNvSpPr/>
          <p:nvPr/>
        </p:nvSpPr>
        <p:spPr>
          <a:xfrm>
            <a:off x="228600" y="283464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228D86D-2394-3EF4-36A3-F8CB889A7DB0}"/>
              </a:ext>
            </a:extLst>
          </p:cNvPr>
          <p:cNvSpPr/>
          <p:nvPr/>
        </p:nvSpPr>
        <p:spPr>
          <a:xfrm>
            <a:off x="365760" y="2907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System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E083553-61D5-8B74-FA3A-241984B5DFAE}"/>
              </a:ext>
            </a:extLst>
          </p:cNvPr>
          <p:cNvSpPr/>
          <p:nvPr/>
        </p:nvSpPr>
        <p:spPr>
          <a:xfrm>
            <a:off x="365760" y="33375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placed at Voronoi sites, TMX collision templates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0CD7CEA-31D8-72FE-3BD7-E3BE6714F113}"/>
              </a:ext>
            </a:extLst>
          </p:cNvPr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F7938A1-B4FA-186E-3887-D50250420C82}"/>
              </a:ext>
            </a:extLst>
          </p:cNvPr>
          <p:cNvSpPr/>
          <p:nvPr/>
        </p:nvSpPr>
        <p:spPr>
          <a:xfrm>
            <a:off x="3200400" y="283464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0B8B622-1F35-BF3C-32A1-E51EBB78E294}"/>
              </a:ext>
            </a:extLst>
          </p:cNvPr>
          <p:cNvSpPr/>
          <p:nvPr/>
        </p:nvSpPr>
        <p:spPr>
          <a:xfrm>
            <a:off x="3337560" y="2907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&amp; Camera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20D4469-6059-EA27-04D1-7E5ED819B2E7}"/>
              </a:ext>
            </a:extLst>
          </p:cNvPr>
          <p:cNvSpPr/>
          <p:nvPr/>
        </p:nvSpPr>
        <p:spPr>
          <a:xfrm>
            <a:off x="3337560" y="33375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(Idle/Walk/Sprint/Inventory), mouse-facing rotation, camera clamp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A755A95-5208-7C9C-7564-ED53A7E83708}"/>
              </a:ext>
            </a:extLst>
          </p:cNvPr>
          <p:cNvSpPr/>
          <p:nvPr/>
        </p:nvSpPr>
        <p:spPr>
          <a:xfrm>
            <a:off x="6172200" y="283464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4CC1B9F-8B66-CAED-18EA-5A6837536F16}"/>
              </a:ext>
            </a:extLst>
          </p:cNvPr>
          <p:cNvSpPr/>
          <p:nvPr/>
        </p:nvSpPr>
        <p:spPr>
          <a:xfrm>
            <a:off x="6172200" y="283464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8C5EED6-33F1-9239-489E-27FE30E2AEBA}"/>
              </a:ext>
            </a:extLst>
          </p:cNvPr>
          <p:cNvSpPr/>
          <p:nvPr/>
        </p:nvSpPr>
        <p:spPr>
          <a:xfrm>
            <a:off x="6309360" y="2907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08325B3-2AE5-0186-BB98-35A19BA2C0E8}"/>
              </a:ext>
            </a:extLst>
          </p:cNvPr>
          <p:cNvSpPr/>
          <p:nvPr/>
        </p:nvSpPr>
        <p:spPr>
          <a:xfrm>
            <a:off x="6309360" y="33375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Pause &amp; Settings menus with key rebinding, inventory grid (10 slots), HUD bars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6A1D6AC-D69E-B07B-4F3D-62A81C12130E}"/>
              </a:ext>
            </a:extLst>
          </p:cNvPr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1856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MILESTONES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2069" y="91440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 &amp; State Machine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60 FPS timestep, push/pop state transitions (Menu, Playing, Paused, Settings)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37560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Abstraction Layer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+ gamepad support, rebindable keys, device detection at runtime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309360" y="987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Map Generation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9360" y="1417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regionalization via Poisson disk sampling, spatial grid O(k) lookups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07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System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placed at Voronoi sites, TMX collision templates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00400" y="283464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37560" y="2907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&amp; Camera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3375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(Idle/Walk/Sprint/Inventory), mouse-facing rotation, camera clamp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274320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72200" y="2834640"/>
            <a:ext cx="82296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09360" y="29077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33756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Pause &amp; Settings menus with key rebinding, inventory grid (10 slots), HUD bars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MILESTONES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5400000">
            <a:off x="-1532601" y="2746794"/>
            <a:ext cx="4105657" cy="75112"/>
          </a:xfrm>
          <a:prstGeom prst="rect">
            <a:avLst/>
          </a:prstGeom>
          <a:solidFill>
            <a:schemeClr val="bg2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1188" y="651183"/>
            <a:ext cx="329184" cy="32918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5029" y="667186"/>
            <a:ext cx="1828800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45029" y="667186"/>
            <a:ext cx="1828800" cy="45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90749" y="77691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&amp; 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6469" y="1156390"/>
            <a:ext cx="1737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(Current week)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80210"/>
            <a:ext cx="329184" cy="32918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051560" y="1599874"/>
            <a:ext cx="1828800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51560" y="1599874"/>
            <a:ext cx="18288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97280" y="1709602"/>
            <a:ext cx="1760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Enemies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0140" y="2075362"/>
            <a:ext cx="1737360" cy="154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 Break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107" y="2784350"/>
            <a:ext cx="329184" cy="329184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51560" y="2578282"/>
            <a:ext cx="1828800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51560" y="2578282"/>
            <a:ext cx="18288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97280" y="268801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089040"/>
            <a:ext cx="1737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 Break</a:t>
            </a:r>
          </a:p>
        </p:txBody>
      </p:sp>
      <p:sp>
        <p:nvSpPr>
          <p:cNvPr id="22" name="Shape 20"/>
          <p:cNvSpPr/>
          <p:nvPr/>
        </p:nvSpPr>
        <p:spPr>
          <a:xfrm>
            <a:off x="355635" y="3826111"/>
            <a:ext cx="329184" cy="329184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51560" y="3624943"/>
            <a:ext cx="1828800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D4AC0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051560" y="3624943"/>
            <a:ext cx="1828800" cy="457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97280" y="3734671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&amp; World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125577"/>
            <a:ext cx="1737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450843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ordered: Inventory  -&gt;  AI  →  Weapons  -&gt;  World Finalization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3AEC3A8C-DF24-C473-6FAA-51CBCA69778C}"/>
              </a:ext>
            </a:extLst>
          </p:cNvPr>
          <p:cNvSpPr/>
          <p:nvPr/>
        </p:nvSpPr>
        <p:spPr>
          <a:xfrm>
            <a:off x="2980508" y="667186"/>
            <a:ext cx="5908765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09DE9DB5-7C38-D4C2-9DED-F4C5E37CD1E2}"/>
              </a:ext>
            </a:extLst>
          </p:cNvPr>
          <p:cNvSpPr/>
          <p:nvPr/>
        </p:nvSpPr>
        <p:spPr>
          <a:xfrm>
            <a:off x="2980508" y="667186"/>
            <a:ext cx="5908765" cy="45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1878848B-5B43-8E21-1E1A-FD3421442A44}"/>
              </a:ext>
            </a:extLst>
          </p:cNvPr>
          <p:cNvSpPr/>
          <p:nvPr/>
        </p:nvSpPr>
        <p:spPr>
          <a:xfrm>
            <a:off x="3128226" y="731520"/>
            <a:ext cx="5613327" cy="630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“Inventory” items such as Food, Water, Health Packs,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D0627EF0-D99B-6E09-CD30-0DE61EF3F935}"/>
              </a:ext>
            </a:extLst>
          </p:cNvPr>
          <p:cNvSpPr/>
          <p:nvPr/>
        </p:nvSpPr>
        <p:spPr>
          <a:xfrm>
            <a:off x="3071948" y="1156390"/>
            <a:ext cx="561332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C6838BF-4B4D-784B-D740-C3F063668984}"/>
              </a:ext>
            </a:extLst>
          </p:cNvPr>
          <p:cNvSpPr/>
          <p:nvPr/>
        </p:nvSpPr>
        <p:spPr>
          <a:xfrm>
            <a:off x="2980508" y="1599874"/>
            <a:ext cx="5908764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C181EA46-F8BC-229A-0EC1-6910D47AE0DC}"/>
              </a:ext>
            </a:extLst>
          </p:cNvPr>
          <p:cNvSpPr/>
          <p:nvPr/>
        </p:nvSpPr>
        <p:spPr>
          <a:xfrm>
            <a:off x="2980508" y="1599874"/>
            <a:ext cx="5908764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0575B0A5-4405-F654-C1C6-025A5DA13903}"/>
              </a:ext>
            </a:extLst>
          </p:cNvPr>
          <p:cNvSpPr/>
          <p:nvPr/>
        </p:nvSpPr>
        <p:spPr>
          <a:xfrm>
            <a:off x="3026227" y="1657678"/>
            <a:ext cx="5687185" cy="673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Voronoi Spatial Sites for enemy updating delegation and isolation.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FSM or dynamic class pointer swapping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CC17885E-3448-CE22-1E7E-07DD0657EDCE}"/>
              </a:ext>
            </a:extLst>
          </p:cNvPr>
          <p:cNvSpPr/>
          <p:nvPr/>
        </p:nvSpPr>
        <p:spPr>
          <a:xfrm>
            <a:off x="3049088" y="2075362"/>
            <a:ext cx="5613326" cy="154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90531368-6D99-4FB8-5EC1-F810B5C263E6}"/>
              </a:ext>
            </a:extLst>
          </p:cNvPr>
          <p:cNvSpPr/>
          <p:nvPr/>
        </p:nvSpPr>
        <p:spPr>
          <a:xfrm>
            <a:off x="2987040" y="2578282"/>
            <a:ext cx="5902232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790270A7-B9FF-F012-9A47-28A4A9C7E6A7}"/>
              </a:ext>
            </a:extLst>
          </p:cNvPr>
          <p:cNvSpPr/>
          <p:nvPr/>
        </p:nvSpPr>
        <p:spPr>
          <a:xfrm>
            <a:off x="2987040" y="2578282"/>
            <a:ext cx="5902232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F0673DF6-096B-1BEF-D774-68893C6BC023}"/>
              </a:ext>
            </a:extLst>
          </p:cNvPr>
          <p:cNvSpPr/>
          <p:nvPr/>
        </p:nvSpPr>
        <p:spPr>
          <a:xfrm>
            <a:off x="3049088" y="2779125"/>
            <a:ext cx="560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tiers of weapons to find and collect within the world.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Melee (knifes, axe, gun, </a:t>
            </a:r>
            <a:r>
              <a:rPr lang="en-US" sz="1200" b="1" dirty="0" err="1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127E3891-0E49-0EAB-EC56-ADCF9C027F52}"/>
              </a:ext>
            </a:extLst>
          </p:cNvPr>
          <p:cNvSpPr/>
          <p:nvPr/>
        </p:nvSpPr>
        <p:spPr>
          <a:xfrm>
            <a:off x="3032760" y="3089040"/>
            <a:ext cx="5607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i="1" dirty="0">
              <a:solidFill>
                <a:srgbClr val="E945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91BAC2C7-0EF3-C1F7-FF12-94F33E73B243}"/>
              </a:ext>
            </a:extLst>
          </p:cNvPr>
          <p:cNvSpPr/>
          <p:nvPr/>
        </p:nvSpPr>
        <p:spPr>
          <a:xfrm>
            <a:off x="2980507" y="3619610"/>
            <a:ext cx="5908765" cy="731520"/>
          </a:xfrm>
          <a:prstGeom prst="rect">
            <a:avLst/>
          </a:prstGeom>
          <a:solidFill>
            <a:srgbClr val="1A2744"/>
          </a:solidFill>
          <a:ln w="19050">
            <a:solidFill>
              <a:srgbClr val="D4AC0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C3EECA04-DD91-4F20-C1BE-7F7D4B254E65}"/>
              </a:ext>
            </a:extLst>
          </p:cNvPr>
          <p:cNvSpPr/>
          <p:nvPr/>
        </p:nvSpPr>
        <p:spPr>
          <a:xfrm>
            <a:off x="2980507" y="3619610"/>
            <a:ext cx="5908765" cy="457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AF1262F9-3B22-6697-3067-7FFF303F383D}"/>
              </a:ext>
            </a:extLst>
          </p:cNvPr>
          <p:cNvSpPr/>
          <p:nvPr/>
        </p:nvSpPr>
        <p:spPr>
          <a:xfrm>
            <a:off x="3026227" y="3729338"/>
            <a:ext cx="5613327" cy="5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any final generation issues and adding in the rest of the world objects and POI sites</a:t>
            </a:r>
            <a:endParaRPr lang="en-US" sz="120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9628A0D0-7F28-0A42-955F-630BD0AF061F}"/>
              </a:ext>
            </a:extLst>
          </p:cNvPr>
          <p:cNvSpPr/>
          <p:nvPr/>
        </p:nvSpPr>
        <p:spPr>
          <a:xfrm>
            <a:off x="2980507" y="4120244"/>
            <a:ext cx="561332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NOISE: WORLD OBJECT PLACEMENT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8600" y="914400"/>
            <a:ext cx="4297680" cy="868680"/>
          </a:xfrm>
          <a:prstGeom prst="rect">
            <a:avLst/>
          </a:prstGeom>
          <a:solidFill>
            <a:srgbClr val="1A2744"/>
          </a:solidFill>
          <a:ln w="9525">
            <a:solidFill>
              <a:srgbClr val="4ECDC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228600" y="914400"/>
            <a:ext cx="73152" cy="868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65760" y="960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760" y="12344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organic, natural looking clusters for world object placement (tree stumps, roots, rocks – note these will be added in final week) across the map terrain.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228600" y="1920240"/>
            <a:ext cx="4297680" cy="868680"/>
          </a:xfrm>
          <a:prstGeom prst="rect">
            <a:avLst/>
          </a:prstGeom>
          <a:solidFill>
            <a:srgbClr val="1A2744"/>
          </a:solidFill>
          <a:ln w="9525">
            <a:solidFill>
              <a:srgbClr val="4ECDC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28600" y="1920240"/>
            <a:ext cx="73152" cy="868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65760" y="1949631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5760" y="219129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tile's world position is sampled through multi-octave(passes) Perlin noise. Values the threshold trigger a valid placement.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28600" y="3017520"/>
            <a:ext cx="4297680" cy="868680"/>
          </a:xfrm>
          <a:prstGeom prst="rect">
            <a:avLst/>
          </a:prstGeom>
          <a:solidFill>
            <a:srgbClr val="1A2744"/>
          </a:solidFill>
          <a:ln w="9525">
            <a:solidFill>
              <a:srgbClr val="4ECDC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228600" y="3017520"/>
            <a:ext cx="73152" cy="868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365760" y="30632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365760" y="3337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flyweight atlas for the objects to point to, frustrum culling to only render on screen objects and skips every 2</a:t>
            </a:r>
            <a:r>
              <a:rPr lang="en-US" sz="1050" baseline="3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tile for generation.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7CB273F-FB7D-B329-69EF-75F7870A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023908"/>
            <a:ext cx="3776472" cy="37309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&amp; TMX: COLLISION SYSTEM</a:t>
            </a:r>
            <a:endParaRPr lang="en-US" sz="2000" dirty="0"/>
          </a:p>
        </p:txBody>
      </p:sp>
      <p:pic>
        <p:nvPicPr>
          <p:cNvPr id="5" name="Image 0" descr="/home/claude/hideout_colli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68680"/>
            <a:ext cx="3657600" cy="2926080"/>
          </a:xfrm>
          <a:prstGeom prst="rect">
            <a:avLst/>
          </a:prstGeom>
        </p:spPr>
      </p:pic>
      <p:pic>
        <p:nvPicPr>
          <p:cNvPr id="6" name="Image 1" descr="/home/claude/farm_til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0" y="868680"/>
            <a:ext cx="480060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86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Hideout TMX file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4114800" y="3840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TMX file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228600" y="4160520"/>
            <a:ext cx="2011680" cy="868680"/>
          </a:xfrm>
          <a:prstGeom prst="rect">
            <a:avLst/>
          </a:prstGeom>
          <a:solidFill>
            <a:srgbClr val="1A2744"/>
          </a:solidFill>
          <a:ln w="9525">
            <a:solidFill>
              <a:srgbClr val="4ECDC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Text 6"/>
          <p:cNvSpPr/>
          <p:nvPr/>
        </p:nvSpPr>
        <p:spPr>
          <a:xfrm>
            <a:off x="301752" y="42062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Map Editor</a:t>
            </a:r>
            <a:endParaRPr lang="en-US" sz="1000" dirty="0">
              <a:solidFill>
                <a:srgbClr val="4ECDC4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301752" y="4462272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TMX files define named collision shapes for each POI and world object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2468880" y="4160520"/>
            <a:ext cx="2011680" cy="868680"/>
          </a:xfrm>
          <a:prstGeom prst="rect">
            <a:avLst/>
          </a:prstGeom>
          <a:solidFill>
            <a:srgbClr val="1A2744"/>
          </a:solidFill>
          <a:ln w="9525">
            <a:solidFill>
              <a:srgbClr val="4ECDC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2542032" y="42062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tmxlite Library</a:t>
            </a:r>
            <a:endParaRPr lang="en-US" sz="1000" dirty="0">
              <a:solidFill>
                <a:srgbClr val="4ECDC4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2542032" y="4462272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.tmx XML at compile time, extracting polygons &amp; rectangles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709160" y="4160520"/>
            <a:ext cx="2011680" cy="868680"/>
          </a:xfrm>
          <a:prstGeom prst="rect">
            <a:avLst/>
          </a:prstGeom>
          <a:solidFill>
            <a:srgbClr val="1A2744"/>
          </a:solidFill>
          <a:ln w="9525">
            <a:solidFill>
              <a:srgbClr val="4ECDC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782312" y="42062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Collision</a:t>
            </a:r>
            <a:endParaRPr lang="en-US" sz="1000" dirty="0">
              <a:solidFill>
                <a:srgbClr val="4ECDC4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4782312" y="4462272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CollisionManager uses Separating Axis Theorem (SAT), just check overlapping </a:t>
            </a:r>
            <a:r>
              <a:rPr lang="en-US" sz="9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axises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949440" y="4160520"/>
            <a:ext cx="2011680" cy="868680"/>
          </a:xfrm>
          <a:prstGeom prst="rect">
            <a:avLst/>
          </a:prstGeom>
          <a:solidFill>
            <a:srgbClr val="1A2744"/>
          </a:solidFill>
          <a:ln w="9525">
            <a:solidFill>
              <a:srgbClr val="4ECDC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7022592" y="42062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Flyweight Pattern</a:t>
            </a:r>
            <a:endParaRPr lang="en-US" sz="1000" dirty="0">
              <a:solidFill>
                <a:srgbClr val="4ECDC4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7022592" y="4462272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shape tables all tree stumps reference the same collision data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7C31A312-0305-E8DE-BB91-636E03E81EA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3">
            <a:extLst>
              <a:ext uri="{FF2B5EF4-FFF2-40B4-BE49-F238E27FC236}">
                <a16:creationId xmlns:a16="http://schemas.microsoft.com/office/drawing/2014/main" id="{0842A5EA-7281-1D08-3E8D-305B3FF9345C}"/>
              </a:ext>
            </a:extLst>
          </p:cNvPr>
          <p:cNvSpPr/>
          <p:nvPr/>
        </p:nvSpPr>
        <p:spPr>
          <a:xfrm>
            <a:off x="109728" y="3349970"/>
            <a:ext cx="50292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4EBE9113-4BB9-69AC-757F-3084034424AA}"/>
              </a:ext>
            </a:extLst>
          </p:cNvPr>
          <p:cNvSpPr/>
          <p:nvPr/>
        </p:nvSpPr>
        <p:spPr>
          <a:xfrm>
            <a:off x="109728" y="2350008"/>
            <a:ext cx="50292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>
              <a:solidFill>
                <a:srgbClr val="4ECDC4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VORONOI: UPDATED GENERATION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" y="1324574"/>
            <a:ext cx="50292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9728" y="1324574"/>
            <a:ext cx="82296" cy="9144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65176" y="138858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Site Spacing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" y="169033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will now auto space the distance needed between them. </a:t>
            </a:r>
            <a:r>
              <a:rPr lang="en-US" sz="10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(Map is X big and to use 5 sites, divide into 5 sections accordingly. 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176" y="241271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" y="271446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used to only cover small, unscaled, sections of the map, now more tiles are assigned to a site region. (</a:t>
            </a:r>
            <a:r>
              <a:rPr lang="en-US" sz="10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sites split map into 2 sections now)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5176" y="343683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 Spawn Far From Player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" y="373859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sites are sorted by distance from the hideout before POI assignment — Villages and Farms spawn at furthest possible points.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512FDF5-376D-CE7C-C952-E4BAF0B6A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617" y="1760934"/>
            <a:ext cx="3720083" cy="2092547"/>
          </a:xfrm>
          <a:prstGeom prst="rect">
            <a:avLst/>
          </a:prstGeom>
        </p:spPr>
      </p:pic>
      <p:sp>
        <p:nvSpPr>
          <p:cNvPr id="50" name="Shape 4">
            <a:extLst>
              <a:ext uri="{FF2B5EF4-FFF2-40B4-BE49-F238E27FC236}">
                <a16:creationId xmlns:a16="http://schemas.microsoft.com/office/drawing/2014/main" id="{56E75481-B0E0-2FA8-E88E-7D24BE38FB73}"/>
              </a:ext>
            </a:extLst>
          </p:cNvPr>
          <p:cNvSpPr/>
          <p:nvPr/>
        </p:nvSpPr>
        <p:spPr>
          <a:xfrm>
            <a:off x="109728" y="2350008"/>
            <a:ext cx="82296" cy="9144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049BD01E-74F8-794B-DF28-77815CF3D44E}"/>
              </a:ext>
            </a:extLst>
          </p:cNvPr>
          <p:cNvSpPr/>
          <p:nvPr/>
        </p:nvSpPr>
        <p:spPr>
          <a:xfrm>
            <a:off x="114300" y="3349970"/>
            <a:ext cx="82296" cy="9144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SYSTEM — PLAYER STATS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8600" y="960120"/>
            <a:ext cx="36576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228600" y="960120"/>
            <a:ext cx="502920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2860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996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0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1295834"/>
            <a:ext cx="2971800" cy="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component manages the damage, gains and total health values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28600" y="1920240"/>
            <a:ext cx="36576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ECF0F1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228600" y="1920240"/>
            <a:ext cx="502920" cy="80467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28600" y="2084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1956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Stamina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99447" y="2185414"/>
            <a:ext cx="2971800" cy="47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Rest use a generic “</a:t>
            </a:r>
            <a:r>
              <a:rPr lang="en-US" sz="9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StatComponent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when the player sprints and recharge when walking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28600" y="2880360"/>
            <a:ext cx="36576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E67E22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228600" y="2880360"/>
            <a:ext cx="50292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28600" y="3044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2296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Hunger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57600" y="3200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22960" y="3209543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over time at a medium rate, when inventory items are added will be able to regain hunger.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228600" y="3840480"/>
            <a:ext cx="36576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3498DB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228600" y="3840480"/>
            <a:ext cx="502920" cy="8046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228600" y="4005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2296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657600" y="4160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22960" y="41330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also over time but at a faster rate, will be an inventory item to collect and manage.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1" name="Text 38"/>
          <p:cNvSpPr/>
          <p:nvPr/>
        </p:nvSpPr>
        <p:spPr>
          <a:xfrm>
            <a:off x="228600" y="4754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29FACCB-688F-15C9-9E96-C0ECA304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790" y="1728216"/>
            <a:ext cx="4662610" cy="19022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INVENTORY SYSTEM &amp; COLLECTABLES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0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" y="1554480"/>
            <a:ext cx="41148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10-slot inventory grid (2×5) with hover detection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SpriteComponent-backed item rendering with quantity display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addItem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removeItem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clearSlot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templates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7160" y="2834640"/>
            <a:ext cx="411480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432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be worked on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" y="3200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types: food, water, weapons, materials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pickups: collision/trigger zones on map objects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actions: Equip from inventory to use an item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17720" y="822960"/>
            <a:ext cx="4343400" cy="42062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09160" y="8686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4069080" cy="7772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5488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362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Data 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ItemBase with type enum (Food, Water, Weapon, Material), stats payload, stack limit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09160" y="2212848"/>
            <a:ext cx="4069080" cy="7772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54880" y="2350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Pickup Component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532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zone on map, player overlap adds item to inventory, removes world object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09160" y="3099816"/>
            <a:ext cx="4069080" cy="7772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5488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136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Use Actions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419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slot, context actions such as “equip” or “use”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3986784"/>
            <a:ext cx="4069080" cy="7772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54880" y="4123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3068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item shown in HUD. Consumable items trigger stat changes and removed from slot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A6C8C72-5007-7E64-13A6-739F3CAA0A3C}"/>
              </a:ext>
            </a:extLst>
          </p:cNvPr>
          <p:cNvSpPr/>
          <p:nvPr/>
        </p:nvSpPr>
        <p:spPr>
          <a:xfrm rot="5400000">
            <a:off x="3192399" y="2931795"/>
            <a:ext cx="3426714" cy="237744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571998" y="0"/>
            <a:ext cx="4572002" cy="10058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AI ENEMIES &amp; WEAPONS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4206240" cy="411480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28600" y="868680"/>
            <a:ext cx="4206240" cy="82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ENEMY BEHAVIOURS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1463040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1499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State</a:t>
            </a:r>
            <a:endParaRPr lang="en-US" sz="1100" dirty="0">
              <a:solidFill>
                <a:srgbClr val="4ECDC4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stands at post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121408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1480" y="2157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State</a:t>
            </a:r>
            <a:endParaRPr lang="en-US" sz="1100" dirty="0">
              <a:solidFill>
                <a:srgbClr val="4ECDC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239572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between waypoints or along a fixed path (A* or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flowfield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patterns)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779776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1480" y="2816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State</a:t>
            </a:r>
            <a:endParaRPr lang="en-US" sz="1100" dirty="0">
              <a:solidFill>
                <a:srgbClr val="4ECDC4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3054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detected within range, using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raycast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438144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State</a:t>
            </a:r>
            <a:endParaRPr lang="en-US" sz="1100" dirty="0">
              <a:solidFill>
                <a:srgbClr val="4ECDC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toward player position, might try add collision avoidance with </a:t>
            </a: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raycasts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LOS class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4096512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11480" y="4133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State</a:t>
            </a:r>
            <a:endParaRPr lang="en-US" sz="1100" dirty="0">
              <a:solidFill>
                <a:srgbClr val="4ECDC4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4370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melee/ranged range, triggers attack damage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0040" y="47731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868680"/>
            <a:ext cx="4206240" cy="4114800"/>
          </a:xfrm>
          <a:prstGeom prst="rect">
            <a:avLst/>
          </a:prstGeom>
          <a:solidFill>
            <a:srgbClr val="1A2744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09160" y="868680"/>
            <a:ext cx="4206240" cy="822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80060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SYSTEM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463040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92040" y="1499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Types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1737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 (knife, axe) and ranged (gun or throwing weapons)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00600" y="2121408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892040" y="2157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Input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3957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 click to ready the attack, right click to initiate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00600" y="2779776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92040" y="2816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System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054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damage applied via HealthComponent.takeDamage() on both enemies and player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00600" y="3438144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89204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Integration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37124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equippable from inventory slots, active weapon shown in HUD slot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800600" y="4096512"/>
            <a:ext cx="3977640" cy="548640"/>
          </a:xfrm>
          <a:prstGeom prst="rect">
            <a:avLst/>
          </a:prstGeom>
          <a:solidFill>
            <a:srgbClr val="0D1B2E"/>
          </a:solidFill>
          <a:ln w="9525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892040" y="4133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4370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manager to be updated to account for weapons and hitboxes of entities.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00600" y="47731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0FEF2F14-A0DB-E820-4700-11D37976BC31}"/>
              </a:ext>
            </a:extLst>
          </p:cNvPr>
          <p:cNvSpPr/>
          <p:nvPr/>
        </p:nvSpPr>
        <p:spPr>
          <a:xfrm>
            <a:off x="-1" y="0"/>
            <a:ext cx="4571999" cy="10058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FINALIZATION &amp; NEW POI AREAS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0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1641348"/>
            <a:ext cx="3442063" cy="1600200"/>
          </a:xfrm>
          <a:prstGeom prst="rect">
            <a:avLst/>
          </a:prstGeom>
          <a:solidFill>
            <a:srgbClr val="1A2744"/>
          </a:solidFill>
          <a:ln w="12700">
            <a:solidFill>
              <a:srgbClr val="4ECDC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28600" y="1641348"/>
            <a:ext cx="3442063" cy="82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GB">
              <a:solidFill>
                <a:srgbClr val="4ECDC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1778508"/>
            <a:ext cx="3212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POI: Village &amp; Landmarks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235708"/>
            <a:ext cx="3212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POI areas for the player to explore and see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53296" y="1661922"/>
            <a:ext cx="3624943" cy="1600200"/>
          </a:xfrm>
          <a:prstGeom prst="rect">
            <a:avLst/>
          </a:prstGeom>
          <a:solidFill>
            <a:srgbClr val="1A2744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153296" y="1661922"/>
            <a:ext cx="3624943" cy="822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257800" y="179908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Variety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25628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types of terrain to generate on the ground and world object placement layers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6CC5E7A5-EAFF-D413-E32E-F20239BBA65A}"/>
              </a:ext>
            </a:extLst>
          </p:cNvPr>
          <p:cNvSpPr/>
          <p:nvPr/>
        </p:nvSpPr>
        <p:spPr>
          <a:xfrm rot="13500000">
            <a:off x="3665493" y="1846057"/>
            <a:ext cx="1156064" cy="1156062"/>
          </a:xfrm>
          <a:prstGeom prst="corner">
            <a:avLst>
              <a:gd name="adj1" fmla="val 26829"/>
              <a:gd name="adj2" fmla="val 25631"/>
            </a:avLst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BB91E2-ADCB-DC64-0D64-5323D18F9E01}"/>
              </a:ext>
            </a:extLst>
          </p:cNvPr>
          <p:cNvSpPr txBox="1"/>
          <p:nvPr/>
        </p:nvSpPr>
        <p:spPr>
          <a:xfrm>
            <a:off x="3670663" y="3368431"/>
            <a:ext cx="148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Priority note^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86000" y="42780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kern="0" spc="600" dirty="0">
                <a:solidFill>
                  <a:srgbClr val="EAEA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THORNS</a:t>
            </a:r>
            <a:endParaRPr lang="en-US" sz="72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34EAA3C2-1BA6-4A86-5072-95EB204CE82A}"/>
              </a:ext>
            </a:extLst>
          </p:cNvPr>
          <p:cNvSpPr/>
          <p:nvPr/>
        </p:nvSpPr>
        <p:spPr>
          <a:xfrm>
            <a:off x="1603465" y="1885950"/>
            <a:ext cx="593706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kern="0" spc="600" dirty="0">
                <a:solidFill>
                  <a:srgbClr val="EAEA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Suggestion and feedback.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1028</Words>
  <Application>Microsoft Office PowerPoint</Application>
  <PresentationFormat>On-screen Show (16:9)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THORNS - Project Update</dc:title>
  <dc:subject>PptxGenJS Presentation</dc:subject>
  <dc:creator>PptxGenJS</dc:creator>
  <cp:lastModifiedBy>(Student  C00286807) Edward Norton</cp:lastModifiedBy>
  <cp:revision>4</cp:revision>
  <dcterms:created xsi:type="dcterms:W3CDTF">2026-03-25T15:01:39Z</dcterms:created>
  <dcterms:modified xsi:type="dcterms:W3CDTF">2026-03-25T20:39:25Z</dcterms:modified>
</cp:coreProperties>
</file>